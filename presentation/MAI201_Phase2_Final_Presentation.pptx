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22E"/>
                </a:solidFill>
                <a:latin typeface="Calibri"/>
              </a:defRPr>
            </a:pPr>
            <a:r>
              <a:rPr sz="1300" b="0" i="0" u="none" strike="noStrike">
                <a:solidFill>
                  <a:srgbClr val="17222E"/>
                </a:solidFill>
                <a:latin typeface="Calibri"/>
              </a:rPr>
              <a:t>Columns flagged as drifted (out of 30)</a:t>
            </a:r>
          </a:p>
        </c:rich>
      </c:tx>
      <c:layout/>
      <c:overlay val="0"/>
    </c:title>
    <c:autoTitleDeleted val="0"/>
    <c:plotArea>
      <c:layout/>
      <c:barChart>
        <c:barDir val="col"/>
        <c:grouping val="clustered"/>
        <c:varyColors val="0"/>
        <c:ser>
          <c:idx val="0"/>
          <c:order val="0"/>
          <c:tx>
            <c:strRef>
              <c:f>Sheet1!$B$1</c:f>
              <c:strCache>
                <c:ptCount val="1"/>
                <c:pt idx="0">
                  <c:v>Drifted columns</c:v>
                </c:pt>
              </c:strCache>
            </c:strRef>
          </c:tx>
          <c:spPr>
            <a:solidFill>
              <a:srgbClr val="1C7293"/>
            </a:solidFill>
            <a:effectLst/>
          </c:spPr>
          <c:invertIfNegative val="0"/>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C81E3C"/>
              </a:solidFill>
              <a:effectLst/>
            </c:spPr>
          </c:dPt>
          <c:cat>
            <c:multiLvlStrRef>
              <c:f>Sheet1!$A$2:$A$3</c:f>
              <c:multiLvlStrCache>
                <c:ptCount val="2"/>
                <c:lvl>
                  <c:pt idx="0">
                    <c:v>Healthy batch</c:v>
                  </c:pt>
                  <c:pt idx="1">
                    <c:v>Simulated drift</c:v>
                  </c:pt>
                </c:lvl>
              </c:multiLvlStrCache>
            </c:multiLvlStrRef>
          </c:cat>
          <c:val>
            <c:numRef>
              <c:f>Sheet1!$B$2:$B$3</c:f>
              <c:numCache>
                <c:formatCode>General</c:formatCode>
                <c:ptCount val="2"/>
                <c:pt idx="0">
                  <c:v>0</c:v>
                </c:pt>
                <c:pt idx="1">
                  <c:v>17</c:v>
                </c:pt>
              </c:numCache>
            </c:numRef>
          </c:val>
        </c:ser>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30"/>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7222E"/>
                </a:solidFill>
                <a:latin typeface="Calibri"/>
              </a:defRPr>
            </a:pPr>
            <a:r>
              <a:rPr sz="1250" b="0" i="0" u="none" strike="noStrike">
                <a:solidFill>
                  <a:srgbClr val="17222E"/>
                </a:solidFill>
                <a:latin typeface="Calibri"/>
              </a:rPr>
              <a:t>Candidate vs deployed, on the untouched test split</a:t>
            </a:r>
          </a:p>
        </c:rich>
      </c:tx>
      <c:layout/>
      <c:overlay val="0"/>
    </c:title>
    <c:autoTitleDeleted val="0"/>
    <c:plotArea>
      <c:layout/>
      <c:barChart>
        <c:barDir val="col"/>
        <c:grouping val="clustered"/>
        <c:varyColors val="0"/>
        <c:ser>
          <c:idx val="0"/>
          <c:order val="0"/>
          <c:tx>
            <c:strRef>
              <c:f>Sheet1!$B$1</c:f>
              <c:strCache>
                <c:ptCount val="1"/>
                <c:pt idx="0">
                  <c:v>Deployed model</c:v>
                </c:pt>
              </c:strCache>
            </c:strRef>
          </c:tx>
          <c:spPr>
            <a:solidFill>
              <a:srgbClr val="1C3A5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Sheet1!$B$2:$B$5</c:f>
              <c:numCache>
                <c:formatCode>General</c:formatCode>
                <c:ptCount val="4"/>
                <c:pt idx="0">
                  <c:v>0.7263</c:v>
                </c:pt>
                <c:pt idx="1">
                  <c:v>0.7977</c:v>
                </c:pt>
                <c:pt idx="2">
                  <c:v>0.7854</c:v>
                </c:pt>
                <c:pt idx="3">
                  <c:v>0.9567</c:v>
                </c:pt>
              </c:numCache>
            </c:numRef>
          </c:val>
        </c:ser>
        <c:ser>
          <c:idx val="1"/>
          <c:order val="1"/>
          <c:tx>
            <c:strRef>
              <c:f>Sheet1!$C$1</c:f>
              <c:strCache>
                <c:ptCount val="1"/>
                <c:pt idx="0">
                  <c:v>Retrained candidate</c:v>
                </c:pt>
              </c:strCache>
            </c:strRef>
          </c:tx>
          <c:spPr>
            <a:solidFill>
              <a:srgbClr val="1E7A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Sheet1!$C$2:$C$5</c:f>
              <c:numCache>
                <c:formatCode>General</c:formatCode>
                <c:ptCount val="4"/>
                <c:pt idx="0">
                  <c:v>0.7368</c:v>
                </c:pt>
                <c:pt idx="1">
                  <c:v>0.8046</c:v>
                </c:pt>
                <c:pt idx="2">
                  <c:v>0.7865</c:v>
                </c:pt>
                <c:pt idx="3">
                  <c:v>0.9594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0.1"/>
      </c:valAx>
      <c:spPr>
        <a:noFill/>
        <a:ln>
          <a:noFill/>
        </a:ln>
        <a:effectLst/>
      </c:spPr>
    </c:plotArea>
    <c:legend>
      <c:legendPos val="b"/>
      <c:overlay val="0"/>
      <c:txPr>
        <a:bodyPr/>
        <a:lstStyle/>
        <a:p>
          <a:pPr>
            <a:defRPr sz="1000">
              <a:solidFill>
                <a:srgbClr val="5A6B7D"/>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(0:40). Good morning. We are presenting Phase 2 of our credit card fraud detection project. In Phase 1 we built a reproducible training pipeline with DVC and MLflow. In Phase 2 we took that trained model and put it into production: a FastAPI service, a Docker image, a live deployment on Render, automated CI/CD, and drift monitoring with a retraining path. I am Abdulraouf, project and ML lead. Mohamed handled the container, the cloud deployment and CI/CD. Someyah handled monitoring, retraining and documentation. We will each take our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(0:50). The dataset is real card transactions from European cardholders over two days in 2013. 284,807 transactions, 492 of which are fraud — that is a fraud rate of 0.1727%, roughly one in 580. That imbalance drives every decision we made. Accuracy is meaningless: a model that says legitimate to everything already scores 99.83%. So we report precision, recall, F1 and PR-AUC. The inputs are Time, the 28 PCA components V1 to V28, and Amount. Class is the label and is never sent to the API — the API rejects a request that includes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A quick recap of Phase 1, because Phase 2 sits directly on top of it. The DVC pipeline has three stages. Prepare loads the raw CSV, writes a data quality report, removes 1,081 duplicate transactions and does a stratified split — stratified because with 0.17% positives an ordinary split can leave the two sets with different fraud rates. Train builds a scikit-learn Pipeline: a StandardScaler on Time and Amount only, since V1 to V28 are already PCA outputs, followed by a Random Forest with class_weight balanced. The scaler lives inside the pipeline, so it is fitted on training rows only and there is no leakage. Evaluate scores the held-out set. Precision 0.88, recall 0.73, PR-AUC 0.79. Everything is tracked by DVC and logged to MLflow, so these numbers are reproducible rather than remembered.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(0:45). This is the whole system on one slide. On the left is the Phase 1 training pipeline Abdulraouf just described, ending in models/model.pkl. The middle column is what Phase 2 added on the serving side: that same pickle is loaded by a FastAPI application, the application is baked into a Docker image, and the image is deployed to Render as a web service with a public HTTPS URL. On the right is CI/CD — every push runs lint, tests and a container smoke test in GitHub Actions, and only then does it deploy. Along the bottom is the monitoring loop: EvidentlyAI compares live-shaped batches against the training distribution, and if it finds drift and we have labelled data, retraining produces a candidate that has to earn its promotion. I will take the deployment and CI/CD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The API exposes five routes. Health is the one worth calling out: it returns 200 only when the model actually loaded, and 503 otherwise. A health check that says healthy while the service cannot score anything is worse than no health check at all. Predict takes exactly the 30 training features, validated by Pydantic — a missing field, a wrong type, or an extra field like Class all come back as 422. Two implementation details. First, we serve the entire scikit-learn Pipeline, not just the classifier, so the Time and Amount scaling at inference is byte-for-byte what it was at training. Second, the model is loaded once at startup and reused. On the right is a real request and the real response: a fraud row from our test split, scored at 0.9696.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(0:55). The container is deliberately small. It starts from python 3.11-slim and installs only what serving needs — FastAPI, Uvicorn, scikit-learn, pandas, numpy. DVC, MLflow and Evidently are training and monitoring tools, so they stay out of the image. requirements-api.txt is fully pinned, and that matters more than it sounds: model.pkl is a pickled scikit-learn object, so the container has to install the same version that fitted it, otherwise loading it is a gamble. The container runs as a non-root user, holds no secrets, and listens on the port Render injects. It is deployed on Render as a Docker web service with the health check pointed at /health, and that is the public URL on the screen. We will hit it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(0:50). The workflow is one file, .github/workflows/ci-cd.yml, and it runs on every push and every pull request. Four things happen in order. Ruff lints the whole repository. Pytest runs our 34 tests against the real model artifact, not a stub. Then Docker builds the image — and this is the part I want to highlight — CI does not just build it, it starts the container, waits for it, checks that health reports the model as loaded, posts a real transaction to predict and asserts the probability is in range, and sends a broken payload to confirm it gets a 422. Only if all of that passes, and only on the main branch, does the deploy job fire the Render deploy hook, which is stored as a GitHub secret and never appears in the code. We deliberately turned Render's own auto-deploy off, so nothing reaches production without passing CI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Monitoring answers one question: is the traffic still shaped like what the model learned from? We use EvidentlyAI with the DataDriftPreset over the 30 input features. The reference is a fixed 10,000-row sample of the training split. We exclude Class, because the API never receives a label at prediction time. We ran two scenarios. The first is a control: untouched rows from the test split. Evidently flags zero of 30 columns — no drift, which tells us the monitor is not just alarmed by everything. The second is a deliberately drifted batch: we applied a seeded shift to 17 columns, simulating larger amounts, later timestamps and moved components. Evidently caught exactly those 17, a share of 0.567, which is above the 0.5 threshold, so it reports dataset drift. I want to be clear that this second batch is simulated for demonstration and labelled that way in the repository — we do not have real production traffic. Both reports are committed as HTML plus a JSON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When drift is detected, retraining does not just run. It needs labelled data, and that is a deliberate design decision: the API only ever sees the 30 features, and whether a transaction turned out to be fraud is confirmed days later by a chargeback. If we retrained on our own predictions we would just be teaching the model its own mistakes. So the script refuses a batch without a Class column, and refuses one that contains only a single class. It trains a candidate on the original training split plus the new batch, using the same Random Forest and the same parameters — the model family never changes — and then scores both the candidate and the currently deployed model on the test split, which is never used for training. The candidate is promoted only if PR-AUC holds up and recall has not dropped by more than 0.02. In our run it did earn promotion, and the whole decision is logged to MLflow. On the right is the Model Card, which states the limits honestly: this model misses 26 of 95 frauds, its probabilities are not calibrated, and the dataset has no demographic fields, so we cannot claim it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(0:40 plus about 1:30 of demo). Let me show it working. [Demo: open the public Swagger page, call health and show model_loaded true, post the fraud transaction and show the 0.9696 probability, then the GitHub Actions run with lint, tests, the container smoke test and the deploy step, and finally the Evidently report with 17 of 30 columns flagged.] To close: Phase 1 gave us a model we could reproduce. Phase 2 turned it into a service we can run, test, deploy and watch. If we carried this further, the three things we would do are set the decision threshold from the actual cost of a missed fraud versus a false alarm, log real requests so drift is measured on live traffic instead of a simulation, and put the drift check on a schedule. Thank you —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685800" y="1371600"/>
            <a:ext cx="676656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Credit Card Fraud Detection</a:t>
            </a:r>
            <a:endParaRPr lang="en-US" sz="4000" dirty="0"/>
          </a:p>
        </p:txBody>
      </p:sp>
      <p:sp>
        <p:nvSpPr>
          <p:cNvPr id="3" name="Text 1"/>
          <p:cNvSpPr/>
          <p:nvPr/>
        </p:nvSpPr>
        <p:spPr>
          <a:xfrm>
            <a:off x="685800" y="2240280"/>
            <a:ext cx="676656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From a DVC pipeline to a monitored API in the cloud</a:t>
            </a:r>
            <a:endParaRPr lang="en-US" sz="1700" dirty="0"/>
          </a:p>
        </p:txBody>
      </p:sp>
      <p:sp>
        <p:nvSpPr>
          <p:cNvPr id="4" name="Text 2"/>
          <p:cNvSpPr/>
          <p:nvPr/>
        </p:nvSpPr>
        <p:spPr>
          <a:xfrm>
            <a:off x="685800" y="2788920"/>
            <a:ext cx="6766560" cy="365760"/>
          </a:xfrm>
          <a:prstGeom prst="rect">
            <a:avLst/>
          </a:prstGeom>
          <a:noFill/>
          <a:ln/>
        </p:spPr>
        <p:txBody>
          <a:bodyPr wrap="square" lIns="0" tIns="0" rIns="0" bIns="0" rtlCol="0" anchor="ctr"/>
          <a:lstStyle/>
          <a:p>
            <a:pPr indent="0" marL="0">
              <a:buNone/>
            </a:pPr>
            <a:r>
              <a:rPr lang="en-US" sz="1300" i="1" dirty="0">
                <a:solidFill>
                  <a:srgbClr val="8FA6C4"/>
                </a:solidFill>
                <a:latin typeface="Calibri" pitchFamily="34" charset="0"/>
                <a:ea typeface="Calibri" pitchFamily="34" charset="-122"/>
                <a:cs typeface="Calibri" pitchFamily="34" charset="-120"/>
              </a:rPr>
              <a:t>MAI201 MLOps  ·  Phase 2 Final Presentation</a:t>
            </a:r>
            <a:endParaRPr lang="en-US" sz="1300" dirty="0"/>
          </a:p>
        </p:txBody>
      </p:sp>
      <p:sp>
        <p:nvSpPr>
          <p:cNvPr id="5" name="Shape 3"/>
          <p:cNvSpPr/>
          <p:nvPr/>
        </p:nvSpPr>
        <p:spPr>
          <a:xfrm>
            <a:off x="749808" y="3602736"/>
            <a:ext cx="155448" cy="155448"/>
          </a:xfrm>
          <a:prstGeom prst="ellipse">
            <a:avLst/>
          </a:prstGeom>
          <a:solidFill>
            <a:srgbClr val="C81E3C"/>
          </a:solidFill>
          <a:ln w="12700">
            <a:solidFill>
              <a:srgbClr val="C81E3C"/>
            </a:solidFill>
            <a:prstDash val="solid"/>
          </a:ln>
        </p:spPr>
      </p:sp>
      <p:sp>
        <p:nvSpPr>
          <p:cNvPr id="6" name="Text 4"/>
          <p:cNvSpPr/>
          <p:nvPr/>
        </p:nvSpPr>
        <p:spPr>
          <a:xfrm>
            <a:off x="749808" y="3602736"/>
            <a:ext cx="155448" cy="155448"/>
          </a:xfrm>
          <a:prstGeom prst="rect">
            <a:avLst/>
          </a:prstGeom>
          <a:noFill/>
          <a:ln/>
        </p:spPr>
        <p:txBody>
          <a:bodyPr wrap="square" lIns="0" tIns="0" rIns="0" bIns="0" rtlCol="0" anchor="ctr"/>
          <a:lstStyle/>
          <a:p>
            <a:pPr algn="ctr" indent="0" marL="0">
              <a:buNone/>
            </a:pPr>
            <a:endParaRPr lang="en-US" sz="1200" dirty="0"/>
          </a:p>
        </p:txBody>
      </p:sp>
      <p:sp>
        <p:nvSpPr>
          <p:cNvPr id="7" name="Text 5"/>
          <p:cNvSpPr/>
          <p:nvPr/>
        </p:nvSpPr>
        <p:spPr>
          <a:xfrm>
            <a:off x="1097280" y="3520440"/>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Public HTTPS API on Render</a:t>
            </a:r>
            <a:endParaRPr lang="en-US" sz="1250" dirty="0"/>
          </a:p>
        </p:txBody>
      </p:sp>
      <p:sp>
        <p:nvSpPr>
          <p:cNvPr id="8" name="Shape 6"/>
          <p:cNvSpPr/>
          <p:nvPr/>
        </p:nvSpPr>
        <p:spPr>
          <a:xfrm>
            <a:off x="749808" y="4005072"/>
            <a:ext cx="155448" cy="155448"/>
          </a:xfrm>
          <a:prstGeom prst="ellipse">
            <a:avLst/>
          </a:prstGeom>
          <a:solidFill>
            <a:srgbClr val="C81E3C"/>
          </a:solidFill>
          <a:ln w="12700">
            <a:solidFill>
              <a:srgbClr val="C81E3C"/>
            </a:solidFill>
            <a:prstDash val="solid"/>
          </a:ln>
        </p:spPr>
      </p:sp>
      <p:sp>
        <p:nvSpPr>
          <p:cNvPr id="9" name="Text 7"/>
          <p:cNvSpPr/>
          <p:nvPr/>
        </p:nvSpPr>
        <p:spPr>
          <a:xfrm>
            <a:off x="749808" y="4005072"/>
            <a:ext cx="155448" cy="155448"/>
          </a:xfrm>
          <a:prstGeom prst="rect">
            <a:avLst/>
          </a:prstGeom>
          <a:noFill/>
          <a:ln/>
        </p:spPr>
        <p:txBody>
          <a:bodyPr wrap="square" lIns="0" tIns="0" rIns="0" bIns="0" rtlCol="0" anchor="ctr"/>
          <a:lstStyle/>
          <a:p>
            <a:pPr algn="ctr" indent="0" marL="0">
              <a:buNone/>
            </a:pPr>
            <a:endParaRPr lang="en-US" sz="1200" dirty="0"/>
          </a:p>
        </p:txBody>
      </p:sp>
      <p:sp>
        <p:nvSpPr>
          <p:cNvPr id="10" name="Text 8"/>
          <p:cNvSpPr/>
          <p:nvPr/>
        </p:nvSpPr>
        <p:spPr>
          <a:xfrm>
            <a:off x="1097280" y="3922776"/>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Docker image, built and smoke-tested in CI</a:t>
            </a:r>
            <a:endParaRPr lang="en-US" sz="1250" dirty="0"/>
          </a:p>
        </p:txBody>
      </p:sp>
      <p:sp>
        <p:nvSpPr>
          <p:cNvPr id="11" name="Shape 9"/>
          <p:cNvSpPr/>
          <p:nvPr/>
        </p:nvSpPr>
        <p:spPr>
          <a:xfrm>
            <a:off x="749808" y="4407408"/>
            <a:ext cx="155448" cy="155448"/>
          </a:xfrm>
          <a:prstGeom prst="ellipse">
            <a:avLst/>
          </a:prstGeom>
          <a:solidFill>
            <a:srgbClr val="C81E3C"/>
          </a:solidFill>
          <a:ln w="12700">
            <a:solidFill>
              <a:srgbClr val="C81E3C"/>
            </a:solidFill>
            <a:prstDash val="solid"/>
          </a:ln>
        </p:spPr>
      </p:sp>
      <p:sp>
        <p:nvSpPr>
          <p:cNvPr id="12" name="Text 10"/>
          <p:cNvSpPr/>
          <p:nvPr/>
        </p:nvSpPr>
        <p:spPr>
          <a:xfrm>
            <a:off x="749808" y="4407408"/>
            <a:ext cx="155448" cy="155448"/>
          </a:xfrm>
          <a:prstGeom prst="rect">
            <a:avLst/>
          </a:prstGeom>
          <a:noFill/>
          <a:ln/>
        </p:spPr>
        <p:txBody>
          <a:bodyPr wrap="square" lIns="0" tIns="0" rIns="0" bIns="0" rtlCol="0" anchor="ctr"/>
          <a:lstStyle/>
          <a:p>
            <a:pPr algn="ctr" indent="0" marL="0">
              <a:buNone/>
            </a:pPr>
            <a:endParaRPr lang="en-US" sz="1200" dirty="0"/>
          </a:p>
        </p:txBody>
      </p:sp>
      <p:sp>
        <p:nvSpPr>
          <p:cNvPr id="13" name="Text 11"/>
          <p:cNvSpPr/>
          <p:nvPr/>
        </p:nvSpPr>
        <p:spPr>
          <a:xfrm>
            <a:off x="1097280" y="4325112"/>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GitHub Actions: lint, tests, deploy</a:t>
            </a:r>
            <a:endParaRPr lang="en-US" sz="1250" dirty="0"/>
          </a:p>
        </p:txBody>
      </p:sp>
      <p:sp>
        <p:nvSpPr>
          <p:cNvPr id="14" name="Shape 12"/>
          <p:cNvSpPr/>
          <p:nvPr/>
        </p:nvSpPr>
        <p:spPr>
          <a:xfrm>
            <a:off x="749808" y="4809744"/>
            <a:ext cx="155448" cy="155448"/>
          </a:xfrm>
          <a:prstGeom prst="ellipse">
            <a:avLst/>
          </a:prstGeom>
          <a:solidFill>
            <a:srgbClr val="C81E3C"/>
          </a:solidFill>
          <a:ln w="12700">
            <a:solidFill>
              <a:srgbClr val="C81E3C"/>
            </a:solidFill>
            <a:prstDash val="solid"/>
          </a:ln>
        </p:spPr>
      </p:sp>
      <p:sp>
        <p:nvSpPr>
          <p:cNvPr id="15" name="Text 13"/>
          <p:cNvSpPr/>
          <p:nvPr/>
        </p:nvSpPr>
        <p:spPr>
          <a:xfrm>
            <a:off x="749808" y="4809744"/>
            <a:ext cx="155448" cy="155448"/>
          </a:xfrm>
          <a:prstGeom prst="rect">
            <a:avLst/>
          </a:prstGeom>
          <a:noFill/>
          <a:ln/>
        </p:spPr>
        <p:txBody>
          <a:bodyPr wrap="square" lIns="0" tIns="0" rIns="0" bIns="0" rtlCol="0" anchor="ctr"/>
          <a:lstStyle/>
          <a:p>
            <a:pPr algn="ctr" indent="0" marL="0">
              <a:buNone/>
            </a:pPr>
            <a:endParaRPr lang="en-US" sz="1200" dirty="0"/>
          </a:p>
        </p:txBody>
      </p:sp>
      <p:sp>
        <p:nvSpPr>
          <p:cNvPr id="16" name="Text 14"/>
          <p:cNvSpPr/>
          <p:nvPr/>
        </p:nvSpPr>
        <p:spPr>
          <a:xfrm>
            <a:off x="1097280" y="4727448"/>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EvidentlyAI drift reports + retraining</a:t>
            </a:r>
            <a:endParaRPr lang="en-US" sz="1250" dirty="0"/>
          </a:p>
        </p:txBody>
      </p:sp>
      <p:sp>
        <p:nvSpPr>
          <p:cNvPr id="17" name="Text 15"/>
          <p:cNvSpPr/>
          <p:nvPr/>
        </p:nvSpPr>
        <p:spPr>
          <a:xfrm>
            <a:off x="685800" y="5349240"/>
            <a:ext cx="6766560" cy="365760"/>
          </a:xfrm>
          <a:prstGeom prst="rect">
            <a:avLst/>
          </a:prstGeom>
          <a:noFill/>
          <a:ln/>
        </p:spPr>
        <p:txBody>
          <a:bodyPr wrap="square" lIns="0" tIns="0" rIns="0" bIns="0" rtlCol="0" anchor="ctr"/>
          <a:lstStyle/>
          <a:p>
            <a:pPr indent="0" marL="0">
              <a:buNone/>
            </a:pPr>
            <a:r>
              <a:rPr lang="en-US" sz="1200" dirty="0">
                <a:solidFill>
                  <a:srgbClr val="8FA6C4"/>
                </a:solidFill>
                <a:latin typeface="Calibri" pitchFamily="34" charset="0"/>
                <a:ea typeface="Calibri" pitchFamily="34" charset="-122"/>
                <a:cs typeface="Calibri" pitchFamily="34" charset="-120"/>
              </a:rPr>
              <a:t>Kaggle / ULB dataset  ·  284,807 transactions  ·  0.17% fraud</a:t>
            </a:r>
            <a:endParaRPr lang="en-US" sz="1200" dirty="0"/>
          </a:p>
        </p:txBody>
      </p:sp>
      <p:sp>
        <p:nvSpPr>
          <p:cNvPr id="18" name="Shape 16"/>
          <p:cNvSpPr/>
          <p:nvPr/>
        </p:nvSpPr>
        <p:spPr>
          <a:xfrm>
            <a:off x="7772400" y="1417320"/>
            <a:ext cx="3840480" cy="1097280"/>
          </a:xfrm>
          <a:prstGeom prst="roundRect">
            <a:avLst>
              <a:gd name="adj" fmla="val 7500"/>
            </a:avLst>
          </a:prstGeom>
          <a:solidFill>
            <a:srgbClr val="1C3A5E"/>
          </a:solidFill>
          <a:ln w="12700">
            <a:solidFill>
              <a:srgbClr val="1C3A5E"/>
            </a:solidFill>
            <a:prstDash val="solid"/>
          </a:ln>
        </p:spPr>
      </p:sp>
      <p:sp>
        <p:nvSpPr>
          <p:cNvPr id="19" name="Shape 17"/>
          <p:cNvSpPr/>
          <p:nvPr/>
        </p:nvSpPr>
        <p:spPr>
          <a:xfrm>
            <a:off x="8001000" y="1755648"/>
            <a:ext cx="420624" cy="420624"/>
          </a:xfrm>
          <a:prstGeom prst="ellipse">
            <a:avLst/>
          </a:prstGeom>
          <a:solidFill>
            <a:srgbClr val="C81E3C"/>
          </a:solidFill>
          <a:ln w="12700">
            <a:solidFill>
              <a:srgbClr val="C81E3C"/>
            </a:solidFill>
            <a:prstDash val="solid"/>
          </a:ln>
        </p:spPr>
      </p:sp>
      <p:sp>
        <p:nvSpPr>
          <p:cNvPr id="20" name="Text 18"/>
          <p:cNvSpPr/>
          <p:nvPr/>
        </p:nvSpPr>
        <p:spPr>
          <a:xfrm>
            <a:off x="8001000" y="17556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p:nvPr/>
        </p:nvSpPr>
        <p:spPr>
          <a:xfrm>
            <a:off x="8549640" y="1563624"/>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Abdulraouf Zabalawi</a:t>
            </a:r>
            <a:endParaRPr lang="en-US" sz="1350" dirty="0"/>
          </a:p>
        </p:txBody>
      </p:sp>
      <p:sp>
        <p:nvSpPr>
          <p:cNvPr id="22" name="Text 20"/>
          <p:cNvSpPr/>
          <p:nvPr/>
        </p:nvSpPr>
        <p:spPr>
          <a:xfrm>
            <a:off x="8549640" y="1828800"/>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Project &amp; ML Lead</a:t>
            </a:r>
            <a:endParaRPr lang="en-US" sz="1100" dirty="0"/>
          </a:p>
        </p:txBody>
      </p:sp>
      <p:sp>
        <p:nvSpPr>
          <p:cNvPr id="23" name="Text 21"/>
          <p:cNvSpPr/>
          <p:nvPr/>
        </p:nvSpPr>
        <p:spPr>
          <a:xfrm>
            <a:off x="8549640" y="2066544"/>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Model, FastAPI, Model Card, MLflow</a:t>
            </a:r>
            <a:endParaRPr lang="en-US" sz="1000" dirty="0"/>
          </a:p>
        </p:txBody>
      </p:sp>
      <p:sp>
        <p:nvSpPr>
          <p:cNvPr id="24" name="Shape 22"/>
          <p:cNvSpPr/>
          <p:nvPr/>
        </p:nvSpPr>
        <p:spPr>
          <a:xfrm>
            <a:off x="7772400" y="2715768"/>
            <a:ext cx="3840480" cy="1097280"/>
          </a:xfrm>
          <a:prstGeom prst="roundRect">
            <a:avLst>
              <a:gd name="adj" fmla="val 7500"/>
            </a:avLst>
          </a:prstGeom>
          <a:solidFill>
            <a:srgbClr val="1C3A5E"/>
          </a:solidFill>
          <a:ln w="12700">
            <a:solidFill>
              <a:srgbClr val="1C3A5E"/>
            </a:solidFill>
            <a:prstDash val="solid"/>
          </a:ln>
        </p:spPr>
      </p:sp>
      <p:sp>
        <p:nvSpPr>
          <p:cNvPr id="25" name="Shape 23"/>
          <p:cNvSpPr/>
          <p:nvPr/>
        </p:nvSpPr>
        <p:spPr>
          <a:xfrm>
            <a:off x="8001000" y="3054096"/>
            <a:ext cx="420624" cy="420624"/>
          </a:xfrm>
          <a:prstGeom prst="ellipse">
            <a:avLst/>
          </a:prstGeom>
          <a:solidFill>
            <a:srgbClr val="1C7293"/>
          </a:solidFill>
          <a:ln w="12700">
            <a:solidFill>
              <a:srgbClr val="1C7293"/>
            </a:solidFill>
            <a:prstDash val="solid"/>
          </a:ln>
        </p:spPr>
      </p:sp>
      <p:sp>
        <p:nvSpPr>
          <p:cNvPr id="26" name="Text 24"/>
          <p:cNvSpPr/>
          <p:nvPr/>
        </p:nvSpPr>
        <p:spPr>
          <a:xfrm>
            <a:off x="8001000" y="30540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27" name="Text 25"/>
          <p:cNvSpPr/>
          <p:nvPr/>
        </p:nvSpPr>
        <p:spPr>
          <a:xfrm>
            <a:off x="8549640" y="2862072"/>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Mohamed Roble</a:t>
            </a:r>
            <a:endParaRPr lang="en-US" sz="1350" dirty="0"/>
          </a:p>
        </p:txBody>
      </p:sp>
      <p:sp>
        <p:nvSpPr>
          <p:cNvPr id="28" name="Text 26"/>
          <p:cNvSpPr/>
          <p:nvPr/>
        </p:nvSpPr>
        <p:spPr>
          <a:xfrm>
            <a:off x="8549640" y="3127248"/>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Engineering Lead</a:t>
            </a:r>
            <a:endParaRPr lang="en-US" sz="1100" dirty="0"/>
          </a:p>
        </p:txBody>
      </p:sp>
      <p:sp>
        <p:nvSpPr>
          <p:cNvPr id="29" name="Text 27"/>
          <p:cNvSpPr/>
          <p:nvPr/>
        </p:nvSpPr>
        <p:spPr>
          <a:xfrm>
            <a:off x="8549640" y="3364992"/>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Docker, Render deployment, CI/CD</a:t>
            </a:r>
            <a:endParaRPr lang="en-US" sz="1000" dirty="0"/>
          </a:p>
        </p:txBody>
      </p:sp>
      <p:sp>
        <p:nvSpPr>
          <p:cNvPr id="30" name="Shape 28"/>
          <p:cNvSpPr/>
          <p:nvPr/>
        </p:nvSpPr>
        <p:spPr>
          <a:xfrm>
            <a:off x="7772400" y="4014216"/>
            <a:ext cx="3840480" cy="1097280"/>
          </a:xfrm>
          <a:prstGeom prst="roundRect">
            <a:avLst>
              <a:gd name="adj" fmla="val 7500"/>
            </a:avLst>
          </a:prstGeom>
          <a:solidFill>
            <a:srgbClr val="1C3A5E"/>
          </a:solidFill>
          <a:ln w="12700">
            <a:solidFill>
              <a:srgbClr val="1C3A5E"/>
            </a:solidFill>
            <a:prstDash val="solid"/>
          </a:ln>
        </p:spPr>
      </p:sp>
      <p:sp>
        <p:nvSpPr>
          <p:cNvPr id="31" name="Shape 29"/>
          <p:cNvSpPr/>
          <p:nvPr/>
        </p:nvSpPr>
        <p:spPr>
          <a:xfrm>
            <a:off x="8001000" y="4352544"/>
            <a:ext cx="420624" cy="420624"/>
          </a:xfrm>
          <a:prstGeom prst="ellipse">
            <a:avLst/>
          </a:prstGeom>
          <a:solidFill>
            <a:srgbClr val="1E7A50"/>
          </a:solidFill>
          <a:ln w="12700">
            <a:solidFill>
              <a:srgbClr val="1E7A50"/>
            </a:solidFill>
            <a:prstDash val="solid"/>
          </a:ln>
        </p:spPr>
      </p:sp>
      <p:sp>
        <p:nvSpPr>
          <p:cNvPr id="32" name="Text 30"/>
          <p:cNvSpPr/>
          <p:nvPr/>
        </p:nvSpPr>
        <p:spPr>
          <a:xfrm>
            <a:off x="8001000" y="4352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33" name="Text 31"/>
          <p:cNvSpPr/>
          <p:nvPr/>
        </p:nvSpPr>
        <p:spPr>
          <a:xfrm>
            <a:off x="8549640" y="4160520"/>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Someyah Balashi</a:t>
            </a:r>
            <a:endParaRPr lang="en-US" sz="1350" dirty="0"/>
          </a:p>
        </p:txBody>
      </p:sp>
      <p:sp>
        <p:nvSpPr>
          <p:cNvPr id="34" name="Text 32"/>
          <p:cNvSpPr/>
          <p:nvPr/>
        </p:nvSpPr>
        <p:spPr>
          <a:xfrm>
            <a:off x="8549640" y="4425696"/>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Documentation Lead</a:t>
            </a:r>
            <a:endParaRPr lang="en-US" sz="1100" dirty="0"/>
          </a:p>
        </p:txBody>
      </p:sp>
      <p:sp>
        <p:nvSpPr>
          <p:cNvPr id="35" name="Text 33"/>
          <p:cNvSpPr/>
          <p:nvPr/>
        </p:nvSpPr>
        <p:spPr>
          <a:xfrm>
            <a:off x="8549640" y="4663440"/>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EvidentlyAI, retraining, slides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The problem, and the data</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Text 3"/>
          <p:cNvSpPr/>
          <p:nvPr/>
        </p:nvSpPr>
        <p:spPr>
          <a:xfrm>
            <a:off x="685800" y="1325880"/>
            <a:ext cx="2743200" cy="777240"/>
          </a:xfrm>
          <a:prstGeom prst="rect">
            <a:avLst/>
          </a:prstGeom>
          <a:noFill/>
          <a:ln/>
        </p:spPr>
        <p:txBody>
          <a:bodyPr wrap="square" lIns="0" tIns="0" rIns="0" bIns="0" rtlCol="0" anchor="b"/>
          <a:lstStyle/>
          <a:p>
            <a:pPr algn="l" indent="0" marL="0">
              <a:buNone/>
            </a:pPr>
            <a:r>
              <a:rPr lang="en-US" sz="4000" b="1" dirty="0">
                <a:solidFill>
                  <a:srgbClr val="10233F"/>
                </a:solidFill>
                <a:latin typeface="Cambria" pitchFamily="34" charset="0"/>
                <a:ea typeface="Cambria" pitchFamily="34" charset="-122"/>
                <a:cs typeface="Cambria" pitchFamily="34" charset="-120"/>
              </a:rPr>
              <a:t>284,807</a:t>
            </a:r>
            <a:endParaRPr lang="en-US" sz="4000" dirty="0"/>
          </a:p>
        </p:txBody>
      </p:sp>
      <p:sp>
        <p:nvSpPr>
          <p:cNvPr id="6" name="Text 4"/>
          <p:cNvSpPr/>
          <p:nvPr/>
        </p:nvSpPr>
        <p:spPr>
          <a:xfrm>
            <a:off x="68580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transactions over two days</a:t>
            </a:r>
            <a:endParaRPr lang="en-US" sz="1200" dirty="0"/>
          </a:p>
        </p:txBody>
      </p:sp>
      <p:sp>
        <p:nvSpPr>
          <p:cNvPr id="7" name="Text 5"/>
          <p:cNvSpPr/>
          <p:nvPr/>
        </p:nvSpPr>
        <p:spPr>
          <a:xfrm>
            <a:off x="4160520" y="1325880"/>
            <a:ext cx="274320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492</a:t>
            </a:r>
            <a:endParaRPr lang="en-US" sz="4000" dirty="0"/>
          </a:p>
        </p:txBody>
      </p:sp>
      <p:sp>
        <p:nvSpPr>
          <p:cNvPr id="8" name="Text 6"/>
          <p:cNvSpPr/>
          <p:nvPr/>
        </p:nvSpPr>
        <p:spPr>
          <a:xfrm>
            <a:off x="416052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of them fraudulent</a:t>
            </a:r>
            <a:endParaRPr lang="en-US" sz="1200" dirty="0"/>
          </a:p>
        </p:txBody>
      </p:sp>
      <p:sp>
        <p:nvSpPr>
          <p:cNvPr id="9" name="Text 7"/>
          <p:cNvSpPr/>
          <p:nvPr/>
        </p:nvSpPr>
        <p:spPr>
          <a:xfrm>
            <a:off x="7635240" y="1325880"/>
            <a:ext cx="384048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0.1727%</a:t>
            </a:r>
            <a:endParaRPr lang="en-US" sz="4000" dirty="0"/>
          </a:p>
        </p:txBody>
      </p:sp>
      <p:sp>
        <p:nvSpPr>
          <p:cNvPr id="10" name="Text 8"/>
          <p:cNvSpPr/>
          <p:nvPr/>
        </p:nvSpPr>
        <p:spPr>
          <a:xfrm>
            <a:off x="7635240" y="2130552"/>
            <a:ext cx="384048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fraud rate — one in every 580</a:t>
            </a:r>
            <a:endParaRPr lang="en-US" sz="1200" dirty="0"/>
          </a:p>
        </p:txBody>
      </p:sp>
      <p:sp>
        <p:nvSpPr>
          <p:cNvPr id="11" name="Shape 9"/>
          <p:cNvSpPr/>
          <p:nvPr/>
        </p:nvSpPr>
        <p:spPr>
          <a:xfrm>
            <a:off x="685800" y="3063240"/>
            <a:ext cx="5394960" cy="3063240"/>
          </a:xfrm>
          <a:prstGeom prst="roundRect">
            <a:avLst>
              <a:gd name="adj" fmla="val 2687"/>
            </a:avLst>
          </a:prstGeom>
          <a:solidFill>
            <a:srgbClr val="F2F5F9"/>
          </a:solidFill>
          <a:ln w="12700">
            <a:solidFill>
              <a:srgbClr val="F2F5F9"/>
            </a:solidFill>
            <a:prstDash val="solid"/>
          </a:ln>
        </p:spPr>
      </p:sp>
      <p:sp>
        <p:nvSpPr>
          <p:cNvPr id="12" name="Text 10"/>
          <p:cNvSpPr/>
          <p:nvPr/>
        </p:nvSpPr>
        <p:spPr>
          <a:xfrm>
            <a:off x="960120" y="3246120"/>
            <a:ext cx="484632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What makes this hard</a:t>
            </a:r>
            <a:endParaRPr lang="en-US" sz="1500" dirty="0"/>
          </a:p>
        </p:txBody>
      </p:sp>
      <p:sp>
        <p:nvSpPr>
          <p:cNvPr id="13" name="Text 11"/>
          <p:cNvSpPr/>
          <p:nvPr/>
        </p:nvSpPr>
        <p:spPr>
          <a:xfrm>
            <a:off x="960120" y="361188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Accuracy is useless here. Answering "legitimate" to everything scores 99.83%, so we judge the model on precision, recall, F1 and PR-AUC instead.</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Only 492 fraud rows exist in total. A handful of transactions moves recall by a full percentage point.</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V1–V28 are PCA components published in place of the real fields, so no feature has a human-readable meaning.</a:t>
            </a:r>
            <a:endParaRPr lang="en-US" sz="1200" dirty="0"/>
          </a:p>
        </p:txBody>
      </p:sp>
      <p:sp>
        <p:nvSpPr>
          <p:cNvPr id="14" name="Shape 12"/>
          <p:cNvSpPr/>
          <p:nvPr/>
        </p:nvSpPr>
        <p:spPr>
          <a:xfrm>
            <a:off x="6446520" y="3063240"/>
            <a:ext cx="5074920" cy="3063240"/>
          </a:xfrm>
          <a:prstGeom prst="roundRect">
            <a:avLst>
              <a:gd name="adj" fmla="val 2687"/>
            </a:avLst>
          </a:prstGeom>
          <a:solidFill>
            <a:srgbClr val="F2F5F9"/>
          </a:solidFill>
          <a:ln w="12700">
            <a:solidFill>
              <a:srgbClr val="F2F5F9"/>
            </a:solidFill>
            <a:prstDash val="solid"/>
          </a:ln>
        </p:spPr>
      </p:sp>
      <p:sp>
        <p:nvSpPr>
          <p:cNvPr id="15" name="Text 13"/>
          <p:cNvSpPr/>
          <p:nvPr/>
        </p:nvSpPr>
        <p:spPr>
          <a:xfrm>
            <a:off x="6720840" y="3246120"/>
            <a:ext cx="457200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The 30 inputs the API accepts</a:t>
            </a:r>
            <a:endParaRPr lang="en-US" sz="1500" dirty="0"/>
          </a:p>
        </p:txBody>
      </p:sp>
      <p:sp>
        <p:nvSpPr>
          <p:cNvPr id="16" name="Text 14"/>
          <p:cNvSpPr/>
          <p:nvPr/>
        </p:nvSpPr>
        <p:spPr>
          <a:xfrm>
            <a:off x="6720840" y="3675888"/>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Time</a:t>
            </a:r>
            <a:endParaRPr lang="en-US" sz="1200" dirty="0"/>
          </a:p>
        </p:txBody>
      </p:sp>
      <p:sp>
        <p:nvSpPr>
          <p:cNvPr id="17" name="Text 15"/>
          <p:cNvSpPr/>
          <p:nvPr/>
        </p:nvSpPr>
        <p:spPr>
          <a:xfrm>
            <a:off x="8321040" y="3675888"/>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seconds since the first transaction</a:t>
            </a:r>
            <a:endParaRPr lang="en-US" sz="1150" dirty="0"/>
          </a:p>
        </p:txBody>
      </p:sp>
      <p:sp>
        <p:nvSpPr>
          <p:cNvPr id="18" name="Text 16"/>
          <p:cNvSpPr/>
          <p:nvPr/>
        </p:nvSpPr>
        <p:spPr>
          <a:xfrm>
            <a:off x="6720840" y="4242816"/>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V1 – V28</a:t>
            </a:r>
            <a:endParaRPr lang="en-US" sz="1200" dirty="0"/>
          </a:p>
        </p:txBody>
      </p:sp>
      <p:sp>
        <p:nvSpPr>
          <p:cNvPr id="19" name="Text 17"/>
          <p:cNvSpPr/>
          <p:nvPr/>
        </p:nvSpPr>
        <p:spPr>
          <a:xfrm>
            <a:off x="8321040" y="4242816"/>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anonymised PCA components</a:t>
            </a:r>
            <a:endParaRPr lang="en-US" sz="1150" dirty="0"/>
          </a:p>
        </p:txBody>
      </p:sp>
      <p:sp>
        <p:nvSpPr>
          <p:cNvPr id="20" name="Text 18"/>
          <p:cNvSpPr/>
          <p:nvPr/>
        </p:nvSpPr>
        <p:spPr>
          <a:xfrm>
            <a:off x="6720840" y="4809744"/>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Amount</a:t>
            </a:r>
            <a:endParaRPr lang="en-US" sz="1200" dirty="0"/>
          </a:p>
        </p:txBody>
      </p:sp>
      <p:sp>
        <p:nvSpPr>
          <p:cNvPr id="21" name="Text 19"/>
          <p:cNvSpPr/>
          <p:nvPr/>
        </p:nvSpPr>
        <p:spPr>
          <a:xfrm>
            <a:off x="8321040" y="4809744"/>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transaction value, 0 to 25,691.16</a:t>
            </a:r>
            <a:endParaRPr lang="en-US" sz="1150" dirty="0"/>
          </a:p>
        </p:txBody>
      </p:sp>
      <p:sp>
        <p:nvSpPr>
          <p:cNvPr id="22" name="Text 20"/>
          <p:cNvSpPr/>
          <p:nvPr/>
        </p:nvSpPr>
        <p:spPr>
          <a:xfrm>
            <a:off x="6720840" y="5376672"/>
            <a:ext cx="1554480" cy="320040"/>
          </a:xfrm>
          <a:prstGeom prst="rect">
            <a:avLst/>
          </a:prstGeom>
          <a:noFill/>
          <a:ln/>
        </p:spPr>
        <p:txBody>
          <a:bodyPr wrap="square" lIns="0" tIns="0" rIns="0" bIns="0" rtlCol="0" anchor="ctr"/>
          <a:lstStyle/>
          <a:p>
            <a:pPr indent="0" marL="0">
              <a:buNone/>
            </a:pPr>
            <a:r>
              <a:rPr lang="en-US" sz="1200" b="1" dirty="0">
                <a:solidFill>
                  <a:srgbClr val="C81E3C"/>
                </a:solidFill>
                <a:latin typeface="Courier New" pitchFamily="34" charset="0"/>
                <a:ea typeface="Courier New" pitchFamily="34" charset="-122"/>
                <a:cs typeface="Courier New" pitchFamily="34" charset="-120"/>
              </a:rPr>
              <a:t>Class</a:t>
            </a:r>
            <a:endParaRPr lang="en-US" sz="1200" dirty="0"/>
          </a:p>
        </p:txBody>
      </p:sp>
      <p:sp>
        <p:nvSpPr>
          <p:cNvPr id="23" name="Text 21"/>
          <p:cNvSpPr/>
          <p:nvPr/>
        </p:nvSpPr>
        <p:spPr>
          <a:xfrm>
            <a:off x="8321040" y="5376672"/>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the label — never sent to /predict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Phase 1 recap: DVC pipeline + MLflow</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325880"/>
            <a:ext cx="3383280" cy="1600200"/>
          </a:xfrm>
          <a:prstGeom prst="roundRect">
            <a:avLst>
              <a:gd name="adj" fmla="val 5143"/>
            </a:avLst>
          </a:prstGeom>
          <a:solidFill>
            <a:srgbClr val="F2F5F9"/>
          </a:solidFill>
          <a:ln w="12700">
            <a:solidFill>
              <a:srgbClr val="F2F5F9"/>
            </a:solidFill>
            <a:prstDash val="solid"/>
          </a:ln>
        </p:spPr>
      </p:sp>
      <p:sp>
        <p:nvSpPr>
          <p:cNvPr id="6" name="Shape 4"/>
          <p:cNvSpPr/>
          <p:nvPr/>
        </p:nvSpPr>
        <p:spPr>
          <a:xfrm>
            <a:off x="941832" y="1554480"/>
            <a:ext cx="457200" cy="457200"/>
          </a:xfrm>
          <a:prstGeom prst="ellipse">
            <a:avLst/>
          </a:prstGeom>
          <a:solidFill>
            <a:srgbClr val="1C7293"/>
          </a:solidFill>
          <a:ln w="12700">
            <a:solidFill>
              <a:srgbClr val="1C7293"/>
            </a:solidFill>
            <a:prstDash val="solid"/>
          </a:ln>
        </p:spPr>
      </p:sp>
      <p:sp>
        <p:nvSpPr>
          <p:cNvPr id="7" name="Text 5"/>
          <p:cNvSpPr/>
          <p:nvPr/>
        </p:nvSpPr>
        <p:spPr>
          <a:xfrm>
            <a:off x="941832"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08760"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prepare</a:t>
            </a:r>
            <a:endParaRPr lang="en-US" sz="1500" dirty="0"/>
          </a:p>
        </p:txBody>
      </p:sp>
      <p:sp>
        <p:nvSpPr>
          <p:cNvPr id="9" name="Text 7"/>
          <p:cNvSpPr/>
          <p:nvPr/>
        </p:nvSpPr>
        <p:spPr>
          <a:xfrm>
            <a:off x="941832"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quality report, drop 1,081 duplicates, stratified 80/20 split</a:t>
            </a:r>
            <a:endParaRPr lang="en-US" sz="1150" dirty="0"/>
          </a:p>
        </p:txBody>
      </p:sp>
      <p:sp>
        <p:nvSpPr>
          <p:cNvPr id="10" name="Text 8"/>
          <p:cNvSpPr/>
          <p:nvPr/>
        </p:nvSpPr>
        <p:spPr>
          <a:xfrm>
            <a:off x="4087368"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4361688" y="1325880"/>
            <a:ext cx="3383280" cy="1600200"/>
          </a:xfrm>
          <a:prstGeom prst="roundRect">
            <a:avLst>
              <a:gd name="adj" fmla="val 5143"/>
            </a:avLst>
          </a:prstGeom>
          <a:solidFill>
            <a:srgbClr val="F2F5F9"/>
          </a:solidFill>
          <a:ln w="12700">
            <a:solidFill>
              <a:srgbClr val="F2F5F9"/>
            </a:solidFill>
            <a:prstDash val="solid"/>
          </a:ln>
        </p:spPr>
      </p:sp>
      <p:sp>
        <p:nvSpPr>
          <p:cNvPr id="12" name="Shape 10"/>
          <p:cNvSpPr/>
          <p:nvPr/>
        </p:nvSpPr>
        <p:spPr>
          <a:xfrm>
            <a:off x="4617720" y="1554480"/>
            <a:ext cx="457200" cy="457200"/>
          </a:xfrm>
          <a:prstGeom prst="ellipse">
            <a:avLst/>
          </a:prstGeom>
          <a:solidFill>
            <a:srgbClr val="1C7293"/>
          </a:solidFill>
          <a:ln w="12700">
            <a:solidFill>
              <a:srgbClr val="1C7293"/>
            </a:solidFill>
            <a:prstDash val="solid"/>
          </a:ln>
        </p:spPr>
      </p:sp>
      <p:sp>
        <p:nvSpPr>
          <p:cNvPr id="13" name="Text 11"/>
          <p:cNvSpPr/>
          <p:nvPr/>
        </p:nvSpPr>
        <p:spPr>
          <a:xfrm>
            <a:off x="4617720"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184648"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train</a:t>
            </a:r>
            <a:endParaRPr lang="en-US" sz="1500" dirty="0"/>
          </a:p>
        </p:txBody>
      </p:sp>
      <p:sp>
        <p:nvSpPr>
          <p:cNvPr id="15" name="Text 13"/>
          <p:cNvSpPr/>
          <p:nvPr/>
        </p:nvSpPr>
        <p:spPr>
          <a:xfrm>
            <a:off x="4617720"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scale Time and Amount inside the pipeline, then RandomForest</a:t>
            </a:r>
            <a:endParaRPr lang="en-US" sz="1150" dirty="0"/>
          </a:p>
        </p:txBody>
      </p:sp>
      <p:sp>
        <p:nvSpPr>
          <p:cNvPr id="16" name="Text 14"/>
          <p:cNvSpPr/>
          <p:nvPr/>
        </p:nvSpPr>
        <p:spPr>
          <a:xfrm>
            <a:off x="7763256"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8037576" y="1325880"/>
            <a:ext cx="3383280" cy="1600200"/>
          </a:xfrm>
          <a:prstGeom prst="roundRect">
            <a:avLst>
              <a:gd name="adj" fmla="val 5143"/>
            </a:avLst>
          </a:prstGeom>
          <a:solidFill>
            <a:srgbClr val="F2F5F9"/>
          </a:solidFill>
          <a:ln w="12700">
            <a:solidFill>
              <a:srgbClr val="F2F5F9"/>
            </a:solidFill>
            <a:prstDash val="solid"/>
          </a:ln>
        </p:spPr>
      </p:sp>
      <p:sp>
        <p:nvSpPr>
          <p:cNvPr id="18" name="Shape 16"/>
          <p:cNvSpPr/>
          <p:nvPr/>
        </p:nvSpPr>
        <p:spPr>
          <a:xfrm>
            <a:off x="8293608" y="1554480"/>
            <a:ext cx="457200" cy="457200"/>
          </a:xfrm>
          <a:prstGeom prst="ellipse">
            <a:avLst/>
          </a:prstGeom>
          <a:solidFill>
            <a:srgbClr val="1C7293"/>
          </a:solidFill>
          <a:ln w="12700">
            <a:solidFill>
              <a:srgbClr val="1C7293"/>
            </a:solidFill>
            <a:prstDash val="solid"/>
          </a:ln>
        </p:spPr>
      </p:sp>
      <p:sp>
        <p:nvSpPr>
          <p:cNvPr id="19" name="Text 17"/>
          <p:cNvSpPr/>
          <p:nvPr/>
        </p:nvSpPr>
        <p:spPr>
          <a:xfrm>
            <a:off x="8293608"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8860536"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evaluate</a:t>
            </a:r>
            <a:endParaRPr lang="en-US" sz="1500" dirty="0"/>
          </a:p>
        </p:txBody>
      </p:sp>
      <p:sp>
        <p:nvSpPr>
          <p:cNvPr id="21" name="Text 19"/>
          <p:cNvSpPr/>
          <p:nvPr/>
        </p:nvSpPr>
        <p:spPr>
          <a:xfrm>
            <a:off x="8293608"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imbalance-aware metrics on the held-out 56,746 rows</a:t>
            </a:r>
            <a:endParaRPr lang="en-US" sz="1150" dirty="0"/>
          </a:p>
        </p:txBody>
      </p:sp>
      <p:sp>
        <p:nvSpPr>
          <p:cNvPr id="22" name="Shape 20"/>
          <p:cNvSpPr/>
          <p:nvPr/>
        </p:nvSpPr>
        <p:spPr>
          <a:xfrm>
            <a:off x="685800" y="3154680"/>
            <a:ext cx="5669280" cy="2971800"/>
          </a:xfrm>
          <a:prstGeom prst="roundRect">
            <a:avLst>
              <a:gd name="adj" fmla="val 2769"/>
            </a:avLst>
          </a:prstGeom>
          <a:solidFill>
            <a:srgbClr val="F2F5F9"/>
          </a:solidFill>
          <a:ln w="12700">
            <a:solidFill>
              <a:srgbClr val="F2F5F9"/>
            </a:solidFill>
            <a:prstDash val="solid"/>
          </a:ln>
        </p:spPr>
      </p:sp>
      <p:sp>
        <p:nvSpPr>
          <p:cNvPr id="23" name="Text 21"/>
          <p:cNvSpPr/>
          <p:nvPr/>
        </p:nvSpPr>
        <p:spPr>
          <a:xfrm>
            <a:off x="960120" y="3337560"/>
            <a:ext cx="512064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Baseline on the held-out test set</a:t>
            </a:r>
            <a:endParaRPr lang="en-US" sz="1500" dirty="0"/>
          </a:p>
        </p:txBody>
      </p:sp>
      <p:sp>
        <p:nvSpPr>
          <p:cNvPr id="24" name="Text 22"/>
          <p:cNvSpPr/>
          <p:nvPr/>
        </p:nvSpPr>
        <p:spPr>
          <a:xfrm>
            <a:off x="960120" y="3767328"/>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Precision</a:t>
            </a:r>
            <a:endParaRPr lang="en-US" sz="1250" dirty="0"/>
          </a:p>
        </p:txBody>
      </p:sp>
      <p:sp>
        <p:nvSpPr>
          <p:cNvPr id="25" name="Text 23"/>
          <p:cNvSpPr/>
          <p:nvPr/>
        </p:nvSpPr>
        <p:spPr>
          <a:xfrm>
            <a:off x="2926080" y="3767328"/>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0.8846</a:t>
            </a:r>
            <a:endParaRPr lang="en-US" sz="1300" dirty="0"/>
          </a:p>
        </p:txBody>
      </p:sp>
      <p:sp>
        <p:nvSpPr>
          <p:cNvPr id="26" name="Shape 24"/>
          <p:cNvSpPr/>
          <p:nvPr/>
        </p:nvSpPr>
        <p:spPr>
          <a:xfrm>
            <a:off x="4251960" y="3886200"/>
            <a:ext cx="1577313" cy="118872"/>
          </a:xfrm>
          <a:prstGeom prst="rect">
            <a:avLst/>
          </a:prstGeom>
          <a:solidFill>
            <a:srgbClr val="1C7293"/>
          </a:solidFill>
          <a:ln w="12700">
            <a:solidFill>
              <a:srgbClr val="1C7293"/>
            </a:solidFill>
            <a:prstDash val="solid"/>
          </a:ln>
        </p:spPr>
      </p:sp>
      <p:sp>
        <p:nvSpPr>
          <p:cNvPr id="27" name="Text 25"/>
          <p:cNvSpPr/>
          <p:nvPr/>
        </p:nvSpPr>
        <p:spPr>
          <a:xfrm>
            <a:off x="960120" y="4197096"/>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Recall</a:t>
            </a:r>
            <a:endParaRPr lang="en-US" sz="1250" dirty="0"/>
          </a:p>
        </p:txBody>
      </p:sp>
      <p:sp>
        <p:nvSpPr>
          <p:cNvPr id="28" name="Text 26"/>
          <p:cNvSpPr/>
          <p:nvPr/>
        </p:nvSpPr>
        <p:spPr>
          <a:xfrm>
            <a:off x="2926080" y="4197096"/>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0.7263</a:t>
            </a:r>
            <a:endParaRPr lang="en-US" sz="1300" dirty="0"/>
          </a:p>
        </p:txBody>
      </p:sp>
      <p:sp>
        <p:nvSpPr>
          <p:cNvPr id="29" name="Shape 27"/>
          <p:cNvSpPr/>
          <p:nvPr/>
        </p:nvSpPr>
        <p:spPr>
          <a:xfrm>
            <a:off x="4251960" y="4315968"/>
            <a:ext cx="1295051" cy="118872"/>
          </a:xfrm>
          <a:prstGeom prst="rect">
            <a:avLst/>
          </a:prstGeom>
          <a:solidFill>
            <a:srgbClr val="C81E3C"/>
          </a:solidFill>
          <a:ln w="12700">
            <a:solidFill>
              <a:srgbClr val="C81E3C"/>
            </a:solidFill>
            <a:prstDash val="solid"/>
          </a:ln>
        </p:spPr>
      </p:sp>
      <p:sp>
        <p:nvSpPr>
          <p:cNvPr id="30" name="Text 28"/>
          <p:cNvSpPr/>
          <p:nvPr/>
        </p:nvSpPr>
        <p:spPr>
          <a:xfrm>
            <a:off x="960120" y="4626864"/>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F1</a:t>
            </a:r>
            <a:endParaRPr lang="en-US" sz="1250" dirty="0"/>
          </a:p>
        </p:txBody>
      </p:sp>
      <p:sp>
        <p:nvSpPr>
          <p:cNvPr id="31" name="Text 29"/>
          <p:cNvSpPr/>
          <p:nvPr/>
        </p:nvSpPr>
        <p:spPr>
          <a:xfrm>
            <a:off x="2926080" y="4626864"/>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0.7977</a:t>
            </a:r>
            <a:endParaRPr lang="en-US" sz="1300" dirty="0"/>
          </a:p>
        </p:txBody>
      </p:sp>
      <p:sp>
        <p:nvSpPr>
          <p:cNvPr id="32" name="Shape 30"/>
          <p:cNvSpPr/>
          <p:nvPr/>
        </p:nvSpPr>
        <p:spPr>
          <a:xfrm>
            <a:off x="4251960" y="4745736"/>
            <a:ext cx="1422363" cy="118872"/>
          </a:xfrm>
          <a:prstGeom prst="rect">
            <a:avLst/>
          </a:prstGeom>
          <a:solidFill>
            <a:srgbClr val="1C7293"/>
          </a:solidFill>
          <a:ln w="12700">
            <a:solidFill>
              <a:srgbClr val="1C7293"/>
            </a:solidFill>
            <a:prstDash val="solid"/>
          </a:ln>
        </p:spPr>
      </p:sp>
      <p:sp>
        <p:nvSpPr>
          <p:cNvPr id="33" name="Text 31"/>
          <p:cNvSpPr/>
          <p:nvPr/>
        </p:nvSpPr>
        <p:spPr>
          <a:xfrm>
            <a:off x="960120" y="5056632"/>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ROC-AUC</a:t>
            </a:r>
            <a:endParaRPr lang="en-US" sz="1250" dirty="0"/>
          </a:p>
        </p:txBody>
      </p:sp>
      <p:sp>
        <p:nvSpPr>
          <p:cNvPr id="34" name="Text 32"/>
          <p:cNvSpPr/>
          <p:nvPr/>
        </p:nvSpPr>
        <p:spPr>
          <a:xfrm>
            <a:off x="2926080" y="5056632"/>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0.9567</a:t>
            </a:r>
            <a:endParaRPr lang="en-US" sz="1300" dirty="0"/>
          </a:p>
        </p:txBody>
      </p:sp>
      <p:sp>
        <p:nvSpPr>
          <p:cNvPr id="35" name="Shape 33"/>
          <p:cNvSpPr/>
          <p:nvPr/>
        </p:nvSpPr>
        <p:spPr>
          <a:xfrm>
            <a:off x="4251960" y="5175504"/>
            <a:ext cx="1705873" cy="118872"/>
          </a:xfrm>
          <a:prstGeom prst="rect">
            <a:avLst/>
          </a:prstGeom>
          <a:solidFill>
            <a:srgbClr val="1C7293"/>
          </a:solidFill>
          <a:ln w="12700">
            <a:solidFill>
              <a:srgbClr val="1C7293"/>
            </a:solidFill>
            <a:prstDash val="solid"/>
          </a:ln>
        </p:spPr>
      </p:sp>
      <p:sp>
        <p:nvSpPr>
          <p:cNvPr id="36" name="Text 34"/>
          <p:cNvSpPr/>
          <p:nvPr/>
        </p:nvSpPr>
        <p:spPr>
          <a:xfrm>
            <a:off x="960120" y="5486400"/>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PR-AUC</a:t>
            </a:r>
            <a:endParaRPr lang="en-US" sz="1250" dirty="0"/>
          </a:p>
        </p:txBody>
      </p:sp>
      <p:sp>
        <p:nvSpPr>
          <p:cNvPr id="37" name="Text 35"/>
          <p:cNvSpPr/>
          <p:nvPr/>
        </p:nvSpPr>
        <p:spPr>
          <a:xfrm>
            <a:off x="2926080" y="5486400"/>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0.7854</a:t>
            </a:r>
            <a:endParaRPr lang="en-US" sz="1300" dirty="0"/>
          </a:p>
        </p:txBody>
      </p:sp>
      <p:sp>
        <p:nvSpPr>
          <p:cNvPr id="38" name="Shape 36"/>
          <p:cNvSpPr/>
          <p:nvPr/>
        </p:nvSpPr>
        <p:spPr>
          <a:xfrm>
            <a:off x="4251960" y="5605272"/>
            <a:ext cx="1400431" cy="118872"/>
          </a:xfrm>
          <a:prstGeom prst="rect">
            <a:avLst/>
          </a:prstGeom>
          <a:solidFill>
            <a:srgbClr val="1C7293"/>
          </a:solidFill>
          <a:ln w="12700">
            <a:solidFill>
              <a:srgbClr val="1C7293"/>
            </a:solidFill>
            <a:prstDash val="solid"/>
          </a:ln>
        </p:spPr>
      </p:sp>
      <p:sp>
        <p:nvSpPr>
          <p:cNvPr id="39" name="Shape 37"/>
          <p:cNvSpPr/>
          <p:nvPr/>
        </p:nvSpPr>
        <p:spPr>
          <a:xfrm>
            <a:off x="6720840" y="3154680"/>
            <a:ext cx="4800600" cy="2971800"/>
          </a:xfrm>
          <a:prstGeom prst="roundRect">
            <a:avLst>
              <a:gd name="adj" fmla="val 2769"/>
            </a:avLst>
          </a:prstGeom>
          <a:solidFill>
            <a:srgbClr val="F2F5F9"/>
          </a:solidFill>
          <a:ln w="12700">
            <a:solidFill>
              <a:srgbClr val="F2F5F9"/>
            </a:solidFill>
            <a:prstDash val="solid"/>
          </a:ln>
        </p:spPr>
      </p:sp>
      <p:sp>
        <p:nvSpPr>
          <p:cNvPr id="40" name="Text 38"/>
          <p:cNvSpPr/>
          <p:nvPr/>
        </p:nvSpPr>
        <p:spPr>
          <a:xfrm>
            <a:off x="6995160" y="3337560"/>
            <a:ext cx="425196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Tracked, not remembered</a:t>
            </a:r>
            <a:endParaRPr lang="en-US" sz="1500" dirty="0"/>
          </a:p>
        </p:txBody>
      </p:sp>
      <p:sp>
        <p:nvSpPr>
          <p:cNvPr id="41" name="Shape 39"/>
          <p:cNvSpPr/>
          <p:nvPr/>
        </p:nvSpPr>
        <p:spPr>
          <a:xfrm>
            <a:off x="6995160" y="3803904"/>
            <a:ext cx="420624" cy="420624"/>
          </a:xfrm>
          <a:prstGeom prst="ellipse">
            <a:avLst/>
          </a:prstGeom>
          <a:solidFill>
            <a:srgbClr val="1C7293"/>
          </a:solidFill>
          <a:ln w="12700">
            <a:solidFill>
              <a:srgbClr val="1C7293"/>
            </a:solidFill>
            <a:prstDash val="solid"/>
          </a:ln>
        </p:spPr>
      </p:sp>
      <p:sp>
        <p:nvSpPr>
          <p:cNvPr id="42" name="Text 40"/>
          <p:cNvSpPr/>
          <p:nvPr/>
        </p:nvSpPr>
        <p:spPr>
          <a:xfrm>
            <a:off x="6995160" y="380390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p:nvPr/>
        </p:nvSpPr>
        <p:spPr>
          <a:xfrm>
            <a:off x="7598664" y="3767328"/>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DVC</a:t>
            </a:r>
            <a:endParaRPr lang="en-US" sz="1400" dirty="0"/>
          </a:p>
        </p:txBody>
      </p:sp>
      <p:sp>
        <p:nvSpPr>
          <p:cNvPr id="44" name="Text 42"/>
          <p:cNvSpPr/>
          <p:nvPr/>
        </p:nvSpPr>
        <p:spPr>
          <a:xfrm>
            <a:off x="7598664" y="4032504"/>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dvc.yaml wires the three stages; dvc.lock pins data, code and model hashes.</a:t>
            </a:r>
            <a:endParaRPr lang="en-US" sz="1150" dirty="0"/>
          </a:p>
        </p:txBody>
      </p:sp>
      <p:sp>
        <p:nvSpPr>
          <p:cNvPr id="45" name="Shape 43"/>
          <p:cNvSpPr/>
          <p:nvPr/>
        </p:nvSpPr>
        <p:spPr>
          <a:xfrm>
            <a:off x="6995160" y="4562856"/>
            <a:ext cx="420624" cy="420624"/>
          </a:xfrm>
          <a:prstGeom prst="ellipse">
            <a:avLst/>
          </a:prstGeom>
          <a:solidFill>
            <a:srgbClr val="C81E3C"/>
          </a:solidFill>
          <a:ln w="12700">
            <a:solidFill>
              <a:srgbClr val="C81E3C"/>
            </a:solidFill>
            <a:prstDash val="solid"/>
          </a:ln>
        </p:spPr>
      </p:sp>
      <p:sp>
        <p:nvSpPr>
          <p:cNvPr id="46" name="Text 44"/>
          <p:cNvSpPr/>
          <p:nvPr/>
        </p:nvSpPr>
        <p:spPr>
          <a:xfrm>
            <a:off x="6995160" y="45628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47" name="Text 45"/>
          <p:cNvSpPr/>
          <p:nvPr/>
        </p:nvSpPr>
        <p:spPr>
          <a:xfrm>
            <a:off x="7598664" y="4526280"/>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MLflow</a:t>
            </a:r>
            <a:endParaRPr lang="en-US" sz="1400" dirty="0"/>
          </a:p>
        </p:txBody>
      </p:sp>
      <p:sp>
        <p:nvSpPr>
          <p:cNvPr id="48" name="Text 46"/>
          <p:cNvSpPr/>
          <p:nvPr/>
        </p:nvSpPr>
        <p:spPr>
          <a:xfrm>
            <a:off x="7598664" y="4791456"/>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Baseline plus two experiments, logged to a local SQLite store.</a:t>
            </a:r>
            <a:endParaRPr lang="en-US" sz="1150" dirty="0"/>
          </a:p>
        </p:txBody>
      </p:sp>
      <p:sp>
        <p:nvSpPr>
          <p:cNvPr id="49" name="Shape 47"/>
          <p:cNvSpPr/>
          <p:nvPr/>
        </p:nvSpPr>
        <p:spPr>
          <a:xfrm>
            <a:off x="6995160" y="5321808"/>
            <a:ext cx="420624" cy="420624"/>
          </a:xfrm>
          <a:prstGeom prst="ellipse">
            <a:avLst/>
          </a:prstGeom>
          <a:solidFill>
            <a:srgbClr val="1E7A50"/>
          </a:solidFill>
          <a:ln w="12700">
            <a:solidFill>
              <a:srgbClr val="1E7A50"/>
            </a:solidFill>
            <a:prstDash val="solid"/>
          </a:ln>
        </p:spPr>
      </p:sp>
      <p:sp>
        <p:nvSpPr>
          <p:cNvPr id="50" name="Text 48"/>
          <p:cNvSpPr/>
          <p:nvPr/>
        </p:nvSpPr>
        <p:spPr>
          <a:xfrm>
            <a:off x="6995160" y="53218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51" name="Text 49"/>
          <p:cNvSpPr/>
          <p:nvPr/>
        </p:nvSpPr>
        <p:spPr>
          <a:xfrm>
            <a:off x="7598664" y="5285232"/>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params.yaml</a:t>
            </a:r>
            <a:endParaRPr lang="en-US" sz="1400" dirty="0"/>
          </a:p>
        </p:txBody>
      </p:sp>
      <p:sp>
        <p:nvSpPr>
          <p:cNvPr id="52" name="Text 50"/>
          <p:cNvSpPr/>
          <p:nvPr/>
        </p:nvSpPr>
        <p:spPr>
          <a:xfrm>
            <a:off x="7598664" y="5550408"/>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One config file feeds every stage, so a change re-runs only what it affects.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What Phase 2 added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pic>
        <p:nvPicPr>
          <p:cNvPr id="5" name="Image 0" descr="/tmp/work/repo/docs/architecture_phase2.png">    </p:cNvPr>
          <p:cNvPicPr>
            <a:picLocks noChangeAspect="1"/>
          </p:cNvPicPr>
          <p:nvPr/>
        </p:nvPicPr>
        <p:blipFill>
          <a:blip r:embed="rId1"/>
          <a:srcRect l="0" r="0" t="0" b="0"/>
          <a:stretch/>
        </p:blipFill>
        <p:spPr>
          <a:xfrm>
            <a:off x="566928" y="1170432"/>
            <a:ext cx="11064240" cy="5074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Serving the real model with FastAPI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280160"/>
            <a:ext cx="5349240" cy="3063240"/>
          </a:xfrm>
          <a:prstGeom prst="roundRect">
            <a:avLst>
              <a:gd name="adj" fmla="val 2687"/>
            </a:avLst>
          </a:prstGeom>
          <a:solidFill>
            <a:srgbClr val="F2F5F9"/>
          </a:solidFill>
          <a:ln w="12700">
            <a:solidFill>
              <a:srgbClr val="F2F5F9"/>
            </a:solidFill>
            <a:prstDash val="solid"/>
          </a:ln>
        </p:spPr>
      </p:sp>
      <p:sp>
        <p:nvSpPr>
          <p:cNvPr id="6" name="Text 4"/>
          <p:cNvSpPr/>
          <p:nvPr/>
        </p:nvSpPr>
        <p:spPr>
          <a:xfrm>
            <a:off x="932688" y="1481328"/>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a:t>
            </a:r>
            <a:endParaRPr lang="en-US" sz="1250" dirty="0"/>
          </a:p>
        </p:txBody>
      </p:sp>
      <p:sp>
        <p:nvSpPr>
          <p:cNvPr id="7" name="Text 5"/>
          <p:cNvSpPr/>
          <p:nvPr/>
        </p:nvSpPr>
        <p:spPr>
          <a:xfrm>
            <a:off x="2487168" y="1481328"/>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what this service is</a:t>
            </a:r>
            <a:endParaRPr lang="en-US" sz="1100" dirty="0"/>
          </a:p>
        </p:txBody>
      </p:sp>
      <p:sp>
        <p:nvSpPr>
          <p:cNvPr id="8" name="Text 6"/>
          <p:cNvSpPr/>
          <p:nvPr/>
        </p:nvSpPr>
        <p:spPr>
          <a:xfrm>
            <a:off x="932688" y="2048256"/>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/health</a:t>
            </a:r>
            <a:endParaRPr lang="en-US" sz="1250" dirty="0"/>
          </a:p>
        </p:txBody>
      </p:sp>
      <p:sp>
        <p:nvSpPr>
          <p:cNvPr id="9" name="Text 7"/>
          <p:cNvSpPr/>
          <p:nvPr/>
        </p:nvSpPr>
        <p:spPr>
          <a:xfrm>
            <a:off x="2487168" y="2048256"/>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200 only when the model is really loaded, 503 otherwise</a:t>
            </a:r>
            <a:endParaRPr lang="en-US" sz="1100" dirty="0"/>
          </a:p>
        </p:txBody>
      </p:sp>
      <p:sp>
        <p:nvSpPr>
          <p:cNvPr id="10" name="Text 8"/>
          <p:cNvSpPr/>
          <p:nvPr/>
        </p:nvSpPr>
        <p:spPr>
          <a:xfrm>
            <a:off x="932688" y="2615184"/>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/model-info</a:t>
            </a:r>
            <a:endParaRPr lang="en-US" sz="1250" dirty="0"/>
          </a:p>
        </p:txBody>
      </p:sp>
      <p:sp>
        <p:nvSpPr>
          <p:cNvPr id="11" name="Text 9"/>
          <p:cNvSpPr/>
          <p:nvPr/>
        </p:nvSpPr>
        <p:spPr>
          <a:xfrm>
            <a:off x="2487168" y="2615184"/>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model type, 30 features, hyperparameters, artifact hash</a:t>
            </a:r>
            <a:endParaRPr lang="en-US" sz="1100" dirty="0"/>
          </a:p>
        </p:txBody>
      </p:sp>
      <p:sp>
        <p:nvSpPr>
          <p:cNvPr id="12" name="Text 10"/>
          <p:cNvSpPr/>
          <p:nvPr/>
        </p:nvSpPr>
        <p:spPr>
          <a:xfrm>
            <a:off x="932688" y="3182112"/>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/predict</a:t>
            </a:r>
            <a:endParaRPr lang="en-US" sz="1250" dirty="0"/>
          </a:p>
        </p:txBody>
      </p:sp>
      <p:sp>
        <p:nvSpPr>
          <p:cNvPr id="13" name="Text 11"/>
          <p:cNvSpPr/>
          <p:nvPr/>
        </p:nvSpPr>
        <p:spPr>
          <a:xfrm>
            <a:off x="2487168" y="3182112"/>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one transaction in, class and fraud probability out</a:t>
            </a:r>
            <a:endParaRPr lang="en-US" sz="1100" dirty="0"/>
          </a:p>
        </p:txBody>
      </p:sp>
      <p:sp>
        <p:nvSpPr>
          <p:cNvPr id="14" name="Text 12"/>
          <p:cNvSpPr/>
          <p:nvPr/>
        </p:nvSpPr>
        <p:spPr>
          <a:xfrm>
            <a:off x="932688" y="3749040"/>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/docs</a:t>
            </a:r>
            <a:endParaRPr lang="en-US" sz="1250" dirty="0"/>
          </a:p>
        </p:txBody>
      </p:sp>
      <p:sp>
        <p:nvSpPr>
          <p:cNvPr id="15" name="Text 13"/>
          <p:cNvSpPr/>
          <p:nvPr/>
        </p:nvSpPr>
        <p:spPr>
          <a:xfrm>
            <a:off x="2487168" y="3749040"/>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Swagger UI, generated from the Pydantic schema</a:t>
            </a:r>
            <a:endParaRPr lang="en-US" sz="1100" dirty="0"/>
          </a:p>
        </p:txBody>
      </p:sp>
      <p:sp>
        <p:nvSpPr>
          <p:cNvPr id="16" name="Shape 14"/>
          <p:cNvSpPr/>
          <p:nvPr/>
        </p:nvSpPr>
        <p:spPr>
          <a:xfrm>
            <a:off x="685800" y="4553712"/>
            <a:ext cx="5349240" cy="1572768"/>
          </a:xfrm>
          <a:prstGeom prst="roundRect">
            <a:avLst>
              <a:gd name="adj" fmla="val 5233"/>
            </a:avLst>
          </a:prstGeom>
          <a:solidFill>
            <a:srgbClr val="F2F5F9"/>
          </a:solidFill>
          <a:ln w="12700">
            <a:solidFill>
              <a:srgbClr val="F2F5F9"/>
            </a:solidFill>
            <a:prstDash val="solid"/>
          </a:ln>
        </p:spPr>
      </p:sp>
      <p:sp>
        <p:nvSpPr>
          <p:cNvPr id="17" name="Text 15"/>
          <p:cNvSpPr/>
          <p:nvPr/>
        </p:nvSpPr>
        <p:spPr>
          <a:xfrm>
            <a:off x="932688" y="4690872"/>
            <a:ext cx="4846320" cy="274320"/>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Two details that matter</a:t>
            </a:r>
            <a:endParaRPr lang="en-US" sz="1350" dirty="0"/>
          </a:p>
        </p:txBody>
      </p:sp>
      <p:sp>
        <p:nvSpPr>
          <p:cNvPr id="18" name="Text 16"/>
          <p:cNvSpPr/>
          <p:nvPr/>
        </p:nvSpPr>
        <p:spPr>
          <a:xfrm>
            <a:off x="932688" y="4992624"/>
            <a:ext cx="4846320" cy="10058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whole sklearn Pipeline is served, not just the forest — so scaling at inference is identical to training.</a:t>
            </a:r>
            <a:endParaRPr lang="en-US" sz="1100" dirty="0"/>
          </a:p>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model is loaded once at startup, not per request.</a:t>
            </a:r>
            <a:endParaRPr lang="en-US" sz="1100" dirty="0"/>
          </a:p>
        </p:txBody>
      </p:sp>
      <p:sp>
        <p:nvSpPr>
          <p:cNvPr id="19" name="Shape 17"/>
          <p:cNvSpPr/>
          <p:nvPr/>
        </p:nvSpPr>
        <p:spPr>
          <a:xfrm>
            <a:off x="6400800" y="1280160"/>
            <a:ext cx="5120640" cy="4846320"/>
          </a:xfrm>
          <a:prstGeom prst="roundRect">
            <a:avLst>
              <a:gd name="adj" fmla="val 1698"/>
            </a:avLst>
          </a:prstGeom>
          <a:solidFill>
            <a:srgbClr val="10233F"/>
          </a:solidFill>
          <a:ln w="12700">
            <a:solidFill>
              <a:srgbClr val="10233F"/>
            </a:solidFill>
            <a:prstDash val="solid"/>
          </a:ln>
        </p:spPr>
      </p:sp>
      <p:sp>
        <p:nvSpPr>
          <p:cNvPr id="20" name="Text 18"/>
          <p:cNvSpPr/>
          <p:nvPr/>
        </p:nvSpPr>
        <p:spPr>
          <a:xfrm>
            <a:off x="6675120" y="1444752"/>
            <a:ext cx="4572000" cy="292608"/>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A real request against the deployed service</a:t>
            </a:r>
            <a:endParaRPr lang="en-US" sz="1250" dirty="0"/>
          </a:p>
        </p:txBody>
      </p:sp>
      <p:sp>
        <p:nvSpPr>
          <p:cNvPr id="21" name="Text 19"/>
          <p:cNvSpPr/>
          <p:nvPr/>
        </p:nvSpPr>
        <p:spPr>
          <a:xfrm>
            <a:off x="6675120" y="1810512"/>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POST /predict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"Time": 406.0,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"V1": -2.3122, "V2": 1.9520,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  "V28": -0.0210,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"Amount": 0.0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p:txBody>
      </p:sp>
      <p:sp>
        <p:nvSpPr>
          <p:cNvPr id="22" name="Text 20"/>
          <p:cNvSpPr/>
          <p:nvPr/>
        </p:nvSpPr>
        <p:spPr>
          <a:xfrm>
            <a:off x="6675120" y="3493008"/>
            <a:ext cx="4572000" cy="256032"/>
          </a:xfrm>
          <a:prstGeom prst="rect">
            <a:avLst/>
          </a:prstGeom>
          <a:noFill/>
          <a:ln/>
        </p:spPr>
        <p:txBody>
          <a:bodyPr wrap="square" lIns="0" tIns="0" rIns="0" bIns="0" rtlCol="0" anchor="ctr"/>
          <a:lstStyle/>
          <a:p>
            <a:pPr indent="0" marL="0">
              <a:buNone/>
            </a:pPr>
            <a:r>
              <a:rPr lang="en-US" sz="1100" i="1" dirty="0">
                <a:solidFill>
                  <a:srgbClr val="8FA6C4"/>
                </a:solidFill>
                <a:latin typeface="Calibri" pitchFamily="34" charset="0"/>
                <a:ea typeface="Calibri" pitchFamily="34" charset="-122"/>
                <a:cs typeface="Calibri" pitchFamily="34" charset="-120"/>
              </a:rPr>
              <a:t>response</a:t>
            </a:r>
            <a:endParaRPr lang="en-US" sz="1100" dirty="0"/>
          </a:p>
        </p:txBody>
      </p:sp>
      <p:sp>
        <p:nvSpPr>
          <p:cNvPr id="23" name="Text 21"/>
          <p:cNvSpPr/>
          <p:nvPr/>
        </p:nvSpPr>
        <p:spPr>
          <a:xfrm>
            <a:off x="6675120" y="3767328"/>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"predicted_class": 1,</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"label": "fraud",</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"fraud_probability": 0.969592,</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"decision_threshold": 0.5,</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"is_fraud": true</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p:txBody>
      </p:sp>
      <p:sp>
        <p:nvSpPr>
          <p:cNvPr id="24" name="Text 22"/>
          <p:cNvSpPr/>
          <p:nvPr/>
        </p:nvSpPr>
        <p:spPr>
          <a:xfrm>
            <a:off x="6675120" y="5486400"/>
            <a:ext cx="4572000" cy="457200"/>
          </a:xfrm>
          <a:prstGeom prst="rect">
            <a:avLst/>
          </a:prstGeom>
          <a:noFill/>
          <a:ln/>
        </p:spPr>
        <p:txBody>
          <a:bodyPr wrap="square" lIns="0" tIns="0" rIns="0" bIns="0" rtlCol="0" anchor="t"/>
          <a:lstStyle/>
          <a:p>
            <a:pPr indent="0" marL="0">
              <a:buNone/>
            </a:pPr>
            <a:r>
              <a:rPr lang="en-US" sz="1050" i="1" dirty="0">
                <a:solidFill>
                  <a:srgbClr val="8FA6C4"/>
                </a:solidFill>
                <a:latin typeface="Calibri" pitchFamily="34" charset="0"/>
                <a:ea typeface="Calibri" pitchFamily="34" charset="-122"/>
                <a:cs typeface="Calibri" pitchFamily="34" charset="-120"/>
              </a:rPr>
              <a:t>A genuine fraud row from our own test split.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Containerised and deployed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280160"/>
            <a:ext cx="5303520" cy="1280160"/>
          </a:xfrm>
          <a:prstGeom prst="roundRect">
            <a:avLst>
              <a:gd name="adj" fmla="val 6429"/>
            </a:avLst>
          </a:prstGeom>
          <a:solidFill>
            <a:srgbClr val="F2F5F9"/>
          </a:solidFill>
          <a:ln w="12700">
            <a:solidFill>
              <a:srgbClr val="F2F5F9"/>
            </a:solidFill>
            <a:prstDash val="solid"/>
          </a:ln>
        </p:spPr>
      </p:sp>
      <p:sp>
        <p:nvSpPr>
          <p:cNvPr id="6" name="Shape 4"/>
          <p:cNvSpPr/>
          <p:nvPr/>
        </p:nvSpPr>
        <p:spPr>
          <a:xfrm>
            <a:off x="960120" y="1536192"/>
            <a:ext cx="457200" cy="457200"/>
          </a:xfrm>
          <a:prstGeom prst="ellipse">
            <a:avLst/>
          </a:prstGeom>
          <a:solidFill>
            <a:srgbClr val="1C7293"/>
          </a:solidFill>
          <a:ln w="12700">
            <a:solidFill>
              <a:srgbClr val="1C7293"/>
            </a:solidFill>
            <a:prstDash val="solid"/>
          </a:ln>
        </p:spPr>
      </p:sp>
      <p:sp>
        <p:nvSpPr>
          <p:cNvPr id="7" name="Text 5"/>
          <p:cNvSpPr/>
          <p:nvPr/>
        </p:nvSpPr>
        <p:spPr>
          <a:xfrm>
            <a:off x="96012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5448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python:3.11-slim</a:t>
            </a:r>
            <a:endParaRPr lang="en-US" sz="1400" dirty="0"/>
          </a:p>
        </p:txBody>
      </p:sp>
      <p:sp>
        <p:nvSpPr>
          <p:cNvPr id="9" name="Text 7"/>
          <p:cNvSpPr/>
          <p:nvPr/>
        </p:nvSpPr>
        <p:spPr>
          <a:xfrm>
            <a:off x="155448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Small base. Only the serving dependencies go in — no DVC, MLflow or Evidently.</a:t>
            </a:r>
            <a:endParaRPr lang="en-US" sz="1100" dirty="0"/>
          </a:p>
        </p:txBody>
      </p:sp>
      <p:sp>
        <p:nvSpPr>
          <p:cNvPr id="10" name="Shape 8"/>
          <p:cNvSpPr/>
          <p:nvPr/>
        </p:nvSpPr>
        <p:spPr>
          <a:xfrm>
            <a:off x="6309360" y="1280160"/>
            <a:ext cx="5303520" cy="1280160"/>
          </a:xfrm>
          <a:prstGeom prst="roundRect">
            <a:avLst>
              <a:gd name="adj" fmla="val 6429"/>
            </a:avLst>
          </a:prstGeom>
          <a:solidFill>
            <a:srgbClr val="F2F5F9"/>
          </a:solidFill>
          <a:ln w="12700">
            <a:solidFill>
              <a:srgbClr val="F2F5F9"/>
            </a:solidFill>
            <a:prstDash val="solid"/>
          </a:ln>
        </p:spPr>
      </p:sp>
      <p:sp>
        <p:nvSpPr>
          <p:cNvPr id="11" name="Shape 9"/>
          <p:cNvSpPr/>
          <p:nvPr/>
        </p:nvSpPr>
        <p:spPr>
          <a:xfrm>
            <a:off x="6583680" y="1536192"/>
            <a:ext cx="457200" cy="457200"/>
          </a:xfrm>
          <a:prstGeom prst="ellipse">
            <a:avLst/>
          </a:prstGeom>
          <a:solidFill>
            <a:srgbClr val="1C3A5E"/>
          </a:solidFill>
          <a:ln w="12700">
            <a:solidFill>
              <a:srgbClr val="1C3A5E"/>
            </a:solidFill>
            <a:prstDash val="solid"/>
          </a:ln>
        </p:spPr>
      </p:sp>
      <p:sp>
        <p:nvSpPr>
          <p:cNvPr id="12" name="Text 10"/>
          <p:cNvSpPr/>
          <p:nvPr/>
        </p:nvSpPr>
        <p:spPr>
          <a:xfrm>
            <a:off x="658368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717804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Pinned requirements</a:t>
            </a:r>
            <a:endParaRPr lang="en-US" sz="1400" dirty="0"/>
          </a:p>
        </p:txBody>
      </p:sp>
      <p:sp>
        <p:nvSpPr>
          <p:cNvPr id="14" name="Text 12"/>
          <p:cNvSpPr/>
          <p:nvPr/>
        </p:nvSpPr>
        <p:spPr>
          <a:xfrm>
            <a:off x="717804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requirements-api.txt is fully pinned, so the container loads model.pkl with the scikit-learn that fitted it.</a:t>
            </a:r>
            <a:endParaRPr lang="en-US" sz="1100" dirty="0"/>
          </a:p>
        </p:txBody>
      </p:sp>
      <p:sp>
        <p:nvSpPr>
          <p:cNvPr id="15" name="Shape 13"/>
          <p:cNvSpPr/>
          <p:nvPr/>
        </p:nvSpPr>
        <p:spPr>
          <a:xfrm>
            <a:off x="685800" y="2761488"/>
            <a:ext cx="5303520" cy="1280160"/>
          </a:xfrm>
          <a:prstGeom prst="roundRect">
            <a:avLst>
              <a:gd name="adj" fmla="val 6429"/>
            </a:avLst>
          </a:prstGeom>
          <a:solidFill>
            <a:srgbClr val="F2F5F9"/>
          </a:solidFill>
          <a:ln w="12700">
            <a:solidFill>
              <a:srgbClr val="F2F5F9"/>
            </a:solidFill>
            <a:prstDash val="solid"/>
          </a:ln>
        </p:spPr>
      </p:sp>
      <p:sp>
        <p:nvSpPr>
          <p:cNvPr id="16" name="Shape 14"/>
          <p:cNvSpPr/>
          <p:nvPr/>
        </p:nvSpPr>
        <p:spPr>
          <a:xfrm>
            <a:off x="960120" y="3017520"/>
            <a:ext cx="457200" cy="457200"/>
          </a:xfrm>
          <a:prstGeom prst="ellipse">
            <a:avLst/>
          </a:prstGeom>
          <a:solidFill>
            <a:srgbClr val="1C7293"/>
          </a:solidFill>
          <a:ln w="12700">
            <a:solidFill>
              <a:srgbClr val="1C7293"/>
            </a:solidFill>
            <a:prstDash val="solid"/>
          </a:ln>
        </p:spPr>
      </p:sp>
      <p:sp>
        <p:nvSpPr>
          <p:cNvPr id="17" name="Text 15"/>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55448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Uvicorn on $PORT</a:t>
            </a:r>
            <a:endParaRPr lang="en-US" sz="1400" dirty="0"/>
          </a:p>
        </p:txBody>
      </p:sp>
      <p:sp>
        <p:nvSpPr>
          <p:cNvPr id="19" name="Text 17"/>
          <p:cNvSpPr/>
          <p:nvPr/>
        </p:nvSpPr>
        <p:spPr>
          <a:xfrm>
            <a:off x="155448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Render injects the port; the container honours it and falls back to 8000 locally.</a:t>
            </a:r>
            <a:endParaRPr lang="en-US" sz="1100" dirty="0"/>
          </a:p>
        </p:txBody>
      </p:sp>
      <p:sp>
        <p:nvSpPr>
          <p:cNvPr id="20" name="Shape 18"/>
          <p:cNvSpPr/>
          <p:nvPr/>
        </p:nvSpPr>
        <p:spPr>
          <a:xfrm>
            <a:off x="6309360" y="2761488"/>
            <a:ext cx="5303520" cy="1280160"/>
          </a:xfrm>
          <a:prstGeom prst="roundRect">
            <a:avLst>
              <a:gd name="adj" fmla="val 6429"/>
            </a:avLst>
          </a:prstGeom>
          <a:solidFill>
            <a:srgbClr val="F2F5F9"/>
          </a:solidFill>
          <a:ln w="12700">
            <a:solidFill>
              <a:srgbClr val="F2F5F9"/>
            </a:solidFill>
            <a:prstDash val="solid"/>
          </a:ln>
        </p:spPr>
      </p:sp>
      <p:sp>
        <p:nvSpPr>
          <p:cNvPr id="21" name="Shape 19"/>
          <p:cNvSpPr/>
          <p:nvPr/>
        </p:nvSpPr>
        <p:spPr>
          <a:xfrm>
            <a:off x="6583680" y="3017520"/>
            <a:ext cx="457200" cy="457200"/>
          </a:xfrm>
          <a:prstGeom prst="ellipse">
            <a:avLst/>
          </a:prstGeom>
          <a:solidFill>
            <a:srgbClr val="1C3A5E"/>
          </a:solidFill>
          <a:ln w="12700">
            <a:solidFill>
              <a:srgbClr val="1C3A5E"/>
            </a:solidFill>
            <a:prstDash val="solid"/>
          </a:ln>
        </p:spPr>
      </p:sp>
      <p:sp>
        <p:nvSpPr>
          <p:cNvPr id="22" name="Text 20"/>
          <p:cNvSpPr/>
          <p:nvPr/>
        </p:nvSpPr>
        <p:spPr>
          <a:xfrm>
            <a:off x="658368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17804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No secrets, non-root</a:t>
            </a:r>
            <a:endParaRPr lang="en-US" sz="1400" dirty="0"/>
          </a:p>
        </p:txBody>
      </p:sp>
      <p:sp>
        <p:nvSpPr>
          <p:cNvPr id="24" name="Text 22"/>
          <p:cNvSpPr/>
          <p:nvPr/>
        </p:nvSpPr>
        <p:spPr>
          <a:xfrm>
            <a:off x="717804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The image holds code and a 1.9 MB model. The deploy hook lives in GitHub secrets.</a:t>
            </a:r>
            <a:endParaRPr lang="en-US" sz="1100" dirty="0"/>
          </a:p>
        </p:txBody>
      </p:sp>
      <p:sp>
        <p:nvSpPr>
          <p:cNvPr id="25" name="Shape 23"/>
          <p:cNvSpPr/>
          <p:nvPr/>
        </p:nvSpPr>
        <p:spPr>
          <a:xfrm>
            <a:off x="685800" y="4315968"/>
            <a:ext cx="10835640" cy="1810512"/>
          </a:xfrm>
          <a:prstGeom prst="roundRect">
            <a:avLst>
              <a:gd name="adj" fmla="val 4545"/>
            </a:avLst>
          </a:prstGeom>
          <a:solidFill>
            <a:srgbClr val="10233F"/>
          </a:solidFill>
          <a:ln w="12700">
            <a:solidFill>
              <a:srgbClr val="10233F"/>
            </a:solidFill>
            <a:prstDash val="solid"/>
          </a:ln>
        </p:spPr>
      </p:sp>
      <p:sp>
        <p:nvSpPr>
          <p:cNvPr id="26" name="Text 24"/>
          <p:cNvSpPr/>
          <p:nvPr/>
        </p:nvSpPr>
        <p:spPr>
          <a:xfrm>
            <a:off x="1005840" y="4526280"/>
            <a:ext cx="3657600" cy="292608"/>
          </a:xfrm>
          <a:prstGeom prst="rect">
            <a:avLst/>
          </a:prstGeom>
          <a:noFill/>
          <a:ln/>
        </p:spPr>
        <p:txBody>
          <a:bodyPr wrap="square" lIns="0" tIns="0" rIns="0" bIns="0" rtlCol="0" anchor="ctr"/>
          <a:lstStyle/>
          <a:p>
            <a:pPr indent="0" marL="0">
              <a:buNone/>
            </a:pPr>
            <a:r>
              <a:rPr lang="en-US" sz="1200" b="1" dirty="0">
                <a:solidFill>
                  <a:srgbClr val="8FA6C4"/>
                </a:solidFill>
                <a:latin typeface="Calibri" pitchFamily="34" charset="0"/>
                <a:ea typeface="Calibri" pitchFamily="34" charset="-122"/>
                <a:cs typeface="Calibri" pitchFamily="34" charset="-120"/>
              </a:rPr>
              <a:t>Live now</a:t>
            </a:r>
            <a:endParaRPr lang="en-US" sz="1200" dirty="0"/>
          </a:p>
        </p:txBody>
      </p:sp>
      <p:sp>
        <p:nvSpPr>
          <p:cNvPr id="27" name="Text 25"/>
          <p:cNvSpPr/>
          <p:nvPr/>
        </p:nvSpPr>
        <p:spPr>
          <a:xfrm>
            <a:off x="1005840" y="4846320"/>
            <a:ext cx="10149840" cy="457200"/>
          </a:xfrm>
          <a:prstGeom prst="rect">
            <a:avLst/>
          </a:prstGeom>
          <a:noFill/>
          <a:ln/>
        </p:spPr>
        <p:txBody>
          <a:bodyPr wrap="square" lIns="0" tIns="0" rIns="0" bIns="0" rtlCol="0" anchor="ctr"/>
          <a:lstStyle/>
          <a:p>
            <a:pPr indent="0" marL="0">
              <a:buNone/>
            </a:pPr>
            <a:r>
              <a:rPr lang="en-US" sz="1900" b="1" dirty="0">
                <a:solidFill>
                  <a:srgbClr val="9FE8D6"/>
                </a:solidFill>
                <a:latin typeface="Courier New" pitchFamily="34" charset="0"/>
                <a:ea typeface="Courier New" pitchFamily="34" charset="-122"/>
                <a:cs typeface="Courier New" pitchFamily="34" charset="-120"/>
              </a:rPr>
              <a:t>https://mai201-fraud-api.onrender.com</a:t>
            </a:r>
            <a:endParaRPr lang="en-US" sz="1900" dirty="0"/>
          </a:p>
        </p:txBody>
      </p:sp>
      <p:sp>
        <p:nvSpPr>
          <p:cNvPr id="28" name="Text 26"/>
          <p:cNvSpPr/>
          <p:nvPr/>
        </p:nvSpPr>
        <p:spPr>
          <a:xfrm>
            <a:off x="1005840" y="5394960"/>
            <a:ext cx="101498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Swagger UI at https://mai201-fraud-api.onrender.com/docs   ·   health check at https://mai201-fraud-api.onrender.com/health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CI/CD with GitHub Actions</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371600"/>
            <a:ext cx="2514600" cy="1874520"/>
          </a:xfrm>
          <a:prstGeom prst="roundRect">
            <a:avLst>
              <a:gd name="adj" fmla="val 4390"/>
            </a:avLst>
          </a:prstGeom>
          <a:solidFill>
            <a:srgbClr val="F2F5F9"/>
          </a:solidFill>
          <a:ln w="12700">
            <a:solidFill>
              <a:srgbClr val="F2F5F9"/>
            </a:solidFill>
            <a:prstDash val="solid"/>
          </a:ln>
        </p:spPr>
      </p:sp>
      <p:sp>
        <p:nvSpPr>
          <p:cNvPr id="6" name="Shape 4"/>
          <p:cNvSpPr/>
          <p:nvPr/>
        </p:nvSpPr>
        <p:spPr>
          <a:xfrm>
            <a:off x="1691640" y="1600200"/>
            <a:ext cx="502920" cy="502920"/>
          </a:xfrm>
          <a:prstGeom prst="ellipse">
            <a:avLst/>
          </a:prstGeom>
          <a:solidFill>
            <a:srgbClr val="1C7293"/>
          </a:solidFill>
          <a:ln w="12700">
            <a:solidFill>
              <a:srgbClr val="1C7293"/>
            </a:solidFill>
            <a:prstDash val="solid"/>
          </a:ln>
        </p:spPr>
      </p:sp>
      <p:sp>
        <p:nvSpPr>
          <p:cNvPr id="7" name="Text 5"/>
          <p:cNvSpPr/>
          <p:nvPr/>
        </p:nvSpPr>
        <p:spPr>
          <a:xfrm>
            <a:off x="1691640"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822960"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Ruff lint</a:t>
            </a:r>
            <a:endParaRPr lang="en-US" sz="1400" dirty="0"/>
          </a:p>
        </p:txBody>
      </p:sp>
      <p:sp>
        <p:nvSpPr>
          <p:cNvPr id="9" name="Text 7"/>
          <p:cNvSpPr/>
          <p:nvPr/>
        </p:nvSpPr>
        <p:spPr>
          <a:xfrm>
            <a:off x="822960"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 whole repo, clean</a:t>
            </a:r>
            <a:endParaRPr lang="en-US" sz="1050" dirty="0"/>
          </a:p>
        </p:txBody>
      </p:sp>
      <p:sp>
        <p:nvSpPr>
          <p:cNvPr id="10" name="Text 8"/>
          <p:cNvSpPr/>
          <p:nvPr/>
        </p:nvSpPr>
        <p:spPr>
          <a:xfrm>
            <a:off x="3227832"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3483864" y="1371600"/>
            <a:ext cx="2514600" cy="1874520"/>
          </a:xfrm>
          <a:prstGeom prst="roundRect">
            <a:avLst>
              <a:gd name="adj" fmla="val 4390"/>
            </a:avLst>
          </a:prstGeom>
          <a:solidFill>
            <a:srgbClr val="F2F5F9"/>
          </a:solidFill>
          <a:ln w="12700">
            <a:solidFill>
              <a:srgbClr val="F2F5F9"/>
            </a:solidFill>
            <a:prstDash val="solid"/>
          </a:ln>
        </p:spPr>
      </p:sp>
      <p:sp>
        <p:nvSpPr>
          <p:cNvPr id="12" name="Shape 10"/>
          <p:cNvSpPr/>
          <p:nvPr/>
        </p:nvSpPr>
        <p:spPr>
          <a:xfrm>
            <a:off x="4489704" y="1600200"/>
            <a:ext cx="502920" cy="502920"/>
          </a:xfrm>
          <a:prstGeom prst="ellipse">
            <a:avLst/>
          </a:prstGeom>
          <a:solidFill>
            <a:srgbClr val="1C7293"/>
          </a:solidFill>
          <a:ln w="12700">
            <a:solidFill>
              <a:srgbClr val="1C7293"/>
            </a:solidFill>
            <a:prstDash val="solid"/>
          </a:ln>
        </p:spPr>
      </p:sp>
      <p:sp>
        <p:nvSpPr>
          <p:cNvPr id="13" name="Text 11"/>
          <p:cNvSpPr/>
          <p:nvPr/>
        </p:nvSpPr>
        <p:spPr>
          <a:xfrm>
            <a:off x="4489704"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3621024"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pytest</a:t>
            </a:r>
            <a:endParaRPr lang="en-US" sz="1400" dirty="0"/>
          </a:p>
        </p:txBody>
      </p:sp>
      <p:sp>
        <p:nvSpPr>
          <p:cNvPr id="15" name="Text 13"/>
          <p:cNvSpPr/>
          <p:nvPr/>
        </p:nvSpPr>
        <p:spPr>
          <a:xfrm>
            <a:off x="3621024"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34 tests against the real model</a:t>
            </a:r>
            <a:endParaRPr lang="en-US" sz="1050" dirty="0"/>
          </a:p>
        </p:txBody>
      </p:sp>
      <p:sp>
        <p:nvSpPr>
          <p:cNvPr id="16" name="Text 14"/>
          <p:cNvSpPr/>
          <p:nvPr/>
        </p:nvSpPr>
        <p:spPr>
          <a:xfrm>
            <a:off x="6025896"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6281928" y="1371600"/>
            <a:ext cx="2514600" cy="1874520"/>
          </a:xfrm>
          <a:prstGeom prst="roundRect">
            <a:avLst>
              <a:gd name="adj" fmla="val 4390"/>
            </a:avLst>
          </a:prstGeom>
          <a:solidFill>
            <a:srgbClr val="F2F5F9"/>
          </a:solidFill>
          <a:ln w="12700">
            <a:solidFill>
              <a:srgbClr val="F2F5F9"/>
            </a:solidFill>
            <a:prstDash val="solid"/>
          </a:ln>
        </p:spPr>
      </p:sp>
      <p:sp>
        <p:nvSpPr>
          <p:cNvPr id="18" name="Shape 16"/>
          <p:cNvSpPr/>
          <p:nvPr/>
        </p:nvSpPr>
        <p:spPr>
          <a:xfrm>
            <a:off x="7287768" y="1600200"/>
            <a:ext cx="502920" cy="502920"/>
          </a:xfrm>
          <a:prstGeom prst="ellipse">
            <a:avLst/>
          </a:prstGeom>
          <a:solidFill>
            <a:srgbClr val="1C7293"/>
          </a:solidFill>
          <a:ln w="12700">
            <a:solidFill>
              <a:srgbClr val="1C7293"/>
            </a:solidFill>
            <a:prstDash val="solid"/>
          </a:ln>
        </p:spPr>
      </p:sp>
      <p:sp>
        <p:nvSpPr>
          <p:cNvPr id="19" name="Text 17"/>
          <p:cNvSpPr/>
          <p:nvPr/>
        </p:nvSpPr>
        <p:spPr>
          <a:xfrm>
            <a:off x="7287768"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419088"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docker build</a:t>
            </a:r>
            <a:endParaRPr lang="en-US" sz="1400" dirty="0"/>
          </a:p>
        </p:txBody>
      </p:sp>
      <p:sp>
        <p:nvSpPr>
          <p:cNvPr id="21" name="Text 19"/>
          <p:cNvSpPr/>
          <p:nvPr/>
        </p:nvSpPr>
        <p:spPr>
          <a:xfrm>
            <a:off x="6419088"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then the container is started and probed</a:t>
            </a:r>
            <a:endParaRPr lang="en-US" sz="1050" dirty="0"/>
          </a:p>
        </p:txBody>
      </p:sp>
      <p:sp>
        <p:nvSpPr>
          <p:cNvPr id="22" name="Text 20"/>
          <p:cNvSpPr/>
          <p:nvPr/>
        </p:nvSpPr>
        <p:spPr>
          <a:xfrm>
            <a:off x="8823960"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9079992" y="1371600"/>
            <a:ext cx="2514600" cy="1874520"/>
          </a:xfrm>
          <a:prstGeom prst="roundRect">
            <a:avLst>
              <a:gd name="adj" fmla="val 4390"/>
            </a:avLst>
          </a:prstGeom>
          <a:solidFill>
            <a:srgbClr val="F2F5F9"/>
          </a:solidFill>
          <a:ln w="12700">
            <a:solidFill>
              <a:srgbClr val="F2F5F9"/>
            </a:solidFill>
            <a:prstDash val="solid"/>
          </a:ln>
        </p:spPr>
      </p:sp>
      <p:sp>
        <p:nvSpPr>
          <p:cNvPr id="24" name="Shape 22"/>
          <p:cNvSpPr/>
          <p:nvPr/>
        </p:nvSpPr>
        <p:spPr>
          <a:xfrm>
            <a:off x="10085832" y="1600200"/>
            <a:ext cx="502920" cy="502920"/>
          </a:xfrm>
          <a:prstGeom prst="ellipse">
            <a:avLst/>
          </a:prstGeom>
          <a:solidFill>
            <a:srgbClr val="C81E3C"/>
          </a:solidFill>
          <a:ln w="12700">
            <a:solidFill>
              <a:srgbClr val="C81E3C"/>
            </a:solidFill>
            <a:prstDash val="solid"/>
          </a:ln>
        </p:spPr>
      </p:sp>
      <p:sp>
        <p:nvSpPr>
          <p:cNvPr id="25" name="Text 23"/>
          <p:cNvSpPr/>
          <p:nvPr/>
        </p:nvSpPr>
        <p:spPr>
          <a:xfrm>
            <a:off x="10085832"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9217152"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deploy</a:t>
            </a:r>
            <a:endParaRPr lang="en-US" sz="1400" dirty="0"/>
          </a:p>
        </p:txBody>
      </p:sp>
      <p:sp>
        <p:nvSpPr>
          <p:cNvPr id="27" name="Text 25"/>
          <p:cNvSpPr/>
          <p:nvPr/>
        </p:nvSpPr>
        <p:spPr>
          <a:xfrm>
            <a:off x="9217152"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Render deploy hook, main branch only</a:t>
            </a:r>
            <a:endParaRPr lang="en-US" sz="1050" dirty="0"/>
          </a:p>
        </p:txBody>
      </p:sp>
      <p:sp>
        <p:nvSpPr>
          <p:cNvPr id="28" name="Shape 26"/>
          <p:cNvSpPr/>
          <p:nvPr/>
        </p:nvSpPr>
        <p:spPr>
          <a:xfrm>
            <a:off x="685800" y="3474720"/>
            <a:ext cx="5349240" cy="2651760"/>
          </a:xfrm>
          <a:prstGeom prst="roundRect">
            <a:avLst>
              <a:gd name="adj" fmla="val 3103"/>
            </a:avLst>
          </a:prstGeom>
          <a:solidFill>
            <a:srgbClr val="F2F5F9"/>
          </a:solidFill>
          <a:ln w="12700">
            <a:solidFill>
              <a:srgbClr val="F2F5F9"/>
            </a:solidFill>
            <a:prstDash val="solid"/>
          </a:ln>
        </p:spPr>
      </p:sp>
      <p:sp>
        <p:nvSpPr>
          <p:cNvPr id="29" name="Text 27"/>
          <p:cNvSpPr/>
          <p:nvPr/>
        </p:nvSpPr>
        <p:spPr>
          <a:xfrm>
            <a:off x="960120" y="3657600"/>
            <a:ext cx="484632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The container is tested, not just built</a:t>
            </a:r>
            <a:endParaRPr lang="en-US" sz="1450" dirty="0"/>
          </a:p>
        </p:txBody>
      </p:sp>
      <p:sp>
        <p:nvSpPr>
          <p:cNvPr id="30" name="Text 28"/>
          <p:cNvSpPr/>
          <p:nvPr/>
        </p:nvSpPr>
        <p:spPr>
          <a:xfrm>
            <a:off x="960120" y="4041648"/>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CI starts the image it just built, waits for it to come up, and checks /health reports the model as loaded.</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posts a real transaction to /predict and asserts the probability is between 0 and 1.</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sends a malformed body and asserts a 422 comes back.</a:t>
            </a:r>
            <a:endParaRPr lang="en-US" sz="1150" dirty="0"/>
          </a:p>
        </p:txBody>
      </p:sp>
      <p:sp>
        <p:nvSpPr>
          <p:cNvPr id="31" name="Shape 29"/>
          <p:cNvSpPr/>
          <p:nvPr/>
        </p:nvSpPr>
        <p:spPr>
          <a:xfrm>
            <a:off x="6400800" y="3474720"/>
            <a:ext cx="5120640" cy="2651760"/>
          </a:xfrm>
          <a:prstGeom prst="roundRect">
            <a:avLst>
              <a:gd name="adj" fmla="val 3103"/>
            </a:avLst>
          </a:prstGeom>
          <a:solidFill>
            <a:srgbClr val="F2F5F9"/>
          </a:solidFill>
          <a:ln w="12700">
            <a:solidFill>
              <a:srgbClr val="F2F5F9"/>
            </a:solidFill>
            <a:prstDash val="solid"/>
          </a:ln>
        </p:spPr>
      </p:sp>
      <p:sp>
        <p:nvSpPr>
          <p:cNvPr id="32" name="Text 30"/>
          <p:cNvSpPr/>
          <p:nvPr/>
        </p:nvSpPr>
        <p:spPr>
          <a:xfrm>
            <a:off x="6675120" y="3657600"/>
            <a:ext cx="457200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Pull request vs. main</a:t>
            </a:r>
            <a:endParaRPr lang="en-US" sz="1450" dirty="0"/>
          </a:p>
        </p:txBody>
      </p:sp>
      <p:sp>
        <p:nvSpPr>
          <p:cNvPr id="33" name="Shape 31"/>
          <p:cNvSpPr/>
          <p:nvPr/>
        </p:nvSpPr>
        <p:spPr>
          <a:xfrm>
            <a:off x="6675120" y="4151376"/>
            <a:ext cx="420624" cy="420624"/>
          </a:xfrm>
          <a:prstGeom prst="ellipse">
            <a:avLst/>
          </a:prstGeom>
          <a:solidFill>
            <a:srgbClr val="1C7293"/>
          </a:solidFill>
          <a:ln w="12700">
            <a:solidFill>
              <a:srgbClr val="1C7293"/>
            </a:solidFill>
            <a:prstDash val="solid"/>
          </a:ln>
        </p:spPr>
      </p:sp>
      <p:sp>
        <p:nvSpPr>
          <p:cNvPr id="34" name="Text 32"/>
          <p:cNvSpPr/>
          <p:nvPr/>
        </p:nvSpPr>
        <p:spPr>
          <a:xfrm>
            <a:off x="6675120" y="4151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t>
            </a:r>
            <a:endParaRPr lang="en-US" sz="1200" dirty="0"/>
          </a:p>
        </p:txBody>
      </p:sp>
      <p:sp>
        <p:nvSpPr>
          <p:cNvPr id="35" name="Text 33"/>
          <p:cNvSpPr/>
          <p:nvPr/>
        </p:nvSpPr>
        <p:spPr>
          <a:xfrm>
            <a:off x="7278624" y="411480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Pull request</a:t>
            </a:r>
            <a:endParaRPr lang="en-US" sz="1400" dirty="0"/>
          </a:p>
        </p:txBody>
      </p:sp>
      <p:sp>
        <p:nvSpPr>
          <p:cNvPr id="36" name="Text 34"/>
          <p:cNvSpPr/>
          <p:nvPr/>
        </p:nvSpPr>
        <p:spPr>
          <a:xfrm>
            <a:off x="7278624" y="437997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Lint, tests and the container smoke test run. Deployment is skipped.</a:t>
            </a:r>
            <a:endParaRPr lang="en-US" sz="1150" dirty="0"/>
          </a:p>
        </p:txBody>
      </p:sp>
      <p:sp>
        <p:nvSpPr>
          <p:cNvPr id="37" name="Shape 35"/>
          <p:cNvSpPr/>
          <p:nvPr/>
        </p:nvSpPr>
        <p:spPr>
          <a:xfrm>
            <a:off x="6675120" y="4928616"/>
            <a:ext cx="420624" cy="420624"/>
          </a:xfrm>
          <a:prstGeom prst="ellipse">
            <a:avLst/>
          </a:prstGeom>
          <a:solidFill>
            <a:srgbClr val="C81E3C"/>
          </a:solidFill>
          <a:ln w="12700">
            <a:solidFill>
              <a:srgbClr val="C81E3C"/>
            </a:solidFill>
            <a:prstDash val="solid"/>
          </a:ln>
        </p:spPr>
      </p:sp>
      <p:sp>
        <p:nvSpPr>
          <p:cNvPr id="38" name="Text 36"/>
          <p:cNvSpPr/>
          <p:nvPr/>
        </p:nvSpPr>
        <p:spPr>
          <a:xfrm>
            <a:off x="6675120" y="492861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39" name="Text 37"/>
          <p:cNvSpPr/>
          <p:nvPr/>
        </p:nvSpPr>
        <p:spPr>
          <a:xfrm>
            <a:off x="7278624" y="489204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Push to main</a:t>
            </a:r>
            <a:endParaRPr lang="en-US" sz="1400" dirty="0"/>
          </a:p>
        </p:txBody>
      </p:sp>
      <p:sp>
        <p:nvSpPr>
          <p:cNvPr id="40" name="Text 38"/>
          <p:cNvSpPr/>
          <p:nvPr/>
        </p:nvSpPr>
        <p:spPr>
          <a:xfrm>
            <a:off x="7278624" y="515721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The same checks run first; only if they all pass does the deploy job fire.</a:t>
            </a:r>
            <a:endParaRPr lang="en-US" sz="1150" dirty="0"/>
          </a:p>
        </p:txBody>
      </p:sp>
      <p:sp>
        <p:nvSpPr>
          <p:cNvPr id="41" name="Text 39"/>
          <p:cNvSpPr/>
          <p:nvPr/>
        </p:nvSpPr>
        <p:spPr>
          <a:xfrm>
            <a:off x="6675120" y="5623560"/>
            <a:ext cx="4572000" cy="411480"/>
          </a:xfrm>
          <a:prstGeom prst="rect">
            <a:avLst/>
          </a:prstGeom>
          <a:noFill/>
          <a:ln/>
        </p:spPr>
        <p:txBody>
          <a:bodyPr wrap="square" lIns="0" tIns="0" rIns="0" bIns="0" rtlCol="0" anchor="t"/>
          <a:lstStyle/>
          <a:p>
            <a:pPr indent="0" marL="0">
              <a:buNone/>
            </a:pPr>
            <a:r>
              <a:rPr lang="en-US" sz="1050" i="1" dirty="0">
                <a:solidFill>
                  <a:srgbClr val="5A6B7D"/>
                </a:solidFill>
                <a:latin typeface="Calibri" pitchFamily="34" charset="0"/>
                <a:ea typeface="Calibri" pitchFamily="34" charset="-122"/>
                <a:cs typeface="Calibri" pitchFamily="34" charset="-120"/>
              </a:rPr>
              <a:t>Render auto-deploy is switched off on purpose — CI is the only route to production.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Drift monitoring with EvidentlyAI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349240" cy="2788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15968"/>
            <a:ext cx="5349240" cy="1810512"/>
          </a:xfrm>
          <a:prstGeom prst="roundRect">
            <a:avLst>
              <a:gd name="adj" fmla="val 4545"/>
            </a:avLst>
          </a:prstGeom>
          <a:solidFill>
            <a:srgbClr val="F2F5F9"/>
          </a:solidFill>
          <a:ln w="12700">
            <a:solidFill>
              <a:srgbClr val="F2F5F9"/>
            </a:solidFill>
            <a:prstDash val="solid"/>
          </a:ln>
        </p:spPr>
      </p:sp>
      <p:sp>
        <p:nvSpPr>
          <p:cNvPr id="7" name="Text 4"/>
          <p:cNvSpPr/>
          <p:nvPr/>
        </p:nvSpPr>
        <p:spPr>
          <a:xfrm>
            <a:off x="960120" y="4480560"/>
            <a:ext cx="48463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How the comparison is set up</a:t>
            </a:r>
            <a:endParaRPr lang="en-US" sz="1350" dirty="0"/>
          </a:p>
        </p:txBody>
      </p:sp>
      <p:sp>
        <p:nvSpPr>
          <p:cNvPr id="8" name="Text 5"/>
          <p:cNvSpPr/>
          <p:nvPr/>
        </p:nvSpPr>
        <p:spPr>
          <a:xfrm>
            <a:off x="960120" y="4800600"/>
            <a:ext cx="4846320" cy="1188720"/>
          </a:xfrm>
          <a:prstGeom prst="rect">
            <a:avLst/>
          </a:prstGeom>
          <a:noFill/>
          <a:ln/>
        </p:spPr>
        <p:txBody>
          <a:bodyPr wrap="square" lIns="0" tIns="0" rIns="0" bIns="0" rtlCol="0" anchor="t"/>
          <a:lstStyle/>
          <a:p>
            <a:pPr indent="0" marL="0">
              <a:lnSpc>
                <a:spcPts val="1500"/>
              </a:lnSpc>
              <a:buNone/>
            </a:pPr>
            <a:r>
              <a:rPr lang="en-US" sz="1100" dirty="0">
                <a:solidFill>
                  <a:srgbClr val="5A6B7D"/>
                </a:solidFill>
                <a:latin typeface="Calibri" pitchFamily="34" charset="0"/>
                <a:ea typeface="Calibri" pitchFamily="34" charset="-122"/>
                <a:cs typeface="Calibri" pitchFamily="34" charset="-120"/>
              </a:rPr>
              <a:t>Reference: a fixed 10,000-row sample of the training split.</a:t>
            </a:r>
            <a:endParaRPr lang="en-US" sz="1100" dirty="0"/>
          </a:p>
          <a:p>
            <a:pPr indent="0" marL="0">
              <a:lnSpc>
                <a:spcPts val="1500"/>
              </a:lnSpc>
              <a:buNone/>
            </a:pPr>
            <a:r>
              <a:rPr lang="en-US" sz="1100" dirty="0">
                <a:solidFill>
                  <a:srgbClr val="5A6B7D"/>
                </a:solidFill>
                <a:latin typeface="Calibri" pitchFamily="34" charset="0"/>
                <a:ea typeface="Calibri" pitchFamily="34" charset="-122"/>
                <a:cs typeface="Calibri" pitchFamily="34" charset="-120"/>
              </a:rPr>
              <a:t>Current: 5,000 production-shaped rows.</a:t>
            </a:r>
            <a:endParaRPr lang="en-US" sz="1100" dirty="0"/>
          </a:p>
          <a:p>
            <a:pPr indent="0" marL="0">
              <a:lnSpc>
                <a:spcPts val="1500"/>
              </a:lnSpc>
              <a:buNone/>
            </a:pPr>
            <a:r>
              <a:rPr lang="en-US" sz="1100" dirty="0">
                <a:solidFill>
                  <a:srgbClr val="5A6B7D"/>
                </a:solidFill>
                <a:latin typeface="Calibri" pitchFamily="34" charset="0"/>
                <a:ea typeface="Calibri" pitchFamily="34" charset="-122"/>
                <a:cs typeface="Calibri" pitchFamily="34" charset="-120"/>
              </a:rPr>
              <a:t>30 features compared with a K-S test; Class is excluded because the API never sees a label.</a:t>
            </a:r>
            <a:endParaRPr lang="en-US" sz="1100" dirty="0"/>
          </a:p>
        </p:txBody>
      </p:sp>
      <p:sp>
        <p:nvSpPr>
          <p:cNvPr id="9" name="Shape 6"/>
          <p:cNvSpPr/>
          <p:nvPr/>
        </p:nvSpPr>
        <p:spPr>
          <a:xfrm>
            <a:off x="6400800" y="1325880"/>
            <a:ext cx="5120640" cy="1993392"/>
          </a:xfrm>
          <a:prstGeom prst="roundRect">
            <a:avLst>
              <a:gd name="adj" fmla="val 4128"/>
            </a:avLst>
          </a:prstGeom>
          <a:solidFill>
            <a:srgbClr val="F2F5F9"/>
          </a:solidFill>
          <a:ln w="12700">
            <a:solidFill>
              <a:srgbClr val="F2F5F9"/>
            </a:solidFill>
            <a:prstDash val="solid"/>
          </a:ln>
        </p:spPr>
      </p:sp>
      <p:sp>
        <p:nvSpPr>
          <p:cNvPr id="10" name="Shape 7"/>
          <p:cNvSpPr/>
          <p:nvPr/>
        </p:nvSpPr>
        <p:spPr>
          <a:xfrm>
            <a:off x="6675120" y="1536192"/>
            <a:ext cx="420624" cy="420624"/>
          </a:xfrm>
          <a:prstGeom prst="ellipse">
            <a:avLst/>
          </a:prstGeom>
          <a:solidFill>
            <a:srgbClr val="1E7A50"/>
          </a:solidFill>
          <a:ln w="12700">
            <a:solidFill>
              <a:srgbClr val="1E7A50"/>
            </a:solidFill>
            <a:prstDash val="solid"/>
          </a:ln>
        </p:spPr>
      </p:sp>
      <p:sp>
        <p:nvSpPr>
          <p:cNvPr id="11" name="Text 8"/>
          <p:cNvSpPr/>
          <p:nvPr/>
        </p:nvSpPr>
        <p:spPr>
          <a:xfrm>
            <a:off x="6675120" y="153619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OK</a:t>
            </a:r>
            <a:endParaRPr lang="en-US" sz="1200" dirty="0"/>
          </a:p>
        </p:txBody>
      </p:sp>
      <p:sp>
        <p:nvSpPr>
          <p:cNvPr id="12" name="Text 9"/>
          <p:cNvSpPr/>
          <p:nvPr/>
        </p:nvSpPr>
        <p:spPr>
          <a:xfrm>
            <a:off x="7278624" y="1517904"/>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Healthy batch</a:t>
            </a:r>
            <a:endParaRPr lang="en-US" sz="1450" dirty="0"/>
          </a:p>
        </p:txBody>
      </p:sp>
      <p:sp>
        <p:nvSpPr>
          <p:cNvPr id="13" name="Text 10"/>
          <p:cNvSpPr/>
          <p:nvPr/>
        </p:nvSpPr>
        <p:spPr>
          <a:xfrm>
            <a:off x="6675120" y="2029968"/>
            <a:ext cx="4572000" cy="13716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Untouched rows from the test split. Evidently flags 0 of 30 columns, share 0.000 — no dataset drift. This is the control: it shows the monitor is not simply alarmed by everything.</a:t>
            </a:r>
            <a:endParaRPr lang="en-US" sz="1100" dirty="0"/>
          </a:p>
        </p:txBody>
      </p:sp>
      <p:sp>
        <p:nvSpPr>
          <p:cNvPr id="14" name="Shape 11"/>
          <p:cNvSpPr/>
          <p:nvPr/>
        </p:nvSpPr>
        <p:spPr>
          <a:xfrm>
            <a:off x="6400800" y="3493008"/>
            <a:ext cx="5120640" cy="2633472"/>
          </a:xfrm>
          <a:prstGeom prst="roundRect">
            <a:avLst>
              <a:gd name="adj" fmla="val 3125"/>
            </a:avLst>
          </a:prstGeom>
          <a:solidFill>
            <a:srgbClr val="FBE9EC"/>
          </a:solidFill>
          <a:ln w="12700">
            <a:solidFill>
              <a:srgbClr val="FBE9EC"/>
            </a:solidFill>
            <a:prstDash val="solid"/>
          </a:ln>
        </p:spPr>
      </p:sp>
      <p:sp>
        <p:nvSpPr>
          <p:cNvPr id="15" name="Shape 12"/>
          <p:cNvSpPr/>
          <p:nvPr/>
        </p:nvSpPr>
        <p:spPr>
          <a:xfrm>
            <a:off x="6675120" y="3703320"/>
            <a:ext cx="420624" cy="420624"/>
          </a:xfrm>
          <a:prstGeom prst="ellipse">
            <a:avLst/>
          </a:prstGeom>
          <a:solidFill>
            <a:srgbClr val="C81E3C"/>
          </a:solidFill>
          <a:ln w="12700">
            <a:solidFill>
              <a:srgbClr val="C81E3C"/>
            </a:solidFill>
            <a:prstDash val="solid"/>
          </a:ln>
        </p:spPr>
      </p:sp>
      <p:sp>
        <p:nvSpPr>
          <p:cNvPr id="16" name="Text 13"/>
          <p:cNvSpPr/>
          <p:nvPr/>
        </p:nvSpPr>
        <p:spPr>
          <a:xfrm>
            <a:off x="6675120" y="370332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4"/>
          <p:cNvSpPr/>
          <p:nvPr/>
        </p:nvSpPr>
        <p:spPr>
          <a:xfrm>
            <a:off x="7278624" y="3685032"/>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Simulated drift</a:t>
            </a:r>
            <a:endParaRPr lang="en-US" sz="1450" dirty="0"/>
          </a:p>
        </p:txBody>
      </p:sp>
      <p:sp>
        <p:nvSpPr>
          <p:cNvPr id="18" name="Text 15"/>
          <p:cNvSpPr/>
          <p:nvPr/>
        </p:nvSpPr>
        <p:spPr>
          <a:xfrm>
            <a:off x="6675120" y="4206240"/>
            <a:ext cx="4572000" cy="178308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seeded shift applied to 17 columns — larger amounts, later timestamps, moved PCA components. Evidently flags 17 of 30, share 0.567, above the 0.5 threshold, so dataset drift is reported. Clearly labelled as simulated — it is not real customer traffic.</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Retraining, and the Model Card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852160" cy="28803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70832"/>
            <a:ext cx="5852160" cy="1755648"/>
          </a:xfrm>
          <a:prstGeom prst="roundRect">
            <a:avLst>
              <a:gd name="adj" fmla="val 4688"/>
            </a:avLst>
          </a:prstGeom>
          <a:solidFill>
            <a:srgbClr val="F2F5F9"/>
          </a:solidFill>
          <a:ln w="12700">
            <a:solidFill>
              <a:srgbClr val="F2F5F9"/>
            </a:solidFill>
            <a:prstDash val="solid"/>
          </a:ln>
        </p:spPr>
      </p:sp>
      <p:sp>
        <p:nvSpPr>
          <p:cNvPr id="7" name="Text 4"/>
          <p:cNvSpPr/>
          <p:nvPr/>
        </p:nvSpPr>
        <p:spPr>
          <a:xfrm>
            <a:off x="960120" y="4526280"/>
            <a:ext cx="53035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Promotion is earned, not automatic</a:t>
            </a:r>
            <a:endParaRPr lang="en-US" sz="1350" dirty="0"/>
          </a:p>
        </p:txBody>
      </p:sp>
      <p:sp>
        <p:nvSpPr>
          <p:cNvPr id="8" name="Text 5"/>
          <p:cNvSpPr/>
          <p:nvPr/>
        </p:nvSpPr>
        <p:spPr>
          <a:xfrm>
            <a:off x="960120" y="4846320"/>
            <a:ext cx="5303520" cy="11430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candidate replaces the deployed model only if PR-AUC is at least as good and recall has not dropped by more than 0.02. This one earned it: PR-AUC 0.7854 → 0.7865, recall 0.7263 → 0.7368. If it had failed, the old model would have stayed.</a:t>
            </a:r>
            <a:endParaRPr lang="en-US" sz="1100" dirty="0"/>
          </a:p>
        </p:txBody>
      </p:sp>
      <p:sp>
        <p:nvSpPr>
          <p:cNvPr id="9" name="Shape 6"/>
          <p:cNvSpPr/>
          <p:nvPr/>
        </p:nvSpPr>
        <p:spPr>
          <a:xfrm>
            <a:off x="6903720" y="1325880"/>
            <a:ext cx="4617720" cy="2331720"/>
          </a:xfrm>
          <a:prstGeom prst="roundRect">
            <a:avLst>
              <a:gd name="adj" fmla="val 3529"/>
            </a:avLst>
          </a:prstGeom>
          <a:solidFill>
            <a:srgbClr val="F2F5F9"/>
          </a:solidFill>
          <a:ln w="12700">
            <a:solidFill>
              <a:srgbClr val="F2F5F9"/>
            </a:solidFill>
            <a:prstDash val="solid"/>
          </a:ln>
        </p:spPr>
      </p:sp>
      <p:sp>
        <p:nvSpPr>
          <p:cNvPr id="10" name="Text 7"/>
          <p:cNvSpPr/>
          <p:nvPr/>
        </p:nvSpPr>
        <p:spPr>
          <a:xfrm>
            <a:off x="7178040" y="1490472"/>
            <a:ext cx="406908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Retraining needs labels</a:t>
            </a:r>
            <a:endParaRPr lang="en-US" sz="1350" dirty="0"/>
          </a:p>
        </p:txBody>
      </p:sp>
      <p:sp>
        <p:nvSpPr>
          <p:cNvPr id="11" name="Text 8"/>
          <p:cNvSpPr/>
          <p:nvPr/>
        </p:nvSpPr>
        <p:spPr>
          <a:xfrm>
            <a:off x="7178040" y="1828800"/>
            <a:ext cx="40690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Production requests arrive unlabelled — training on our own predictions would teach the model its mistakes.</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script refuses a batch with no Class column, or with only one class in it.</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test split is never used as training data.</a:t>
            </a:r>
            <a:endParaRPr lang="en-US" sz="1050" dirty="0"/>
          </a:p>
        </p:txBody>
      </p:sp>
      <p:sp>
        <p:nvSpPr>
          <p:cNvPr id="12" name="Shape 9"/>
          <p:cNvSpPr/>
          <p:nvPr/>
        </p:nvSpPr>
        <p:spPr>
          <a:xfrm>
            <a:off x="6903720" y="3822192"/>
            <a:ext cx="4617720" cy="2304288"/>
          </a:xfrm>
          <a:prstGeom prst="roundRect">
            <a:avLst>
              <a:gd name="adj" fmla="val 3571"/>
            </a:avLst>
          </a:prstGeom>
          <a:solidFill>
            <a:srgbClr val="10233F"/>
          </a:solidFill>
          <a:ln w="12700">
            <a:solidFill>
              <a:srgbClr val="10233F"/>
            </a:solidFill>
            <a:prstDash val="solid"/>
          </a:ln>
        </p:spPr>
      </p:sp>
      <p:sp>
        <p:nvSpPr>
          <p:cNvPr id="13" name="Text 10"/>
          <p:cNvSpPr/>
          <p:nvPr/>
        </p:nvSpPr>
        <p:spPr>
          <a:xfrm>
            <a:off x="7178040" y="4005072"/>
            <a:ext cx="4069080" cy="310896"/>
          </a:xfrm>
          <a:prstGeom prst="rect">
            <a:avLst/>
          </a:prstGeom>
          <a:noFill/>
          <a:ln/>
        </p:spPr>
        <p:txBody>
          <a:bodyPr wrap="square" lIns="0" tIns="0" rIns="0" bIns="0" rtlCol="0" anchor="ctr"/>
          <a:lstStyle/>
          <a:p>
            <a:pPr indent="0" marL="0">
              <a:buNone/>
            </a:pPr>
            <a:r>
              <a:rPr lang="en-US" sz="1400" b="1" dirty="0">
                <a:solidFill>
                  <a:srgbClr val="9FE8D6"/>
                </a:solidFill>
                <a:latin typeface="Courier New" pitchFamily="34" charset="0"/>
                <a:ea typeface="Courier New" pitchFamily="34" charset="-122"/>
                <a:cs typeface="Courier New" pitchFamily="34" charset="-120"/>
              </a:rPr>
              <a:t>MODEL_CARD.md</a:t>
            </a:r>
            <a:endParaRPr lang="en-US" sz="1400" dirty="0"/>
          </a:p>
        </p:txBody>
      </p:sp>
      <p:sp>
        <p:nvSpPr>
          <p:cNvPr id="14" name="Text 11"/>
          <p:cNvSpPr/>
          <p:nvPr/>
        </p:nvSpPr>
        <p:spPr>
          <a:xfrm>
            <a:off x="7178040" y="4370832"/>
            <a:ext cx="4069080" cy="1645920"/>
          </a:xfrm>
          <a:prstGeom prst="rect">
            <a:avLst/>
          </a:prstGeom>
          <a:noFill/>
          <a:ln/>
        </p:spPr>
        <p:txBody>
          <a:bodyPr wrap="square" lIns="0" tIns="0" rIns="0" bIns="0" rtlCol="0" anchor="t"/>
          <a:lstStyle/>
          <a:p>
            <a:pPr indent="0" marL="0">
              <a:buNone/>
            </a:pPr>
            <a:r>
              <a:rPr lang="en-US" sz="1050" dirty="0">
                <a:solidFill>
                  <a:srgbClr val="CADCFC"/>
                </a:solidFill>
                <a:latin typeface="Calibri" pitchFamily="34" charset="0"/>
                <a:ea typeface="Calibri" pitchFamily="34" charset="-122"/>
                <a:cs typeface="Calibri" pitchFamily="34" charset="-120"/>
              </a:rPr>
              <a:t>Says plainly what the model is for and what it is not for: it misses 26 of 95 frauds, its probabilities are not calibrated, the data has no demographic fields so we cannot make a fairness claim, and none of it should touch a real payment decision without proper validation and governance.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Live demo</a:t>
            </a:r>
            <a:endParaRPr lang="en-US" sz="3400" dirty="0"/>
          </a:p>
        </p:txBody>
      </p:sp>
      <p:sp>
        <p:nvSpPr>
          <p:cNvPr id="3" name="Shape 1"/>
          <p:cNvSpPr/>
          <p:nvPr/>
        </p:nvSpPr>
        <p:spPr>
          <a:xfrm>
            <a:off x="9464040" y="457200"/>
            <a:ext cx="2194560" cy="420624"/>
          </a:xfrm>
          <a:prstGeom prst="roundRect">
            <a:avLst>
              <a:gd name="adj" fmla="val 47826"/>
            </a:avLst>
          </a:prstGeom>
          <a:solidFill>
            <a:srgbClr val="1C3A5E"/>
          </a:solidFill>
          <a:ln w="12700">
            <a:solidFill>
              <a:srgbClr val="1C3A5E"/>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Someyah</a:t>
            </a:r>
            <a:endParaRPr lang="en-US" sz="1100" dirty="0"/>
          </a:p>
        </p:txBody>
      </p:sp>
      <p:sp>
        <p:nvSpPr>
          <p:cNvPr id="5" name="Shape 3"/>
          <p:cNvSpPr/>
          <p:nvPr/>
        </p:nvSpPr>
        <p:spPr>
          <a:xfrm>
            <a:off x="685800" y="1298448"/>
            <a:ext cx="6858000" cy="713232"/>
          </a:xfrm>
          <a:prstGeom prst="roundRect">
            <a:avLst>
              <a:gd name="adj" fmla="val 11538"/>
            </a:avLst>
          </a:prstGeom>
          <a:solidFill>
            <a:srgbClr val="1C3A5E"/>
          </a:solidFill>
          <a:ln w="12700">
            <a:solidFill>
              <a:srgbClr val="1C3A5E"/>
            </a:solidFill>
            <a:prstDash val="solid"/>
          </a:ln>
        </p:spPr>
      </p:sp>
      <p:sp>
        <p:nvSpPr>
          <p:cNvPr id="6" name="Shape 4"/>
          <p:cNvSpPr/>
          <p:nvPr/>
        </p:nvSpPr>
        <p:spPr>
          <a:xfrm>
            <a:off x="914400" y="1444752"/>
            <a:ext cx="420624" cy="420624"/>
          </a:xfrm>
          <a:prstGeom prst="ellipse">
            <a:avLst/>
          </a:prstGeom>
          <a:solidFill>
            <a:srgbClr val="C81E3C"/>
          </a:solidFill>
          <a:ln w="12700">
            <a:solidFill>
              <a:srgbClr val="C81E3C"/>
            </a:solidFill>
            <a:prstDash val="solid"/>
          </a:ln>
        </p:spPr>
      </p:sp>
      <p:sp>
        <p:nvSpPr>
          <p:cNvPr id="7" name="Text 5"/>
          <p:cNvSpPr/>
          <p:nvPr/>
        </p:nvSpPr>
        <p:spPr>
          <a:xfrm>
            <a:off x="914400" y="144475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481328" y="1353312"/>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public Swagger UI</a:t>
            </a:r>
            <a:endParaRPr lang="en-US" sz="1300" dirty="0"/>
          </a:p>
        </p:txBody>
      </p:sp>
      <p:sp>
        <p:nvSpPr>
          <p:cNvPr id="9" name="Text 7"/>
          <p:cNvSpPr/>
          <p:nvPr/>
        </p:nvSpPr>
        <p:spPr>
          <a:xfrm>
            <a:off x="1481328" y="1645920"/>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https://mai201-fraud-api.onrender.com/docs</a:t>
            </a:r>
            <a:endParaRPr lang="en-US" sz="1000" dirty="0"/>
          </a:p>
        </p:txBody>
      </p:sp>
      <p:sp>
        <p:nvSpPr>
          <p:cNvPr id="10" name="Shape 8"/>
          <p:cNvSpPr/>
          <p:nvPr/>
        </p:nvSpPr>
        <p:spPr>
          <a:xfrm>
            <a:off x="685800" y="2139696"/>
            <a:ext cx="6858000" cy="713232"/>
          </a:xfrm>
          <a:prstGeom prst="roundRect">
            <a:avLst>
              <a:gd name="adj" fmla="val 11538"/>
            </a:avLst>
          </a:prstGeom>
          <a:solidFill>
            <a:srgbClr val="1C3A5E"/>
          </a:solidFill>
          <a:ln w="12700">
            <a:solidFill>
              <a:srgbClr val="1C3A5E"/>
            </a:solidFill>
            <a:prstDash val="solid"/>
          </a:ln>
        </p:spPr>
      </p:sp>
      <p:sp>
        <p:nvSpPr>
          <p:cNvPr id="11" name="Shape 9"/>
          <p:cNvSpPr/>
          <p:nvPr/>
        </p:nvSpPr>
        <p:spPr>
          <a:xfrm>
            <a:off x="914400" y="2286000"/>
            <a:ext cx="420624" cy="420624"/>
          </a:xfrm>
          <a:prstGeom prst="ellipse">
            <a:avLst/>
          </a:prstGeom>
          <a:solidFill>
            <a:srgbClr val="C81E3C"/>
          </a:solidFill>
          <a:ln w="12700">
            <a:solidFill>
              <a:srgbClr val="C81E3C"/>
            </a:solidFill>
            <a:prstDash val="solid"/>
          </a:ln>
        </p:spPr>
      </p:sp>
      <p:sp>
        <p:nvSpPr>
          <p:cNvPr id="12" name="Text 10"/>
          <p:cNvSpPr/>
          <p:nvPr/>
        </p:nvSpPr>
        <p:spPr>
          <a:xfrm>
            <a:off x="914400" y="22860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481328" y="2194560"/>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Call /health</a:t>
            </a:r>
            <a:endParaRPr lang="en-US" sz="1300" dirty="0"/>
          </a:p>
        </p:txBody>
      </p:sp>
      <p:sp>
        <p:nvSpPr>
          <p:cNvPr id="14" name="Text 12"/>
          <p:cNvSpPr/>
          <p:nvPr/>
        </p:nvSpPr>
        <p:spPr>
          <a:xfrm>
            <a:off x="1481328" y="2487168"/>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200, model_loaded: true</a:t>
            </a:r>
            <a:endParaRPr lang="en-US" sz="1000" dirty="0"/>
          </a:p>
        </p:txBody>
      </p:sp>
      <p:sp>
        <p:nvSpPr>
          <p:cNvPr id="15" name="Shape 13"/>
          <p:cNvSpPr/>
          <p:nvPr/>
        </p:nvSpPr>
        <p:spPr>
          <a:xfrm>
            <a:off x="685800" y="2980944"/>
            <a:ext cx="6858000" cy="713232"/>
          </a:xfrm>
          <a:prstGeom prst="roundRect">
            <a:avLst>
              <a:gd name="adj" fmla="val 11538"/>
            </a:avLst>
          </a:prstGeom>
          <a:solidFill>
            <a:srgbClr val="1C3A5E"/>
          </a:solidFill>
          <a:ln w="12700">
            <a:solidFill>
              <a:srgbClr val="1C3A5E"/>
            </a:solidFill>
            <a:prstDash val="solid"/>
          </a:ln>
        </p:spPr>
      </p:sp>
      <p:sp>
        <p:nvSpPr>
          <p:cNvPr id="16" name="Shape 14"/>
          <p:cNvSpPr/>
          <p:nvPr/>
        </p:nvSpPr>
        <p:spPr>
          <a:xfrm>
            <a:off x="914400" y="3127248"/>
            <a:ext cx="420624" cy="420624"/>
          </a:xfrm>
          <a:prstGeom prst="ellipse">
            <a:avLst/>
          </a:prstGeom>
          <a:solidFill>
            <a:srgbClr val="C81E3C"/>
          </a:solidFill>
          <a:ln w="12700">
            <a:solidFill>
              <a:srgbClr val="C81E3C"/>
            </a:solidFill>
            <a:prstDash val="solid"/>
          </a:ln>
        </p:spPr>
      </p:sp>
      <p:sp>
        <p:nvSpPr>
          <p:cNvPr id="17" name="Text 15"/>
          <p:cNvSpPr/>
          <p:nvPr/>
        </p:nvSpPr>
        <p:spPr>
          <a:xfrm>
            <a:off x="914400" y="31272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481328" y="3035808"/>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POST a real fraud transaction</a:t>
            </a:r>
            <a:endParaRPr lang="en-US" sz="1300" dirty="0"/>
          </a:p>
        </p:txBody>
      </p:sp>
      <p:sp>
        <p:nvSpPr>
          <p:cNvPr id="19" name="Text 17"/>
          <p:cNvSpPr/>
          <p:nvPr/>
        </p:nvSpPr>
        <p:spPr>
          <a:xfrm>
            <a:off x="1481328" y="3328416"/>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expect 0.9696 and label fraud</a:t>
            </a:r>
            <a:endParaRPr lang="en-US" sz="1000" dirty="0"/>
          </a:p>
        </p:txBody>
      </p:sp>
      <p:sp>
        <p:nvSpPr>
          <p:cNvPr id="20" name="Shape 18"/>
          <p:cNvSpPr/>
          <p:nvPr/>
        </p:nvSpPr>
        <p:spPr>
          <a:xfrm>
            <a:off x="685800" y="3822192"/>
            <a:ext cx="6858000" cy="713232"/>
          </a:xfrm>
          <a:prstGeom prst="roundRect">
            <a:avLst>
              <a:gd name="adj" fmla="val 11538"/>
            </a:avLst>
          </a:prstGeom>
          <a:solidFill>
            <a:srgbClr val="1C3A5E"/>
          </a:solidFill>
          <a:ln w="12700">
            <a:solidFill>
              <a:srgbClr val="1C3A5E"/>
            </a:solidFill>
            <a:prstDash val="solid"/>
          </a:ln>
        </p:spPr>
      </p:sp>
      <p:sp>
        <p:nvSpPr>
          <p:cNvPr id="21" name="Shape 19"/>
          <p:cNvSpPr/>
          <p:nvPr/>
        </p:nvSpPr>
        <p:spPr>
          <a:xfrm>
            <a:off x="914400" y="3968496"/>
            <a:ext cx="420624" cy="420624"/>
          </a:xfrm>
          <a:prstGeom prst="ellipse">
            <a:avLst/>
          </a:prstGeom>
          <a:solidFill>
            <a:srgbClr val="1C7293"/>
          </a:solidFill>
          <a:ln w="12700">
            <a:solidFill>
              <a:srgbClr val="1C7293"/>
            </a:solidFill>
            <a:prstDash val="solid"/>
          </a:ln>
        </p:spPr>
      </p:sp>
      <p:sp>
        <p:nvSpPr>
          <p:cNvPr id="22" name="Text 20"/>
          <p:cNvSpPr/>
          <p:nvPr/>
        </p:nvSpPr>
        <p:spPr>
          <a:xfrm>
            <a:off x="914400" y="39684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481328" y="3877056"/>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 the GitHub Actions run</a:t>
            </a:r>
            <a:endParaRPr lang="en-US" sz="1300" dirty="0"/>
          </a:p>
        </p:txBody>
      </p:sp>
      <p:sp>
        <p:nvSpPr>
          <p:cNvPr id="24" name="Text 22"/>
          <p:cNvSpPr/>
          <p:nvPr/>
        </p:nvSpPr>
        <p:spPr>
          <a:xfrm>
            <a:off x="1481328" y="4169664"/>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lint, tests, container smoke test, deploy</a:t>
            </a:r>
            <a:endParaRPr lang="en-US" sz="1000" dirty="0"/>
          </a:p>
        </p:txBody>
      </p:sp>
      <p:sp>
        <p:nvSpPr>
          <p:cNvPr id="25" name="Shape 23"/>
          <p:cNvSpPr/>
          <p:nvPr/>
        </p:nvSpPr>
        <p:spPr>
          <a:xfrm>
            <a:off x="685800" y="4663440"/>
            <a:ext cx="6858000" cy="713232"/>
          </a:xfrm>
          <a:prstGeom prst="roundRect">
            <a:avLst>
              <a:gd name="adj" fmla="val 11538"/>
            </a:avLst>
          </a:prstGeom>
          <a:solidFill>
            <a:srgbClr val="1C3A5E"/>
          </a:solidFill>
          <a:ln w="12700">
            <a:solidFill>
              <a:srgbClr val="1C3A5E"/>
            </a:solidFill>
            <a:prstDash val="solid"/>
          </a:ln>
        </p:spPr>
      </p:sp>
      <p:sp>
        <p:nvSpPr>
          <p:cNvPr id="26" name="Shape 24"/>
          <p:cNvSpPr/>
          <p:nvPr/>
        </p:nvSpPr>
        <p:spPr>
          <a:xfrm>
            <a:off x="914400" y="4809744"/>
            <a:ext cx="420624" cy="420624"/>
          </a:xfrm>
          <a:prstGeom prst="ellipse">
            <a:avLst/>
          </a:prstGeom>
          <a:solidFill>
            <a:srgbClr val="C81E3C"/>
          </a:solidFill>
          <a:ln w="12700">
            <a:solidFill>
              <a:srgbClr val="C81E3C"/>
            </a:solidFill>
            <a:prstDash val="solid"/>
          </a:ln>
        </p:spPr>
      </p:sp>
      <p:sp>
        <p:nvSpPr>
          <p:cNvPr id="27" name="Text 25"/>
          <p:cNvSpPr/>
          <p:nvPr/>
        </p:nvSpPr>
        <p:spPr>
          <a:xfrm>
            <a:off x="914400" y="48097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1481328" y="4718304"/>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Evidently drift report</a:t>
            </a:r>
            <a:endParaRPr lang="en-US" sz="1300" dirty="0"/>
          </a:p>
        </p:txBody>
      </p:sp>
      <p:sp>
        <p:nvSpPr>
          <p:cNvPr id="29" name="Text 27"/>
          <p:cNvSpPr/>
          <p:nvPr/>
        </p:nvSpPr>
        <p:spPr>
          <a:xfrm>
            <a:off x="1481328" y="5010912"/>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17 of 30 columns flagged</a:t>
            </a:r>
            <a:endParaRPr lang="en-US" sz="1000" dirty="0"/>
          </a:p>
        </p:txBody>
      </p:sp>
      <p:sp>
        <p:nvSpPr>
          <p:cNvPr id="30" name="Shape 28"/>
          <p:cNvSpPr/>
          <p:nvPr/>
        </p:nvSpPr>
        <p:spPr>
          <a:xfrm>
            <a:off x="7863840" y="1298448"/>
            <a:ext cx="3703320" cy="2377440"/>
          </a:xfrm>
          <a:prstGeom prst="roundRect">
            <a:avLst>
              <a:gd name="adj" fmla="val 3462"/>
            </a:avLst>
          </a:prstGeom>
          <a:solidFill>
            <a:srgbClr val="1C3A5E"/>
          </a:solidFill>
          <a:ln w="12700">
            <a:solidFill>
              <a:srgbClr val="1C3A5E"/>
            </a:solidFill>
            <a:prstDash val="solid"/>
          </a:ln>
        </p:spPr>
      </p:sp>
      <p:sp>
        <p:nvSpPr>
          <p:cNvPr id="31" name="Text 29"/>
          <p:cNvSpPr/>
          <p:nvPr/>
        </p:nvSpPr>
        <p:spPr>
          <a:xfrm>
            <a:off x="8138160" y="146304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What we would do next</a:t>
            </a:r>
            <a:endParaRPr lang="en-US" sz="1350" dirty="0"/>
          </a:p>
        </p:txBody>
      </p:sp>
      <p:sp>
        <p:nvSpPr>
          <p:cNvPr id="32" name="Text 30"/>
          <p:cNvSpPr/>
          <p:nvPr/>
        </p:nvSpPr>
        <p:spPr>
          <a:xfrm>
            <a:off x="8138160" y="1810512"/>
            <a:ext cx="31546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Set the threshold from the cost of a missed fraud versus a false alarm.</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Log live requests so drift runs on real traffic, not a simulation.</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Schedule the drift check instead of running it by hand.</a:t>
            </a:r>
            <a:endParaRPr lang="en-US" sz="1050" dirty="0"/>
          </a:p>
        </p:txBody>
      </p:sp>
      <p:sp>
        <p:nvSpPr>
          <p:cNvPr id="33" name="Shape 31"/>
          <p:cNvSpPr/>
          <p:nvPr/>
        </p:nvSpPr>
        <p:spPr>
          <a:xfrm>
            <a:off x="7863840" y="3822192"/>
            <a:ext cx="3703320" cy="1664208"/>
          </a:xfrm>
          <a:prstGeom prst="roundRect">
            <a:avLst>
              <a:gd name="adj" fmla="val 4945"/>
            </a:avLst>
          </a:prstGeom>
          <a:solidFill>
            <a:srgbClr val="1C3A5E"/>
          </a:solidFill>
          <a:ln w="12700">
            <a:solidFill>
              <a:srgbClr val="1C3A5E"/>
            </a:solidFill>
            <a:prstDash val="solid"/>
          </a:ln>
        </p:spPr>
      </p:sp>
      <p:sp>
        <p:nvSpPr>
          <p:cNvPr id="34" name="Text 32"/>
          <p:cNvSpPr/>
          <p:nvPr/>
        </p:nvSpPr>
        <p:spPr>
          <a:xfrm>
            <a:off x="8138160" y="3986784"/>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Everything is in the repo</a:t>
            </a:r>
            <a:endParaRPr lang="en-US" sz="1300" dirty="0"/>
          </a:p>
        </p:txBody>
      </p:sp>
      <p:sp>
        <p:nvSpPr>
          <p:cNvPr id="35" name="Text 33"/>
          <p:cNvSpPr/>
          <p:nvPr/>
        </p:nvSpPr>
        <p:spPr>
          <a:xfrm>
            <a:off x="8138160" y="4315968"/>
            <a:ext cx="3154680" cy="1005840"/>
          </a:xfrm>
          <a:prstGeom prst="rect">
            <a:avLst/>
          </a:prstGeom>
          <a:noFill/>
          <a:ln/>
        </p:spPr>
        <p:txBody>
          <a:bodyPr wrap="square" lIns="0" tIns="0" rIns="0" bIns="0" rtlCol="0" anchor="t"/>
          <a:lstStyle/>
          <a:p>
            <a:pPr indent="0" marL="0">
              <a:buNone/>
            </a:pPr>
            <a:r>
              <a:rPr lang="en-US" sz="950" dirty="0">
                <a:solidFill>
                  <a:srgbClr val="9FE8D6"/>
                </a:solidFill>
                <a:latin typeface="Courier New" pitchFamily="34" charset="0"/>
                <a:ea typeface="Courier New" pitchFamily="34" charset="-122"/>
                <a:cs typeface="Courier New" pitchFamily="34" charset="-120"/>
              </a:rPr>
              <a:t>https://github.com/AZabalawi/MLops-credit-card-fraud</a:t>
            </a:r>
            <a:endParaRPr lang="en-US" sz="950" dirty="0"/>
          </a:p>
        </p:txBody>
      </p:sp>
      <p:sp>
        <p:nvSpPr>
          <p:cNvPr id="36" name="Text 34"/>
          <p:cNvSpPr/>
          <p:nvPr/>
        </p:nvSpPr>
        <p:spPr>
          <a:xfrm>
            <a:off x="685800" y="5742432"/>
            <a:ext cx="10881360" cy="566928"/>
          </a:xfrm>
          <a:prstGeom prst="rect">
            <a:avLst/>
          </a:prstGeom>
          <a:noFill/>
          <a:ln/>
        </p:spPr>
        <p:txBody>
          <a:bodyPr wrap="square" lIns="0" tIns="0" rIns="0" bIns="0" rtlCol="0" anchor="ctr"/>
          <a:lstStyle/>
          <a:p>
            <a:pPr indent="0" marL="0">
              <a:buNone/>
            </a:pPr>
            <a:r>
              <a:rPr lang="en-US" sz="1500" i="1" dirty="0">
                <a:solidFill>
                  <a:srgbClr val="CADCFC"/>
                </a:solidFill>
                <a:latin typeface="Cambria" pitchFamily="34" charset="0"/>
                <a:ea typeface="Cambria" pitchFamily="34" charset="-122"/>
                <a:cs typeface="Cambria" pitchFamily="34" charset="-120"/>
              </a:rPr>
              <a:t>Phase 1 trained a model we could reproduce. Phase 2 made it something we could run, test, deploy and watch.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MAI201 MLOps Phase 2 - Credit Card Fraud Detection</dc:title>
  <dc:subject>PptxGenJS Presentation</dc:subject>
  <dc:creator>Abdulraouf Zabalawi, Mohamed Roble, Someyah Balashi</dc:creator>
  <cp:lastModifiedBy>Abdulraouf Zabalawi, Mohamed Roble, Someyah Balashi</cp:lastModifiedBy>
  <cp:revision>1</cp:revision>
  <dcterms:created xsi:type="dcterms:W3CDTF">2026-08-12T03:07:35Z</dcterms:created>
  <dcterms:modified xsi:type="dcterms:W3CDTF">2026-08-12T03:07:35Z</dcterms:modified>
</cp:coreProperties>
</file>