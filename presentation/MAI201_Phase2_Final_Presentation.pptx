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222E"/>
                </a:solidFill>
                <a:latin typeface="Calibri"/>
              </a:defRPr>
            </a:pPr>
            <a:r>
              <a:rPr sz="1300" b="0" i="0" u="none" strike="noStrike">
                <a:solidFill>
                  <a:srgbClr val="17222E"/>
                </a:solidFill>
                <a:latin typeface="Calibri"/>
              </a:rPr>
              <a:t>Columns flagged as drifted (out of 30)</a:t>
            </a:r>
          </a:p>
        </c:rich>
      </c:tx>
      <c:layout/>
      <c:overlay val="0"/>
    </c:title>
    <c:autoTitleDeleted val="0"/>
    <c:plotArea>
      <c:layout/>
      <c:barChart>
        <c:barDir val="col"/>
        <c:grouping val="clustered"/>
        <c:varyColors val="0"/>
        <c:ser>
          <c:idx val="0"/>
          <c:order val="0"/>
          <c:tx>
            <c:strRef>
              <c:f>Sheet1!$B$1</c:f>
              <c:strCache>
                <c:ptCount val="1"/>
                <c:pt idx="0">
                  <c:v>Drifted columns</c:v>
                </c:pt>
              </c:strCache>
            </c:strRef>
          </c:tx>
          <c:spPr>
            <a:solidFill>
              <a:srgbClr val="1C7293"/>
            </a:solidFill>
            <a:effectLst/>
          </c:spPr>
          <c:invertIfNegative val="0"/>
          <c:dLbls>
            <c:numFmt formatCode="#,##0" sourceLinked="0"/>
            <c:txPr>
              <a:bodyPr/>
              <a:lstStyle/>
              <a:p>
                <a:pPr>
                  <a:defRPr b="1" i="0" strike="noStrike" sz="1400" u="none">
                    <a:solidFill>
                      <a:srgbClr val="17222E"/>
                    </a:solidFill>
                    <a:latin typeface="Calibri"/>
                  </a:defRPr>
                </a:pPr>
              </a:p>
            </c:txPr>
            <c:showLegendKey val="0"/>
            <c:showVal val="1"/>
            <c:showCatName val="0"/>
            <c:showSerName val="0"/>
            <c:showPercent val="0"/>
            <c:showBubbleSize val="0"/>
            <c:showLeaderLines val="0"/>
          </c:dLbls>
          <c:dPt>
            <c:idx val="0"/>
            <c:invertIfNegative val="0"/>
            <c:bubble3D val="0"/>
            <c:spPr>
              <a:solidFill>
                <a:srgbClr val="1C7293"/>
              </a:solidFill>
              <a:effectLst/>
            </c:spPr>
          </c:dPt>
          <c:dPt>
            <c:idx val="1"/>
            <c:invertIfNegative val="0"/>
            <c:bubble3D val="0"/>
            <c:spPr>
              <a:solidFill>
                <a:srgbClr val="C81E3C"/>
              </a:solidFill>
              <a:effectLst/>
            </c:spPr>
          </c:dPt>
          <c:cat>
            <c:multiLvlStrRef>
              <c:f>Sheet1!$A$2:$A$3</c:f>
              <c:multiLvlStrCache>
                <c:ptCount val="2"/>
                <c:lvl>
                  <c:pt idx="0">
                    <c:v>Healthy batch</c:v>
                  </c:pt>
                  <c:pt idx="1">
                    <c:v>Simulated drift</c:v>
                  </c:pt>
                </c:lvl>
              </c:multiLvlStrCache>
            </c:multiLvlStrRef>
          </c:cat>
          <c:val>
            <c:numRef>
              <c:f>Sheet1!$B$2:$B$3</c:f>
              <c:numCache>
                <c:formatCode>General</c:formatCode>
                <c:ptCount val="2"/>
                <c:pt idx="0">
                  <c:v>0</c:v>
                </c:pt>
                <c:pt idx="1">
                  <c:v>17</c:v>
                </c:pt>
              </c:numCache>
            </c:numRef>
          </c:val>
        </c:ser>
        <c:dLbls>
          <c:numFmt formatCode="#,##0" sourceLinked="0"/>
          <c:txPr>
            <a:bodyPr/>
            <a:lstStyle/>
            <a:p>
              <a:pPr>
                <a:defRPr b="1" i="0" strike="noStrike" sz="1400" u="none">
                  <a:solidFill>
                    <a:srgbClr val="17222E"/>
                  </a:solidFill>
                  <a:latin typeface="Calibri"/>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7D"/>
                </a:solidFill>
                <a:latin typeface="Calibri"/>
              </a:defRPr>
            </a:pPr>
            <a:endParaRPr lang="en-US"/>
          </a:p>
        </c:txPr>
        <c:crossAx val="2094734552"/>
        <c:crosses val="autoZero"/>
        <c:auto val="1"/>
        <c:lblAlgn val="ctr"/>
        <c:noMultiLvlLbl val="1"/>
      </c:catAx>
      <c:valAx>
        <c:axId val="2094734552"/>
        <c:scaling>
          <c:orientation val="minMax"/>
          <c:max val="30"/>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D"/>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7222E"/>
                </a:solidFill>
                <a:latin typeface="Calibri"/>
              </a:defRPr>
            </a:pPr>
            <a:r>
              <a:rPr sz="1250" b="0" i="0" u="none" strike="noStrike">
                <a:solidFill>
                  <a:srgbClr val="17222E"/>
                </a:solidFill>
                <a:latin typeface="Calibri"/>
              </a:rPr>
              <a:t>Candidate vs deployed, on the untouched test split</a:t>
            </a:r>
          </a:p>
        </c:rich>
      </c:tx>
      <c:layout/>
      <c:overlay val="0"/>
    </c:title>
    <c:autoTitleDeleted val="0"/>
    <c:plotArea>
      <c:layout/>
      <c:barChart>
        <c:barDir val="col"/>
        <c:grouping val="clustered"/>
        <c:varyColors val="0"/>
        <c:ser>
          <c:idx val="0"/>
          <c:order val="0"/>
          <c:tx>
            <c:strRef>
              <c:f>Sheet1!$B$1</c:f>
              <c:strCache>
                <c:ptCount val="1"/>
                <c:pt idx="0">
                  <c:v>Deployed model</c:v>
                </c:pt>
              </c:strCache>
            </c:strRef>
          </c:tx>
          <c:spPr>
            <a:solidFill>
              <a:srgbClr val="1C3A5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Recall</c:v>
                  </c:pt>
                  <c:pt idx="1">
                    <c:v>F1</c:v>
                  </c:pt>
                  <c:pt idx="2">
                    <c:v>PR-AUC</c:v>
                  </c:pt>
                  <c:pt idx="3">
                    <c:v>ROC-AUC</c:v>
                  </c:pt>
                </c:lvl>
              </c:multiLvlStrCache>
            </c:multiLvlStrRef>
          </c:cat>
          <c:val>
            <c:numRef>
              <c:f>Sheet1!$B$2:$B$5</c:f>
              <c:numCache>
                <c:formatCode>General</c:formatCode>
                <c:ptCount val="4"/>
                <c:pt idx="0">
                  <c:v>0.7263</c:v>
                </c:pt>
                <c:pt idx="1">
                  <c:v>0.7977</c:v>
                </c:pt>
                <c:pt idx="2">
                  <c:v>0.7854</c:v>
                </c:pt>
                <c:pt idx="3">
                  <c:v>0.9567</c:v>
                </c:pt>
              </c:numCache>
            </c:numRef>
          </c:val>
        </c:ser>
        <c:ser>
          <c:idx val="1"/>
          <c:order val="1"/>
          <c:tx>
            <c:strRef>
              <c:f>Sheet1!$C$1</c:f>
              <c:strCache>
                <c:ptCount val="1"/>
                <c:pt idx="0">
                  <c:v>Retrained candidate</c:v>
                </c:pt>
              </c:strCache>
            </c:strRef>
          </c:tx>
          <c:spPr>
            <a:solidFill>
              <a:srgbClr val="1E7A5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Recall</c:v>
                  </c:pt>
                  <c:pt idx="1">
                    <c:v>F1</c:v>
                  </c:pt>
                  <c:pt idx="2">
                    <c:v>PR-AUC</c:v>
                  </c:pt>
                  <c:pt idx="3">
                    <c:v>ROC-AUC</c:v>
                  </c:pt>
                </c:lvl>
              </c:multiLvlStrCache>
            </c:multiLvlStrRef>
          </c:cat>
          <c:val>
            <c:numRef>
              <c:f>Sheet1!$C$2:$C$5</c:f>
              <c:numCache>
                <c:formatCode>General</c:formatCode>
                <c:ptCount val="4"/>
                <c:pt idx="0">
                  <c:v>0.7368</c:v>
                </c:pt>
                <c:pt idx="1">
                  <c:v>0.8046</c:v>
                </c:pt>
                <c:pt idx="2">
                  <c:v>0.7865</c:v>
                </c:pt>
                <c:pt idx="3">
                  <c:v>0.9594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B7D"/>
                </a:solidFill>
                <a:latin typeface="Calibri"/>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D"/>
                </a:solidFill>
                <a:latin typeface="Calibri"/>
              </a:defRPr>
            </a:pPr>
            <a:endParaRPr lang="en-US"/>
          </a:p>
        </c:txPr>
        <c:crossAx val="2094734554"/>
        <c:crosses val="autoZero"/>
        <c:crossBetween val="between"/>
        <c:majorUnit val="0.1"/>
      </c:valAx>
      <c:spPr>
        <a:noFill/>
        <a:ln>
          <a:noFill/>
        </a:ln>
        <a:effectLst/>
      </c:spPr>
    </c:plotArea>
    <c:legend>
      <c:legendPos val="b"/>
      <c:overlay val="0"/>
      <c:txPr>
        <a:bodyPr/>
        <a:lstStyle/>
        <a:p>
          <a:pPr>
            <a:defRPr sz="1000">
              <a:solidFill>
                <a:srgbClr val="5A6B7D"/>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ABDULRAOUF (0:40). Good morning. We are presenting Phase 2 of our credit card fraud detection project. In Phase 1 we built a reproducible training pipeline with DVC and MLflow. In Phase 2 we took that trained model and put it into production: a FastAPI service, a Docker image, a live deployment on Render, automated CI/CD, and drift monitoring with a retraining path. I am Abdulraouf, project and ML lead. Mohamed handled the container, the cloud deployment and CI/CD. Someyah handled monitoring, retraining and documentation. We will each take our own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ABDULRAOUF (0:50). The dataset is real card transactions from European cardholders over two days in 2013. 284,807 transactions, 492 of which are fraud — that is a fraud rate of 0.1727%, roughly one in 580. That imbalance drives every decision we made. Accuracy is meaningless: a model that says legitimate to everything already scores 99.83%. So we report precision, recall, F1 and PR-AUC. The inputs are Time, the 28 PCA components V1 to V28, and Amount. Class is the label and is never sent to the API — the API rejects a request that includes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ABDULRAOUF (0:55). A quick recap of Phase 1, because Phase 2 sits directly on top of it. The DVC pipeline has three stages. Prepare loads the raw CSV, writes a data quality report, removes 1,081 duplicate transactions and does a stratified split — stratified because with 0.17% positives an ordinary split can leave the two sets with different fraud rates. Train builds a scikit-learn Pipeline: a StandardScaler on Time and Amount only, since V1 to V28 are already PCA outputs, followed by a Random Forest with class_weight balanced. The scaler lives inside the pipeline, so it is fitted on training rows only and there is no leakage. Evaluate scores the held-out set. Precision 0.88, recall 0.73, PR-AUC 0.79. Everything is tracked by DVC and logged to MLflow, so these numbers are reproducible rather than remembered.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MOHAMED (0:45). This is the whole system on one slide. On the left is the Phase 1 training pipeline Abdulraouf just described, ending in models/model.pkl. The middle column is what Phase 2 added on the serving side: that same pickle is loaded by a FastAPI application, the application is baked into a Docker image, and the image is deployed to Render as a web service with a public HTTPS URL. On the right is CI/CD — every push runs lint, tests and a container smoke test in GitHub Actions, and only then does it deploy. Along the bottom is the monitoring loop: EvidentlyAI compares live-shaped batches against the training distribution, and if it finds drift and we have labelled data, retraining produces a candidate that has to earn its promotion. I will take the deployment and CI/CD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ABDULRAOUF (0:55). The API exposes five routes. Health is the one worth calling out: it returns 200 only when the model actually loaded, and 503 otherwise. A health check that says healthy while the service cannot score anything is worse than no health check at all. Predict takes exactly the 30 training features, validated by Pydantic — a missing field, a wrong type, or an extra field like Class all come back as 422. Two implementation details. First, we serve the entire scikit-learn Pipeline, not just the classifier, so the Time and Amount scaling at inference is byte-for-byte what it was at training. Second, the model is loaded once at startup and reused. On the right is a real request and the real response: a fraud row from our test split, scored at 0.9696.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MOHAMED (0:55). The container is deliberately small. It starts from python 3.11-slim and installs only what serving needs — FastAPI, Uvicorn, scikit-learn, pandas, numpy. DVC, MLflow and Evidently are training and monitoring tools, so they stay out of the image. requirements-api.txt is fully pinned, and that matters more than it sounds: model.pkl is a pickled scikit-learn object, so the container has to install the same version that fitted it, otherwise loading it is a gamble. The container runs as a non-root user, holds no secrets, and listens on the port Render injects. It is deployed on Render as a Docker web service with the health check pointed at /health, and that is the public URL on the screen. It is live right now: /health comes back healthy, with model_loaded true and the model path inside the container. This version was released by the CI/CD pipeline, not by anyone clicking deploy. We will hit it live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MOHAMED (0:50). The workflow is one file, .github/workflows/ci-cd.yml, and it runs on every push and every pull request. Four things happen in order. Ruff lints the whole repository. Pytest runs our 34 tests against the real model artifact, not a stub. Then Docker builds the image — and this is the part I want to highlight — CI does not just build it, it starts the container, waits for it, checks that health reports the model as loaded, posts a real transaction to predict and asserts the probability is in range, and sends a broken payload to confirm it gets a 422. Only if all of that passes, and only on the main branch, does the deploy job fire the Render deploy hook, which is stored as a GitHub secret and never appears in the code. We deliberately turned Render's own auto-deploy off, so nothing reaches production without passing CI first. The run you can see on screen is commit 363892b, where all three jobs passed and the deploy job released the version that is serving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SOMEYAH (1:00). Monitoring answers one question: is the traffic still shaped like what the model learned from? We use EvidentlyAI with the DataDriftPreset over the 30 input features. The reference is a fixed 10,000-row sample of the training split. We exclude Class, because the API never receives a label at prediction time. We ran two scenarios. The first is a control: untouched rows from the test split. Evidently flags zero of 30 columns — no drift, which tells us the monitor is not just alarmed by everything. The second is a deliberately drifted batch: we applied a seeded shift to 17 columns, simulating larger amounts, later timestamps and moved components. Evidently caught exactly those 17, a share of 0.567, which is above the 0.5 threshold, so it reports dataset drift. I want to be clear that this second batch is simulated for demonstration and labelled that way in the repository — we do not have real production traffic. Both reports are committed as HTML plus a JSON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SOMEYAH (1:00). When drift is detected, retraining does not just run. It needs labelled data, and that is a deliberate design decision: the API only ever sees the 30 features, and whether a transaction turned out to be fraud is confirmed days later by a chargeback. If we retrained on our own predictions we would just be teaching the model its own mistakes. So the script refuses a batch without a Class column, and refuses one that contains only a single class. It trains a candidate on the original training split plus the new batch, using the same Random Forest and the same parameters — the model family never changes — and then scores both the candidate and the currently deployed model on the test split, which is never used for training. The candidate is promoted only if PR-AUC holds up and recall has not dropped by more than 0.02. In our run it did earn promotion, and the whole decision is logged to MLflow. On the right is the Model Card, which states the limits honestly: this model misses 26 of 95 frauds, its probabilities are not calibrated, and the dataset has no demographic fields, so we cannot claim it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SOMEYAH (0:40 plus about 1:30 of demo). Let me show it working. [Demo: open the public Swagger page, call health and show model_loaded true, post the fraud transaction and show the 0.9696 probability, then the legitimate one at 0.000235, then the GitHub Actions run for commit 363892b with all three jobs green, and finally the Evidently report with 17 of 30 columns flagged.] To close: Phase 1 gave us a model we could reproduce. Phase 2 turned it into a service we can run, test, deploy and watch. If we carried this further, the three things we would do are set the decision threshold from the actual cost of a missed fraud versus a false alarm, log real requests so drift is measured on live traffic instead of a simulation, and put the drift check on a schedule. Thank you —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33F"/>
        </a:solidFill>
      </p:bgPr>
    </p:bg>
    <p:spTree>
      <p:nvGrpSpPr>
        <p:cNvPr id="1" name=""/>
        <p:cNvGrpSpPr/>
        <p:nvPr/>
      </p:nvGrpSpPr>
      <p:grpSpPr>
        <a:xfrm>
          <a:off x="0" y="0"/>
          <a:ext cx="0" cy="0"/>
          <a:chOff x="0" y="0"/>
          <a:chExt cx="0" cy="0"/>
        </a:xfrm>
      </p:grpSpPr>
      <p:sp>
        <p:nvSpPr>
          <p:cNvPr id="2" name="Text 0"/>
          <p:cNvSpPr/>
          <p:nvPr/>
        </p:nvSpPr>
        <p:spPr>
          <a:xfrm>
            <a:off x="685800" y="1371600"/>
            <a:ext cx="676656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Credit Card Fraud Detection</a:t>
            </a:r>
            <a:endParaRPr lang="en-US" sz="4000" dirty="0"/>
          </a:p>
        </p:txBody>
      </p:sp>
      <p:sp>
        <p:nvSpPr>
          <p:cNvPr id="3" name="Text 1"/>
          <p:cNvSpPr/>
          <p:nvPr/>
        </p:nvSpPr>
        <p:spPr>
          <a:xfrm>
            <a:off x="685800" y="2240280"/>
            <a:ext cx="6766560" cy="45720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From a DVC pipeline to a monitored API in the cloud</a:t>
            </a:r>
            <a:endParaRPr lang="en-US" sz="1700" dirty="0"/>
          </a:p>
        </p:txBody>
      </p:sp>
      <p:sp>
        <p:nvSpPr>
          <p:cNvPr id="4" name="Text 2"/>
          <p:cNvSpPr/>
          <p:nvPr/>
        </p:nvSpPr>
        <p:spPr>
          <a:xfrm>
            <a:off x="685800" y="2788920"/>
            <a:ext cx="6766560" cy="365760"/>
          </a:xfrm>
          <a:prstGeom prst="rect">
            <a:avLst/>
          </a:prstGeom>
          <a:noFill/>
          <a:ln/>
        </p:spPr>
        <p:txBody>
          <a:bodyPr wrap="square" lIns="0" tIns="0" rIns="0" bIns="0" rtlCol="0" anchor="ctr"/>
          <a:lstStyle/>
          <a:p>
            <a:pPr indent="0" marL="0">
              <a:buNone/>
            </a:pPr>
            <a:r>
              <a:rPr lang="en-US" sz="1300" i="1" dirty="0">
                <a:solidFill>
                  <a:srgbClr val="8FA6C4"/>
                </a:solidFill>
                <a:latin typeface="Calibri" pitchFamily="34" charset="0"/>
                <a:ea typeface="Calibri" pitchFamily="34" charset="-122"/>
                <a:cs typeface="Calibri" pitchFamily="34" charset="-120"/>
              </a:rPr>
              <a:t>MAI201 MLOps  ·  Phase 2 Final Presentation</a:t>
            </a:r>
            <a:endParaRPr lang="en-US" sz="1300" dirty="0"/>
          </a:p>
        </p:txBody>
      </p:sp>
      <p:sp>
        <p:nvSpPr>
          <p:cNvPr id="5" name="Shape 3"/>
          <p:cNvSpPr/>
          <p:nvPr/>
        </p:nvSpPr>
        <p:spPr>
          <a:xfrm>
            <a:off x="749808" y="3602736"/>
            <a:ext cx="155448" cy="155448"/>
          </a:xfrm>
          <a:prstGeom prst="ellipse">
            <a:avLst/>
          </a:prstGeom>
          <a:solidFill>
            <a:srgbClr val="C81E3C"/>
          </a:solidFill>
          <a:ln w="12700">
            <a:solidFill>
              <a:srgbClr val="C81E3C"/>
            </a:solidFill>
            <a:prstDash val="solid"/>
          </a:ln>
        </p:spPr>
      </p:sp>
      <p:sp>
        <p:nvSpPr>
          <p:cNvPr id="6" name="Text 4"/>
          <p:cNvSpPr/>
          <p:nvPr/>
        </p:nvSpPr>
        <p:spPr>
          <a:xfrm>
            <a:off x="749808" y="3602736"/>
            <a:ext cx="155448" cy="155448"/>
          </a:xfrm>
          <a:prstGeom prst="rect">
            <a:avLst/>
          </a:prstGeom>
          <a:noFill/>
          <a:ln/>
        </p:spPr>
        <p:txBody>
          <a:bodyPr wrap="square" lIns="0" tIns="0" rIns="0" bIns="0" rtlCol="0" anchor="ctr"/>
          <a:lstStyle/>
          <a:p>
            <a:pPr algn="ctr" indent="0" marL="0">
              <a:buNone/>
            </a:pPr>
            <a:endParaRPr lang="en-US" sz="1200" dirty="0"/>
          </a:p>
        </p:txBody>
      </p:sp>
      <p:sp>
        <p:nvSpPr>
          <p:cNvPr id="7" name="Text 5"/>
          <p:cNvSpPr/>
          <p:nvPr/>
        </p:nvSpPr>
        <p:spPr>
          <a:xfrm>
            <a:off x="1097280" y="3520440"/>
            <a:ext cx="6309360" cy="310896"/>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Public HTTPS API on Render</a:t>
            </a:r>
            <a:endParaRPr lang="en-US" sz="1250" dirty="0"/>
          </a:p>
        </p:txBody>
      </p:sp>
      <p:sp>
        <p:nvSpPr>
          <p:cNvPr id="8" name="Shape 6"/>
          <p:cNvSpPr/>
          <p:nvPr/>
        </p:nvSpPr>
        <p:spPr>
          <a:xfrm>
            <a:off x="749808" y="4005072"/>
            <a:ext cx="155448" cy="155448"/>
          </a:xfrm>
          <a:prstGeom prst="ellipse">
            <a:avLst/>
          </a:prstGeom>
          <a:solidFill>
            <a:srgbClr val="C81E3C"/>
          </a:solidFill>
          <a:ln w="12700">
            <a:solidFill>
              <a:srgbClr val="C81E3C"/>
            </a:solidFill>
            <a:prstDash val="solid"/>
          </a:ln>
        </p:spPr>
      </p:sp>
      <p:sp>
        <p:nvSpPr>
          <p:cNvPr id="9" name="Text 7"/>
          <p:cNvSpPr/>
          <p:nvPr/>
        </p:nvSpPr>
        <p:spPr>
          <a:xfrm>
            <a:off x="749808" y="4005072"/>
            <a:ext cx="155448" cy="155448"/>
          </a:xfrm>
          <a:prstGeom prst="rect">
            <a:avLst/>
          </a:prstGeom>
          <a:noFill/>
          <a:ln/>
        </p:spPr>
        <p:txBody>
          <a:bodyPr wrap="square" lIns="0" tIns="0" rIns="0" bIns="0" rtlCol="0" anchor="ctr"/>
          <a:lstStyle/>
          <a:p>
            <a:pPr algn="ctr" indent="0" marL="0">
              <a:buNone/>
            </a:pPr>
            <a:endParaRPr lang="en-US" sz="1200" dirty="0"/>
          </a:p>
        </p:txBody>
      </p:sp>
      <p:sp>
        <p:nvSpPr>
          <p:cNvPr id="10" name="Text 8"/>
          <p:cNvSpPr/>
          <p:nvPr/>
        </p:nvSpPr>
        <p:spPr>
          <a:xfrm>
            <a:off x="1097280" y="3922776"/>
            <a:ext cx="6309360" cy="310896"/>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Docker image, built and smoke-tested in CI</a:t>
            </a:r>
            <a:endParaRPr lang="en-US" sz="1250" dirty="0"/>
          </a:p>
        </p:txBody>
      </p:sp>
      <p:sp>
        <p:nvSpPr>
          <p:cNvPr id="11" name="Shape 9"/>
          <p:cNvSpPr/>
          <p:nvPr/>
        </p:nvSpPr>
        <p:spPr>
          <a:xfrm>
            <a:off x="749808" y="4407408"/>
            <a:ext cx="155448" cy="155448"/>
          </a:xfrm>
          <a:prstGeom prst="ellipse">
            <a:avLst/>
          </a:prstGeom>
          <a:solidFill>
            <a:srgbClr val="C81E3C"/>
          </a:solidFill>
          <a:ln w="12700">
            <a:solidFill>
              <a:srgbClr val="C81E3C"/>
            </a:solidFill>
            <a:prstDash val="solid"/>
          </a:ln>
        </p:spPr>
      </p:sp>
      <p:sp>
        <p:nvSpPr>
          <p:cNvPr id="12" name="Text 10"/>
          <p:cNvSpPr/>
          <p:nvPr/>
        </p:nvSpPr>
        <p:spPr>
          <a:xfrm>
            <a:off x="749808" y="4407408"/>
            <a:ext cx="155448" cy="155448"/>
          </a:xfrm>
          <a:prstGeom prst="rect">
            <a:avLst/>
          </a:prstGeom>
          <a:noFill/>
          <a:ln/>
        </p:spPr>
        <p:txBody>
          <a:bodyPr wrap="square" lIns="0" tIns="0" rIns="0" bIns="0" rtlCol="0" anchor="ctr"/>
          <a:lstStyle/>
          <a:p>
            <a:pPr algn="ctr" indent="0" marL="0">
              <a:buNone/>
            </a:pPr>
            <a:endParaRPr lang="en-US" sz="1200" dirty="0"/>
          </a:p>
        </p:txBody>
      </p:sp>
      <p:sp>
        <p:nvSpPr>
          <p:cNvPr id="13" name="Text 11"/>
          <p:cNvSpPr/>
          <p:nvPr/>
        </p:nvSpPr>
        <p:spPr>
          <a:xfrm>
            <a:off x="1097280" y="4325112"/>
            <a:ext cx="6309360" cy="310896"/>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GitHub Actions: lint, tests, deploy</a:t>
            </a:r>
            <a:endParaRPr lang="en-US" sz="1250" dirty="0"/>
          </a:p>
        </p:txBody>
      </p:sp>
      <p:sp>
        <p:nvSpPr>
          <p:cNvPr id="14" name="Shape 12"/>
          <p:cNvSpPr/>
          <p:nvPr/>
        </p:nvSpPr>
        <p:spPr>
          <a:xfrm>
            <a:off x="749808" y="4809744"/>
            <a:ext cx="155448" cy="155448"/>
          </a:xfrm>
          <a:prstGeom prst="ellipse">
            <a:avLst/>
          </a:prstGeom>
          <a:solidFill>
            <a:srgbClr val="C81E3C"/>
          </a:solidFill>
          <a:ln w="12700">
            <a:solidFill>
              <a:srgbClr val="C81E3C"/>
            </a:solidFill>
            <a:prstDash val="solid"/>
          </a:ln>
        </p:spPr>
      </p:sp>
      <p:sp>
        <p:nvSpPr>
          <p:cNvPr id="15" name="Text 13"/>
          <p:cNvSpPr/>
          <p:nvPr/>
        </p:nvSpPr>
        <p:spPr>
          <a:xfrm>
            <a:off x="749808" y="4809744"/>
            <a:ext cx="155448" cy="155448"/>
          </a:xfrm>
          <a:prstGeom prst="rect">
            <a:avLst/>
          </a:prstGeom>
          <a:noFill/>
          <a:ln/>
        </p:spPr>
        <p:txBody>
          <a:bodyPr wrap="square" lIns="0" tIns="0" rIns="0" bIns="0" rtlCol="0" anchor="ctr"/>
          <a:lstStyle/>
          <a:p>
            <a:pPr algn="ctr" indent="0" marL="0">
              <a:buNone/>
            </a:pPr>
            <a:endParaRPr lang="en-US" sz="1200" dirty="0"/>
          </a:p>
        </p:txBody>
      </p:sp>
      <p:sp>
        <p:nvSpPr>
          <p:cNvPr id="16" name="Text 14"/>
          <p:cNvSpPr/>
          <p:nvPr/>
        </p:nvSpPr>
        <p:spPr>
          <a:xfrm>
            <a:off x="1097280" y="4727448"/>
            <a:ext cx="6309360" cy="310896"/>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EvidentlyAI drift reports + retraining</a:t>
            </a:r>
            <a:endParaRPr lang="en-US" sz="1250" dirty="0"/>
          </a:p>
        </p:txBody>
      </p:sp>
      <p:sp>
        <p:nvSpPr>
          <p:cNvPr id="17" name="Text 15"/>
          <p:cNvSpPr/>
          <p:nvPr/>
        </p:nvSpPr>
        <p:spPr>
          <a:xfrm>
            <a:off x="685800" y="5349240"/>
            <a:ext cx="6766560" cy="365760"/>
          </a:xfrm>
          <a:prstGeom prst="rect">
            <a:avLst/>
          </a:prstGeom>
          <a:noFill/>
          <a:ln/>
        </p:spPr>
        <p:txBody>
          <a:bodyPr wrap="square" lIns="0" tIns="0" rIns="0" bIns="0" rtlCol="0" anchor="ctr"/>
          <a:lstStyle/>
          <a:p>
            <a:pPr indent="0" marL="0">
              <a:buNone/>
            </a:pPr>
            <a:r>
              <a:rPr lang="en-US" sz="1200" dirty="0">
                <a:solidFill>
                  <a:srgbClr val="8FA6C4"/>
                </a:solidFill>
                <a:latin typeface="Calibri" pitchFamily="34" charset="0"/>
                <a:ea typeface="Calibri" pitchFamily="34" charset="-122"/>
                <a:cs typeface="Calibri" pitchFamily="34" charset="-120"/>
              </a:rPr>
              <a:t>Kaggle / ULB dataset  ·  284,807 transactions  ·  0.17% fraud</a:t>
            </a:r>
            <a:endParaRPr lang="en-US" sz="1200" dirty="0"/>
          </a:p>
        </p:txBody>
      </p:sp>
      <p:sp>
        <p:nvSpPr>
          <p:cNvPr id="18" name="Shape 16"/>
          <p:cNvSpPr/>
          <p:nvPr/>
        </p:nvSpPr>
        <p:spPr>
          <a:xfrm>
            <a:off x="7772400" y="1417320"/>
            <a:ext cx="3840480" cy="1097280"/>
          </a:xfrm>
          <a:prstGeom prst="roundRect">
            <a:avLst>
              <a:gd name="adj" fmla="val 7500"/>
            </a:avLst>
          </a:prstGeom>
          <a:solidFill>
            <a:srgbClr val="1C3A5E"/>
          </a:solidFill>
          <a:ln w="12700">
            <a:solidFill>
              <a:srgbClr val="1C3A5E"/>
            </a:solidFill>
            <a:prstDash val="solid"/>
          </a:ln>
        </p:spPr>
      </p:sp>
      <p:sp>
        <p:nvSpPr>
          <p:cNvPr id="19" name="Shape 17"/>
          <p:cNvSpPr/>
          <p:nvPr/>
        </p:nvSpPr>
        <p:spPr>
          <a:xfrm>
            <a:off x="8001000" y="1755648"/>
            <a:ext cx="420624" cy="420624"/>
          </a:xfrm>
          <a:prstGeom prst="ellipse">
            <a:avLst/>
          </a:prstGeom>
          <a:solidFill>
            <a:srgbClr val="C81E3C"/>
          </a:solidFill>
          <a:ln w="12700">
            <a:solidFill>
              <a:srgbClr val="C81E3C"/>
            </a:solidFill>
            <a:prstDash val="solid"/>
          </a:ln>
        </p:spPr>
      </p:sp>
      <p:sp>
        <p:nvSpPr>
          <p:cNvPr id="20" name="Text 18"/>
          <p:cNvSpPr/>
          <p:nvPr/>
        </p:nvSpPr>
        <p:spPr>
          <a:xfrm>
            <a:off x="8001000" y="175564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p:nvPr/>
        </p:nvSpPr>
        <p:spPr>
          <a:xfrm>
            <a:off x="8549640" y="1563624"/>
            <a:ext cx="292608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Abdulraouf Zabalawi</a:t>
            </a:r>
            <a:endParaRPr lang="en-US" sz="1350" dirty="0"/>
          </a:p>
        </p:txBody>
      </p:sp>
      <p:sp>
        <p:nvSpPr>
          <p:cNvPr id="22" name="Text 20"/>
          <p:cNvSpPr/>
          <p:nvPr/>
        </p:nvSpPr>
        <p:spPr>
          <a:xfrm>
            <a:off x="8549640" y="1828800"/>
            <a:ext cx="2926080" cy="256032"/>
          </a:xfrm>
          <a:prstGeom prst="rect">
            <a:avLst/>
          </a:prstGeom>
          <a:noFill/>
          <a:ln/>
        </p:spPr>
        <p:txBody>
          <a:bodyPr wrap="square" lIns="0" tIns="0" rIns="0" bIns="0"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Project &amp; ML Lead</a:t>
            </a:r>
            <a:endParaRPr lang="en-US" sz="1100" dirty="0"/>
          </a:p>
        </p:txBody>
      </p:sp>
      <p:sp>
        <p:nvSpPr>
          <p:cNvPr id="23" name="Text 21"/>
          <p:cNvSpPr/>
          <p:nvPr/>
        </p:nvSpPr>
        <p:spPr>
          <a:xfrm>
            <a:off x="8549640" y="2066544"/>
            <a:ext cx="2926080" cy="365760"/>
          </a:xfrm>
          <a:prstGeom prst="rect">
            <a:avLst/>
          </a:prstGeom>
          <a:noFill/>
          <a:ln/>
        </p:spPr>
        <p:txBody>
          <a:bodyPr wrap="square" lIns="0" tIns="0" rIns="0" bIns="0" rtlCol="0" anchor="t"/>
          <a:lstStyle/>
          <a:p>
            <a:pPr indent="0" marL="0">
              <a:buNone/>
            </a:pPr>
            <a:r>
              <a:rPr lang="en-US" sz="1000" dirty="0">
                <a:solidFill>
                  <a:srgbClr val="8FA6C4"/>
                </a:solidFill>
                <a:latin typeface="Calibri" pitchFamily="34" charset="0"/>
                <a:ea typeface="Calibri" pitchFamily="34" charset="-122"/>
                <a:cs typeface="Calibri" pitchFamily="34" charset="-120"/>
              </a:rPr>
              <a:t>Model, FastAPI, Model Card, MLflow</a:t>
            </a:r>
            <a:endParaRPr lang="en-US" sz="1000" dirty="0"/>
          </a:p>
        </p:txBody>
      </p:sp>
      <p:sp>
        <p:nvSpPr>
          <p:cNvPr id="24" name="Shape 22"/>
          <p:cNvSpPr/>
          <p:nvPr/>
        </p:nvSpPr>
        <p:spPr>
          <a:xfrm>
            <a:off x="7772400" y="2715768"/>
            <a:ext cx="3840480" cy="1097280"/>
          </a:xfrm>
          <a:prstGeom prst="roundRect">
            <a:avLst>
              <a:gd name="adj" fmla="val 7500"/>
            </a:avLst>
          </a:prstGeom>
          <a:solidFill>
            <a:srgbClr val="1C3A5E"/>
          </a:solidFill>
          <a:ln w="12700">
            <a:solidFill>
              <a:srgbClr val="1C3A5E"/>
            </a:solidFill>
            <a:prstDash val="solid"/>
          </a:ln>
        </p:spPr>
      </p:sp>
      <p:sp>
        <p:nvSpPr>
          <p:cNvPr id="25" name="Shape 23"/>
          <p:cNvSpPr/>
          <p:nvPr/>
        </p:nvSpPr>
        <p:spPr>
          <a:xfrm>
            <a:off x="8001000" y="3054096"/>
            <a:ext cx="420624" cy="420624"/>
          </a:xfrm>
          <a:prstGeom prst="ellipse">
            <a:avLst/>
          </a:prstGeom>
          <a:solidFill>
            <a:srgbClr val="1C7293"/>
          </a:solidFill>
          <a:ln w="12700">
            <a:solidFill>
              <a:srgbClr val="1C7293"/>
            </a:solidFill>
            <a:prstDash val="solid"/>
          </a:ln>
        </p:spPr>
      </p:sp>
      <p:sp>
        <p:nvSpPr>
          <p:cNvPr id="26" name="Text 24"/>
          <p:cNvSpPr/>
          <p:nvPr/>
        </p:nvSpPr>
        <p:spPr>
          <a:xfrm>
            <a:off x="8001000" y="305409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
            </a:r>
            <a:endParaRPr lang="en-US" sz="1200" dirty="0"/>
          </a:p>
        </p:txBody>
      </p:sp>
      <p:sp>
        <p:nvSpPr>
          <p:cNvPr id="27" name="Text 25"/>
          <p:cNvSpPr/>
          <p:nvPr/>
        </p:nvSpPr>
        <p:spPr>
          <a:xfrm>
            <a:off x="8549640" y="2862072"/>
            <a:ext cx="292608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Mohamed Roble</a:t>
            </a:r>
            <a:endParaRPr lang="en-US" sz="1350" dirty="0"/>
          </a:p>
        </p:txBody>
      </p:sp>
      <p:sp>
        <p:nvSpPr>
          <p:cNvPr id="28" name="Text 26"/>
          <p:cNvSpPr/>
          <p:nvPr/>
        </p:nvSpPr>
        <p:spPr>
          <a:xfrm>
            <a:off x="8549640" y="3127248"/>
            <a:ext cx="2926080" cy="256032"/>
          </a:xfrm>
          <a:prstGeom prst="rect">
            <a:avLst/>
          </a:prstGeom>
          <a:noFill/>
          <a:ln/>
        </p:spPr>
        <p:txBody>
          <a:bodyPr wrap="square" lIns="0" tIns="0" rIns="0" bIns="0"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Engineering Lead</a:t>
            </a:r>
            <a:endParaRPr lang="en-US" sz="1100" dirty="0"/>
          </a:p>
        </p:txBody>
      </p:sp>
      <p:sp>
        <p:nvSpPr>
          <p:cNvPr id="29" name="Text 27"/>
          <p:cNvSpPr/>
          <p:nvPr/>
        </p:nvSpPr>
        <p:spPr>
          <a:xfrm>
            <a:off x="8549640" y="3364992"/>
            <a:ext cx="2926080" cy="365760"/>
          </a:xfrm>
          <a:prstGeom prst="rect">
            <a:avLst/>
          </a:prstGeom>
          <a:noFill/>
          <a:ln/>
        </p:spPr>
        <p:txBody>
          <a:bodyPr wrap="square" lIns="0" tIns="0" rIns="0" bIns="0" rtlCol="0" anchor="t"/>
          <a:lstStyle/>
          <a:p>
            <a:pPr indent="0" marL="0">
              <a:buNone/>
            </a:pPr>
            <a:r>
              <a:rPr lang="en-US" sz="1000" dirty="0">
                <a:solidFill>
                  <a:srgbClr val="8FA6C4"/>
                </a:solidFill>
                <a:latin typeface="Calibri" pitchFamily="34" charset="0"/>
                <a:ea typeface="Calibri" pitchFamily="34" charset="-122"/>
                <a:cs typeface="Calibri" pitchFamily="34" charset="-120"/>
              </a:rPr>
              <a:t>Docker, Render deployment, CI/CD</a:t>
            </a:r>
            <a:endParaRPr lang="en-US" sz="1000" dirty="0"/>
          </a:p>
        </p:txBody>
      </p:sp>
      <p:sp>
        <p:nvSpPr>
          <p:cNvPr id="30" name="Shape 28"/>
          <p:cNvSpPr/>
          <p:nvPr/>
        </p:nvSpPr>
        <p:spPr>
          <a:xfrm>
            <a:off x="7772400" y="4014216"/>
            <a:ext cx="3840480" cy="1097280"/>
          </a:xfrm>
          <a:prstGeom prst="roundRect">
            <a:avLst>
              <a:gd name="adj" fmla="val 7500"/>
            </a:avLst>
          </a:prstGeom>
          <a:solidFill>
            <a:srgbClr val="1C3A5E"/>
          </a:solidFill>
          <a:ln w="12700">
            <a:solidFill>
              <a:srgbClr val="1C3A5E"/>
            </a:solidFill>
            <a:prstDash val="solid"/>
          </a:ln>
        </p:spPr>
      </p:sp>
      <p:sp>
        <p:nvSpPr>
          <p:cNvPr id="31" name="Shape 29"/>
          <p:cNvSpPr/>
          <p:nvPr/>
        </p:nvSpPr>
        <p:spPr>
          <a:xfrm>
            <a:off x="8001000" y="4352544"/>
            <a:ext cx="420624" cy="420624"/>
          </a:xfrm>
          <a:prstGeom prst="ellipse">
            <a:avLst/>
          </a:prstGeom>
          <a:solidFill>
            <a:srgbClr val="1E7A50"/>
          </a:solidFill>
          <a:ln w="12700">
            <a:solidFill>
              <a:srgbClr val="1E7A50"/>
            </a:solidFill>
            <a:prstDash val="solid"/>
          </a:ln>
        </p:spPr>
      </p:sp>
      <p:sp>
        <p:nvSpPr>
          <p:cNvPr id="32" name="Text 30"/>
          <p:cNvSpPr/>
          <p:nvPr/>
        </p:nvSpPr>
        <p:spPr>
          <a:xfrm>
            <a:off x="8001000" y="4352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t>
            </a:r>
            <a:endParaRPr lang="en-US" sz="1200" dirty="0"/>
          </a:p>
        </p:txBody>
      </p:sp>
      <p:sp>
        <p:nvSpPr>
          <p:cNvPr id="33" name="Text 31"/>
          <p:cNvSpPr/>
          <p:nvPr/>
        </p:nvSpPr>
        <p:spPr>
          <a:xfrm>
            <a:off x="8549640" y="4160520"/>
            <a:ext cx="292608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Someyah Balashi</a:t>
            </a:r>
            <a:endParaRPr lang="en-US" sz="1350" dirty="0"/>
          </a:p>
        </p:txBody>
      </p:sp>
      <p:sp>
        <p:nvSpPr>
          <p:cNvPr id="34" name="Text 32"/>
          <p:cNvSpPr/>
          <p:nvPr/>
        </p:nvSpPr>
        <p:spPr>
          <a:xfrm>
            <a:off x="8549640" y="4425696"/>
            <a:ext cx="2926080" cy="256032"/>
          </a:xfrm>
          <a:prstGeom prst="rect">
            <a:avLst/>
          </a:prstGeom>
          <a:noFill/>
          <a:ln/>
        </p:spPr>
        <p:txBody>
          <a:bodyPr wrap="square" lIns="0" tIns="0" rIns="0" bIns="0"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Documentation Lead</a:t>
            </a:r>
            <a:endParaRPr lang="en-US" sz="1100" dirty="0"/>
          </a:p>
        </p:txBody>
      </p:sp>
      <p:sp>
        <p:nvSpPr>
          <p:cNvPr id="35" name="Text 33"/>
          <p:cNvSpPr/>
          <p:nvPr/>
        </p:nvSpPr>
        <p:spPr>
          <a:xfrm>
            <a:off x="8549640" y="4663440"/>
            <a:ext cx="2926080" cy="365760"/>
          </a:xfrm>
          <a:prstGeom prst="rect">
            <a:avLst/>
          </a:prstGeom>
          <a:noFill/>
          <a:ln/>
        </p:spPr>
        <p:txBody>
          <a:bodyPr wrap="square" lIns="0" tIns="0" rIns="0" bIns="0" rtlCol="0" anchor="t"/>
          <a:lstStyle/>
          <a:p>
            <a:pPr indent="0" marL="0">
              <a:buNone/>
            </a:pPr>
            <a:r>
              <a:rPr lang="en-US" sz="1000" dirty="0">
                <a:solidFill>
                  <a:srgbClr val="8FA6C4"/>
                </a:solidFill>
                <a:latin typeface="Calibri" pitchFamily="34" charset="0"/>
                <a:ea typeface="Calibri" pitchFamily="34" charset="-122"/>
                <a:cs typeface="Calibri" pitchFamily="34" charset="-120"/>
              </a:rPr>
              <a:t>EvidentlyAI, retraining, slides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595360" cy="731520"/>
          </a:xfrm>
          <a:prstGeom prst="rect">
            <a:avLst/>
          </a:prstGeom>
          <a:noFill/>
          <a:ln/>
        </p:spPr>
        <p:txBody>
          <a:bodyPr wrap="square" lIns="0" tIns="0" rIns="0" bIns="0" rtlCol="0" anchor="ctr"/>
          <a:lstStyle/>
          <a:p>
            <a:pPr algn="l" indent="0" marL="0">
              <a:buNone/>
            </a:pPr>
            <a:r>
              <a:rPr lang="en-US" sz="3400" b="1" dirty="0">
                <a:solidFill>
                  <a:srgbClr val="10233F"/>
                </a:solidFill>
                <a:latin typeface="Cambria" pitchFamily="34" charset="0"/>
                <a:ea typeface="Cambria" pitchFamily="34" charset="-122"/>
                <a:cs typeface="Cambria" pitchFamily="34" charset="-120"/>
              </a:rPr>
              <a:t>The problem, and the data</a:t>
            </a:r>
            <a:endParaRPr lang="en-US" sz="3400" dirty="0"/>
          </a:p>
        </p:txBody>
      </p:sp>
      <p:sp>
        <p:nvSpPr>
          <p:cNvPr id="3" name="Shape 1"/>
          <p:cNvSpPr/>
          <p:nvPr/>
        </p:nvSpPr>
        <p:spPr>
          <a:xfrm>
            <a:off x="9464040" y="457200"/>
            <a:ext cx="2194560" cy="420624"/>
          </a:xfrm>
          <a:prstGeom prst="roundRect">
            <a:avLst>
              <a:gd name="adj" fmla="val 47826"/>
            </a:avLst>
          </a:prstGeom>
          <a:solidFill>
            <a:srgbClr val="F2F5F9"/>
          </a:solidFill>
          <a:ln w="12700">
            <a:solidFill>
              <a:srgbClr val="F2F5F9"/>
            </a:solidFill>
            <a:prstDash val="solid"/>
          </a:ln>
        </p:spPr>
      </p:sp>
      <p:sp>
        <p:nvSpPr>
          <p:cNvPr id="4" name="Text 2"/>
          <p:cNvSpPr/>
          <p:nvPr/>
        </p:nvSpPr>
        <p:spPr>
          <a:xfrm>
            <a:off x="9464040" y="457200"/>
            <a:ext cx="2194560" cy="42062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Abdulraouf</a:t>
            </a:r>
            <a:endParaRPr lang="en-US" sz="1100" dirty="0"/>
          </a:p>
        </p:txBody>
      </p:sp>
      <p:sp>
        <p:nvSpPr>
          <p:cNvPr id="5" name="Text 3"/>
          <p:cNvSpPr/>
          <p:nvPr/>
        </p:nvSpPr>
        <p:spPr>
          <a:xfrm>
            <a:off x="685800" y="1325880"/>
            <a:ext cx="2743200" cy="777240"/>
          </a:xfrm>
          <a:prstGeom prst="rect">
            <a:avLst/>
          </a:prstGeom>
          <a:noFill/>
          <a:ln/>
        </p:spPr>
        <p:txBody>
          <a:bodyPr wrap="square" lIns="0" tIns="0" rIns="0" bIns="0" rtlCol="0" anchor="b"/>
          <a:lstStyle/>
          <a:p>
            <a:pPr algn="l" indent="0" marL="0">
              <a:buNone/>
            </a:pPr>
            <a:r>
              <a:rPr lang="en-US" sz="4000" b="1" dirty="0">
                <a:solidFill>
                  <a:srgbClr val="10233F"/>
                </a:solidFill>
                <a:latin typeface="Cambria" pitchFamily="34" charset="0"/>
                <a:ea typeface="Cambria" pitchFamily="34" charset="-122"/>
                <a:cs typeface="Cambria" pitchFamily="34" charset="-120"/>
              </a:rPr>
              <a:t>284,807</a:t>
            </a:r>
            <a:endParaRPr lang="en-US" sz="4000" dirty="0"/>
          </a:p>
        </p:txBody>
      </p:sp>
      <p:sp>
        <p:nvSpPr>
          <p:cNvPr id="6" name="Text 4"/>
          <p:cNvSpPr/>
          <p:nvPr/>
        </p:nvSpPr>
        <p:spPr>
          <a:xfrm>
            <a:off x="685800" y="2130552"/>
            <a:ext cx="2743200" cy="457200"/>
          </a:xfrm>
          <a:prstGeom prst="rect">
            <a:avLst/>
          </a:prstGeom>
          <a:noFill/>
          <a:ln/>
        </p:spPr>
        <p:txBody>
          <a:bodyPr wrap="square" lIns="0" tIns="0" rIns="0" bIns="0" rtlCol="0" anchor="t"/>
          <a:lstStyle/>
          <a:p>
            <a:pPr algn="l" indent="0" marL="0">
              <a:buNone/>
            </a:pPr>
            <a:r>
              <a:rPr lang="en-US" sz="1200" dirty="0">
                <a:solidFill>
                  <a:srgbClr val="5A6B7D"/>
                </a:solidFill>
                <a:latin typeface="Calibri" pitchFamily="34" charset="0"/>
                <a:ea typeface="Calibri" pitchFamily="34" charset="-122"/>
                <a:cs typeface="Calibri" pitchFamily="34" charset="-120"/>
              </a:rPr>
              <a:t>transactions over two days</a:t>
            </a:r>
            <a:endParaRPr lang="en-US" sz="1200" dirty="0"/>
          </a:p>
        </p:txBody>
      </p:sp>
      <p:sp>
        <p:nvSpPr>
          <p:cNvPr id="7" name="Text 5"/>
          <p:cNvSpPr/>
          <p:nvPr/>
        </p:nvSpPr>
        <p:spPr>
          <a:xfrm>
            <a:off x="4160520" y="1325880"/>
            <a:ext cx="2743200" cy="777240"/>
          </a:xfrm>
          <a:prstGeom prst="rect">
            <a:avLst/>
          </a:prstGeom>
          <a:noFill/>
          <a:ln/>
        </p:spPr>
        <p:txBody>
          <a:bodyPr wrap="square" lIns="0" tIns="0" rIns="0" bIns="0" rtlCol="0" anchor="b"/>
          <a:lstStyle/>
          <a:p>
            <a:pPr algn="l" indent="0" marL="0">
              <a:buNone/>
            </a:pPr>
            <a:r>
              <a:rPr lang="en-US" sz="4000" b="1" dirty="0">
                <a:solidFill>
                  <a:srgbClr val="C81E3C"/>
                </a:solidFill>
                <a:latin typeface="Cambria" pitchFamily="34" charset="0"/>
                <a:ea typeface="Cambria" pitchFamily="34" charset="-122"/>
                <a:cs typeface="Cambria" pitchFamily="34" charset="-120"/>
              </a:rPr>
              <a:t>492</a:t>
            </a:r>
            <a:endParaRPr lang="en-US" sz="4000" dirty="0"/>
          </a:p>
        </p:txBody>
      </p:sp>
      <p:sp>
        <p:nvSpPr>
          <p:cNvPr id="8" name="Text 6"/>
          <p:cNvSpPr/>
          <p:nvPr/>
        </p:nvSpPr>
        <p:spPr>
          <a:xfrm>
            <a:off x="4160520" y="2130552"/>
            <a:ext cx="2743200" cy="457200"/>
          </a:xfrm>
          <a:prstGeom prst="rect">
            <a:avLst/>
          </a:prstGeom>
          <a:noFill/>
          <a:ln/>
        </p:spPr>
        <p:txBody>
          <a:bodyPr wrap="square" lIns="0" tIns="0" rIns="0" bIns="0" rtlCol="0" anchor="t"/>
          <a:lstStyle/>
          <a:p>
            <a:pPr algn="l" indent="0" marL="0">
              <a:buNone/>
            </a:pPr>
            <a:r>
              <a:rPr lang="en-US" sz="1200" dirty="0">
                <a:solidFill>
                  <a:srgbClr val="5A6B7D"/>
                </a:solidFill>
                <a:latin typeface="Calibri" pitchFamily="34" charset="0"/>
                <a:ea typeface="Calibri" pitchFamily="34" charset="-122"/>
                <a:cs typeface="Calibri" pitchFamily="34" charset="-120"/>
              </a:rPr>
              <a:t>of them fraudulent</a:t>
            </a:r>
            <a:endParaRPr lang="en-US" sz="1200" dirty="0"/>
          </a:p>
        </p:txBody>
      </p:sp>
      <p:sp>
        <p:nvSpPr>
          <p:cNvPr id="9" name="Text 7"/>
          <p:cNvSpPr/>
          <p:nvPr/>
        </p:nvSpPr>
        <p:spPr>
          <a:xfrm>
            <a:off x="7635240" y="1325880"/>
            <a:ext cx="3840480" cy="777240"/>
          </a:xfrm>
          <a:prstGeom prst="rect">
            <a:avLst/>
          </a:prstGeom>
          <a:noFill/>
          <a:ln/>
        </p:spPr>
        <p:txBody>
          <a:bodyPr wrap="square" lIns="0" tIns="0" rIns="0" bIns="0" rtlCol="0" anchor="b"/>
          <a:lstStyle/>
          <a:p>
            <a:pPr algn="l" indent="0" marL="0">
              <a:buNone/>
            </a:pPr>
            <a:r>
              <a:rPr lang="en-US" sz="4000" b="1" dirty="0">
                <a:solidFill>
                  <a:srgbClr val="C81E3C"/>
                </a:solidFill>
                <a:latin typeface="Cambria" pitchFamily="34" charset="0"/>
                <a:ea typeface="Cambria" pitchFamily="34" charset="-122"/>
                <a:cs typeface="Cambria" pitchFamily="34" charset="-120"/>
              </a:rPr>
              <a:t>0.1727%</a:t>
            </a:r>
            <a:endParaRPr lang="en-US" sz="4000" dirty="0"/>
          </a:p>
        </p:txBody>
      </p:sp>
      <p:sp>
        <p:nvSpPr>
          <p:cNvPr id="10" name="Text 8"/>
          <p:cNvSpPr/>
          <p:nvPr/>
        </p:nvSpPr>
        <p:spPr>
          <a:xfrm>
            <a:off x="7635240" y="2130552"/>
            <a:ext cx="3840480" cy="457200"/>
          </a:xfrm>
          <a:prstGeom prst="rect">
            <a:avLst/>
          </a:prstGeom>
          <a:noFill/>
          <a:ln/>
        </p:spPr>
        <p:txBody>
          <a:bodyPr wrap="square" lIns="0" tIns="0" rIns="0" bIns="0" rtlCol="0" anchor="t"/>
          <a:lstStyle/>
          <a:p>
            <a:pPr algn="l" indent="0" marL="0">
              <a:buNone/>
            </a:pPr>
            <a:r>
              <a:rPr lang="en-US" sz="1200" dirty="0">
                <a:solidFill>
                  <a:srgbClr val="5A6B7D"/>
                </a:solidFill>
                <a:latin typeface="Calibri" pitchFamily="34" charset="0"/>
                <a:ea typeface="Calibri" pitchFamily="34" charset="-122"/>
                <a:cs typeface="Calibri" pitchFamily="34" charset="-120"/>
              </a:rPr>
              <a:t>fraud rate — one in every 580</a:t>
            </a:r>
            <a:endParaRPr lang="en-US" sz="1200" dirty="0"/>
          </a:p>
        </p:txBody>
      </p:sp>
      <p:sp>
        <p:nvSpPr>
          <p:cNvPr id="11" name="Shape 9"/>
          <p:cNvSpPr/>
          <p:nvPr/>
        </p:nvSpPr>
        <p:spPr>
          <a:xfrm>
            <a:off x="685800" y="3063240"/>
            <a:ext cx="5394960" cy="3063240"/>
          </a:xfrm>
          <a:prstGeom prst="roundRect">
            <a:avLst>
              <a:gd name="adj" fmla="val 2687"/>
            </a:avLst>
          </a:prstGeom>
          <a:solidFill>
            <a:srgbClr val="F2F5F9"/>
          </a:solidFill>
          <a:ln w="12700">
            <a:solidFill>
              <a:srgbClr val="F2F5F9"/>
            </a:solidFill>
            <a:prstDash val="solid"/>
          </a:ln>
        </p:spPr>
      </p:sp>
      <p:sp>
        <p:nvSpPr>
          <p:cNvPr id="12" name="Text 10"/>
          <p:cNvSpPr/>
          <p:nvPr/>
        </p:nvSpPr>
        <p:spPr>
          <a:xfrm>
            <a:off x="960120" y="3246120"/>
            <a:ext cx="4846320" cy="320040"/>
          </a:xfrm>
          <a:prstGeom prst="rect">
            <a:avLst/>
          </a:prstGeom>
          <a:noFill/>
          <a:ln/>
        </p:spPr>
        <p:txBody>
          <a:bodyPr wrap="square" lIns="0" tIns="0" rIns="0" bIns="0" rtlCol="0" anchor="ctr"/>
          <a:lstStyle/>
          <a:p>
            <a:pPr indent="0" marL="0">
              <a:buNone/>
            </a:pPr>
            <a:r>
              <a:rPr lang="en-US" sz="1500" b="1" dirty="0">
                <a:solidFill>
                  <a:srgbClr val="17222E"/>
                </a:solidFill>
                <a:latin typeface="Calibri" pitchFamily="34" charset="0"/>
                <a:ea typeface="Calibri" pitchFamily="34" charset="-122"/>
                <a:cs typeface="Calibri" pitchFamily="34" charset="-120"/>
              </a:rPr>
              <a:t>What makes this hard</a:t>
            </a:r>
            <a:endParaRPr lang="en-US" sz="1500" dirty="0"/>
          </a:p>
        </p:txBody>
      </p:sp>
      <p:sp>
        <p:nvSpPr>
          <p:cNvPr id="13" name="Text 11"/>
          <p:cNvSpPr/>
          <p:nvPr/>
        </p:nvSpPr>
        <p:spPr>
          <a:xfrm>
            <a:off x="960120" y="3611880"/>
            <a:ext cx="4846320" cy="22860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A6B7D"/>
                </a:solidFill>
                <a:latin typeface="Calibri" pitchFamily="34" charset="0"/>
                <a:ea typeface="Calibri" pitchFamily="34" charset="-122"/>
                <a:cs typeface="Calibri" pitchFamily="34" charset="-120"/>
              </a:rPr>
              <a:t>Accuracy is useless here. Answering "legitimate" to everything scores 99.83%, so we judge the model on precision, recall, F1 and PR-AUC instead.</a:t>
            </a:r>
            <a:endParaRPr lang="en-US" sz="1200" dirty="0"/>
          </a:p>
          <a:p>
            <a:pPr marL="342900" indent="-342900">
              <a:spcAft>
                <a:spcPts val="800"/>
              </a:spcAft>
              <a:buSzPct val="100000"/>
              <a:buChar char="•"/>
            </a:pPr>
            <a:r>
              <a:rPr lang="en-US" sz="1200" dirty="0">
                <a:solidFill>
                  <a:srgbClr val="5A6B7D"/>
                </a:solidFill>
                <a:latin typeface="Calibri" pitchFamily="34" charset="0"/>
                <a:ea typeface="Calibri" pitchFamily="34" charset="-122"/>
                <a:cs typeface="Calibri" pitchFamily="34" charset="-120"/>
              </a:rPr>
              <a:t>Only 492 fraud rows exist in total. A handful of transactions moves recall by a full percentage point.</a:t>
            </a:r>
            <a:endParaRPr lang="en-US" sz="1200" dirty="0"/>
          </a:p>
          <a:p>
            <a:pPr marL="342900" indent="-342900">
              <a:spcAft>
                <a:spcPts val="800"/>
              </a:spcAft>
              <a:buSzPct val="100000"/>
              <a:buChar char="•"/>
            </a:pPr>
            <a:r>
              <a:rPr lang="en-US" sz="1200" dirty="0">
                <a:solidFill>
                  <a:srgbClr val="5A6B7D"/>
                </a:solidFill>
                <a:latin typeface="Calibri" pitchFamily="34" charset="0"/>
                <a:ea typeface="Calibri" pitchFamily="34" charset="-122"/>
                <a:cs typeface="Calibri" pitchFamily="34" charset="-120"/>
              </a:rPr>
              <a:t>V1–V28 are PCA components published in place of the real fields, so no feature has a human-readable meaning.</a:t>
            </a:r>
            <a:endParaRPr lang="en-US" sz="1200" dirty="0"/>
          </a:p>
        </p:txBody>
      </p:sp>
      <p:sp>
        <p:nvSpPr>
          <p:cNvPr id="14" name="Shape 12"/>
          <p:cNvSpPr/>
          <p:nvPr/>
        </p:nvSpPr>
        <p:spPr>
          <a:xfrm>
            <a:off x="6446520" y="3063240"/>
            <a:ext cx="5074920" cy="3063240"/>
          </a:xfrm>
          <a:prstGeom prst="roundRect">
            <a:avLst>
              <a:gd name="adj" fmla="val 2687"/>
            </a:avLst>
          </a:prstGeom>
          <a:solidFill>
            <a:srgbClr val="F2F5F9"/>
          </a:solidFill>
          <a:ln w="12700">
            <a:solidFill>
              <a:srgbClr val="F2F5F9"/>
            </a:solidFill>
            <a:prstDash val="solid"/>
          </a:ln>
        </p:spPr>
      </p:sp>
      <p:sp>
        <p:nvSpPr>
          <p:cNvPr id="15" name="Text 13"/>
          <p:cNvSpPr/>
          <p:nvPr/>
        </p:nvSpPr>
        <p:spPr>
          <a:xfrm>
            <a:off x="6720840" y="3246120"/>
            <a:ext cx="4572000" cy="320040"/>
          </a:xfrm>
          <a:prstGeom prst="rect">
            <a:avLst/>
          </a:prstGeom>
          <a:noFill/>
          <a:ln/>
        </p:spPr>
        <p:txBody>
          <a:bodyPr wrap="square" lIns="0" tIns="0" rIns="0" bIns="0" rtlCol="0" anchor="ctr"/>
          <a:lstStyle/>
          <a:p>
            <a:pPr indent="0" marL="0">
              <a:buNone/>
            </a:pPr>
            <a:r>
              <a:rPr lang="en-US" sz="1500" b="1" dirty="0">
                <a:solidFill>
                  <a:srgbClr val="17222E"/>
                </a:solidFill>
                <a:latin typeface="Calibri" pitchFamily="34" charset="0"/>
                <a:ea typeface="Calibri" pitchFamily="34" charset="-122"/>
                <a:cs typeface="Calibri" pitchFamily="34" charset="-120"/>
              </a:rPr>
              <a:t>The 30 inputs the API accepts</a:t>
            </a:r>
            <a:endParaRPr lang="en-US" sz="1500" dirty="0"/>
          </a:p>
        </p:txBody>
      </p:sp>
      <p:sp>
        <p:nvSpPr>
          <p:cNvPr id="16" name="Text 14"/>
          <p:cNvSpPr/>
          <p:nvPr/>
        </p:nvSpPr>
        <p:spPr>
          <a:xfrm>
            <a:off x="6720840" y="3675888"/>
            <a:ext cx="1554480" cy="320040"/>
          </a:xfrm>
          <a:prstGeom prst="rect">
            <a:avLst/>
          </a:prstGeom>
          <a:noFill/>
          <a:ln/>
        </p:spPr>
        <p:txBody>
          <a:bodyPr wrap="square" lIns="0" tIns="0" rIns="0" bIns="0" rtlCol="0" anchor="ctr"/>
          <a:lstStyle/>
          <a:p>
            <a:pPr indent="0" marL="0">
              <a:buNone/>
            </a:pPr>
            <a:r>
              <a:rPr lang="en-US" sz="1200" b="1" dirty="0">
                <a:solidFill>
                  <a:srgbClr val="1C7293"/>
                </a:solidFill>
                <a:latin typeface="Courier New" pitchFamily="34" charset="0"/>
                <a:ea typeface="Courier New" pitchFamily="34" charset="-122"/>
                <a:cs typeface="Courier New" pitchFamily="34" charset="-120"/>
              </a:rPr>
              <a:t>Time</a:t>
            </a:r>
            <a:endParaRPr lang="en-US" sz="1200" dirty="0"/>
          </a:p>
        </p:txBody>
      </p:sp>
      <p:sp>
        <p:nvSpPr>
          <p:cNvPr id="17" name="Text 15"/>
          <p:cNvSpPr/>
          <p:nvPr/>
        </p:nvSpPr>
        <p:spPr>
          <a:xfrm>
            <a:off x="8321040" y="3675888"/>
            <a:ext cx="3017520" cy="320040"/>
          </a:xfrm>
          <a:prstGeom prst="rect">
            <a:avLst/>
          </a:prstGeom>
          <a:noFill/>
          <a:ln/>
        </p:spPr>
        <p:txBody>
          <a:bodyPr wrap="square" lIns="0" tIns="0" rIns="0" bIns="0" rtlCol="0" anchor="ctr"/>
          <a:lstStyle/>
          <a:p>
            <a:pPr indent="0" marL="0">
              <a:buNone/>
            </a:pPr>
            <a:r>
              <a:rPr lang="en-US" sz="1150" dirty="0">
                <a:solidFill>
                  <a:srgbClr val="5A6B7D"/>
                </a:solidFill>
                <a:latin typeface="Calibri" pitchFamily="34" charset="0"/>
                <a:ea typeface="Calibri" pitchFamily="34" charset="-122"/>
                <a:cs typeface="Calibri" pitchFamily="34" charset="-120"/>
              </a:rPr>
              <a:t>seconds since the first transaction</a:t>
            </a:r>
            <a:endParaRPr lang="en-US" sz="1150" dirty="0"/>
          </a:p>
        </p:txBody>
      </p:sp>
      <p:sp>
        <p:nvSpPr>
          <p:cNvPr id="18" name="Text 16"/>
          <p:cNvSpPr/>
          <p:nvPr/>
        </p:nvSpPr>
        <p:spPr>
          <a:xfrm>
            <a:off x="6720840" y="4242816"/>
            <a:ext cx="1554480" cy="320040"/>
          </a:xfrm>
          <a:prstGeom prst="rect">
            <a:avLst/>
          </a:prstGeom>
          <a:noFill/>
          <a:ln/>
        </p:spPr>
        <p:txBody>
          <a:bodyPr wrap="square" lIns="0" tIns="0" rIns="0" bIns="0" rtlCol="0" anchor="ctr"/>
          <a:lstStyle/>
          <a:p>
            <a:pPr indent="0" marL="0">
              <a:buNone/>
            </a:pPr>
            <a:r>
              <a:rPr lang="en-US" sz="1200" b="1" dirty="0">
                <a:solidFill>
                  <a:srgbClr val="1C7293"/>
                </a:solidFill>
                <a:latin typeface="Courier New" pitchFamily="34" charset="0"/>
                <a:ea typeface="Courier New" pitchFamily="34" charset="-122"/>
                <a:cs typeface="Courier New" pitchFamily="34" charset="-120"/>
              </a:rPr>
              <a:t>V1 – V28</a:t>
            </a:r>
            <a:endParaRPr lang="en-US" sz="1200" dirty="0"/>
          </a:p>
        </p:txBody>
      </p:sp>
      <p:sp>
        <p:nvSpPr>
          <p:cNvPr id="19" name="Text 17"/>
          <p:cNvSpPr/>
          <p:nvPr/>
        </p:nvSpPr>
        <p:spPr>
          <a:xfrm>
            <a:off x="8321040" y="4242816"/>
            <a:ext cx="3017520" cy="320040"/>
          </a:xfrm>
          <a:prstGeom prst="rect">
            <a:avLst/>
          </a:prstGeom>
          <a:noFill/>
          <a:ln/>
        </p:spPr>
        <p:txBody>
          <a:bodyPr wrap="square" lIns="0" tIns="0" rIns="0" bIns="0" rtlCol="0" anchor="ctr"/>
          <a:lstStyle/>
          <a:p>
            <a:pPr indent="0" marL="0">
              <a:buNone/>
            </a:pPr>
            <a:r>
              <a:rPr lang="en-US" sz="1150" dirty="0">
                <a:solidFill>
                  <a:srgbClr val="5A6B7D"/>
                </a:solidFill>
                <a:latin typeface="Calibri" pitchFamily="34" charset="0"/>
                <a:ea typeface="Calibri" pitchFamily="34" charset="-122"/>
                <a:cs typeface="Calibri" pitchFamily="34" charset="-120"/>
              </a:rPr>
              <a:t>anonymised PCA components</a:t>
            </a:r>
            <a:endParaRPr lang="en-US" sz="1150" dirty="0"/>
          </a:p>
        </p:txBody>
      </p:sp>
      <p:sp>
        <p:nvSpPr>
          <p:cNvPr id="20" name="Text 18"/>
          <p:cNvSpPr/>
          <p:nvPr/>
        </p:nvSpPr>
        <p:spPr>
          <a:xfrm>
            <a:off x="6720840" y="4809744"/>
            <a:ext cx="1554480" cy="320040"/>
          </a:xfrm>
          <a:prstGeom prst="rect">
            <a:avLst/>
          </a:prstGeom>
          <a:noFill/>
          <a:ln/>
        </p:spPr>
        <p:txBody>
          <a:bodyPr wrap="square" lIns="0" tIns="0" rIns="0" bIns="0" rtlCol="0" anchor="ctr"/>
          <a:lstStyle/>
          <a:p>
            <a:pPr indent="0" marL="0">
              <a:buNone/>
            </a:pPr>
            <a:r>
              <a:rPr lang="en-US" sz="1200" b="1" dirty="0">
                <a:solidFill>
                  <a:srgbClr val="1C7293"/>
                </a:solidFill>
                <a:latin typeface="Courier New" pitchFamily="34" charset="0"/>
                <a:ea typeface="Courier New" pitchFamily="34" charset="-122"/>
                <a:cs typeface="Courier New" pitchFamily="34" charset="-120"/>
              </a:rPr>
              <a:t>Amount</a:t>
            </a:r>
            <a:endParaRPr lang="en-US" sz="1200" dirty="0"/>
          </a:p>
        </p:txBody>
      </p:sp>
      <p:sp>
        <p:nvSpPr>
          <p:cNvPr id="21" name="Text 19"/>
          <p:cNvSpPr/>
          <p:nvPr/>
        </p:nvSpPr>
        <p:spPr>
          <a:xfrm>
            <a:off x="8321040" y="4809744"/>
            <a:ext cx="3017520" cy="320040"/>
          </a:xfrm>
          <a:prstGeom prst="rect">
            <a:avLst/>
          </a:prstGeom>
          <a:noFill/>
          <a:ln/>
        </p:spPr>
        <p:txBody>
          <a:bodyPr wrap="square" lIns="0" tIns="0" rIns="0" bIns="0" rtlCol="0" anchor="ctr"/>
          <a:lstStyle/>
          <a:p>
            <a:pPr indent="0" marL="0">
              <a:buNone/>
            </a:pPr>
            <a:r>
              <a:rPr lang="en-US" sz="1150" dirty="0">
                <a:solidFill>
                  <a:srgbClr val="5A6B7D"/>
                </a:solidFill>
                <a:latin typeface="Calibri" pitchFamily="34" charset="0"/>
                <a:ea typeface="Calibri" pitchFamily="34" charset="-122"/>
                <a:cs typeface="Calibri" pitchFamily="34" charset="-120"/>
              </a:rPr>
              <a:t>transaction value, 0 to 25,691.16</a:t>
            </a:r>
            <a:endParaRPr lang="en-US" sz="1150" dirty="0"/>
          </a:p>
        </p:txBody>
      </p:sp>
      <p:sp>
        <p:nvSpPr>
          <p:cNvPr id="22" name="Text 20"/>
          <p:cNvSpPr/>
          <p:nvPr/>
        </p:nvSpPr>
        <p:spPr>
          <a:xfrm>
            <a:off x="6720840" y="5376672"/>
            <a:ext cx="1554480" cy="320040"/>
          </a:xfrm>
          <a:prstGeom prst="rect">
            <a:avLst/>
          </a:prstGeom>
          <a:noFill/>
          <a:ln/>
        </p:spPr>
        <p:txBody>
          <a:bodyPr wrap="square" lIns="0" tIns="0" rIns="0" bIns="0" rtlCol="0" anchor="ctr"/>
          <a:lstStyle/>
          <a:p>
            <a:pPr indent="0" marL="0">
              <a:buNone/>
            </a:pPr>
            <a:r>
              <a:rPr lang="en-US" sz="1200" b="1" dirty="0">
                <a:solidFill>
                  <a:srgbClr val="C81E3C"/>
                </a:solidFill>
                <a:latin typeface="Courier New" pitchFamily="34" charset="0"/>
                <a:ea typeface="Courier New" pitchFamily="34" charset="-122"/>
                <a:cs typeface="Courier New" pitchFamily="34" charset="-120"/>
              </a:rPr>
              <a:t>Class</a:t>
            </a:r>
            <a:endParaRPr lang="en-US" sz="1200" dirty="0"/>
          </a:p>
        </p:txBody>
      </p:sp>
      <p:sp>
        <p:nvSpPr>
          <p:cNvPr id="23" name="Text 21"/>
          <p:cNvSpPr/>
          <p:nvPr/>
        </p:nvSpPr>
        <p:spPr>
          <a:xfrm>
            <a:off x="8321040" y="5376672"/>
            <a:ext cx="3017520" cy="320040"/>
          </a:xfrm>
          <a:prstGeom prst="rect">
            <a:avLst/>
          </a:prstGeom>
          <a:noFill/>
          <a:ln/>
        </p:spPr>
        <p:txBody>
          <a:bodyPr wrap="square" lIns="0" tIns="0" rIns="0" bIns="0" rtlCol="0" anchor="ctr"/>
          <a:lstStyle/>
          <a:p>
            <a:pPr indent="0" marL="0">
              <a:buNone/>
            </a:pPr>
            <a:r>
              <a:rPr lang="en-US" sz="1150" dirty="0">
                <a:solidFill>
                  <a:srgbClr val="5A6B7D"/>
                </a:solidFill>
                <a:latin typeface="Calibri" pitchFamily="34" charset="0"/>
                <a:ea typeface="Calibri" pitchFamily="34" charset="-122"/>
                <a:cs typeface="Calibri" pitchFamily="34" charset="-120"/>
              </a:rPr>
              <a:t>the label — never sent to /predict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595360" cy="731520"/>
          </a:xfrm>
          <a:prstGeom prst="rect">
            <a:avLst/>
          </a:prstGeom>
          <a:noFill/>
          <a:ln/>
        </p:spPr>
        <p:txBody>
          <a:bodyPr wrap="square" lIns="0" tIns="0" rIns="0" bIns="0" rtlCol="0" anchor="ctr"/>
          <a:lstStyle/>
          <a:p>
            <a:pPr algn="l" indent="0" marL="0">
              <a:buNone/>
            </a:pPr>
            <a:r>
              <a:rPr lang="en-US" sz="3400" b="1" dirty="0">
                <a:solidFill>
                  <a:srgbClr val="10233F"/>
                </a:solidFill>
                <a:latin typeface="Cambria" pitchFamily="34" charset="0"/>
                <a:ea typeface="Cambria" pitchFamily="34" charset="-122"/>
                <a:cs typeface="Cambria" pitchFamily="34" charset="-120"/>
              </a:rPr>
              <a:t>Phase 1 recap: DVC pipeline + MLflow</a:t>
            </a:r>
            <a:endParaRPr lang="en-US" sz="3400" dirty="0"/>
          </a:p>
        </p:txBody>
      </p:sp>
      <p:sp>
        <p:nvSpPr>
          <p:cNvPr id="3" name="Shape 1"/>
          <p:cNvSpPr/>
          <p:nvPr/>
        </p:nvSpPr>
        <p:spPr>
          <a:xfrm>
            <a:off x="9464040" y="457200"/>
            <a:ext cx="2194560" cy="420624"/>
          </a:xfrm>
          <a:prstGeom prst="roundRect">
            <a:avLst>
              <a:gd name="adj" fmla="val 47826"/>
            </a:avLst>
          </a:prstGeom>
          <a:solidFill>
            <a:srgbClr val="F2F5F9"/>
          </a:solidFill>
          <a:ln w="12700">
            <a:solidFill>
              <a:srgbClr val="F2F5F9"/>
            </a:solidFill>
            <a:prstDash val="solid"/>
          </a:ln>
        </p:spPr>
      </p:sp>
      <p:sp>
        <p:nvSpPr>
          <p:cNvPr id="4" name="Text 2"/>
          <p:cNvSpPr/>
          <p:nvPr/>
        </p:nvSpPr>
        <p:spPr>
          <a:xfrm>
            <a:off x="9464040" y="457200"/>
            <a:ext cx="2194560" cy="42062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Abdulraouf</a:t>
            </a:r>
            <a:endParaRPr lang="en-US" sz="1100" dirty="0"/>
          </a:p>
        </p:txBody>
      </p:sp>
      <p:sp>
        <p:nvSpPr>
          <p:cNvPr id="5" name="Shape 3"/>
          <p:cNvSpPr/>
          <p:nvPr/>
        </p:nvSpPr>
        <p:spPr>
          <a:xfrm>
            <a:off x="685800" y="1325880"/>
            <a:ext cx="3383280" cy="1600200"/>
          </a:xfrm>
          <a:prstGeom prst="roundRect">
            <a:avLst>
              <a:gd name="adj" fmla="val 5143"/>
            </a:avLst>
          </a:prstGeom>
          <a:solidFill>
            <a:srgbClr val="F2F5F9"/>
          </a:solidFill>
          <a:ln w="12700">
            <a:solidFill>
              <a:srgbClr val="F2F5F9"/>
            </a:solidFill>
            <a:prstDash val="solid"/>
          </a:ln>
        </p:spPr>
      </p:sp>
      <p:sp>
        <p:nvSpPr>
          <p:cNvPr id="6" name="Shape 4"/>
          <p:cNvSpPr/>
          <p:nvPr/>
        </p:nvSpPr>
        <p:spPr>
          <a:xfrm>
            <a:off x="941832" y="1554480"/>
            <a:ext cx="457200" cy="457200"/>
          </a:xfrm>
          <a:prstGeom prst="ellipse">
            <a:avLst/>
          </a:prstGeom>
          <a:solidFill>
            <a:srgbClr val="1C7293"/>
          </a:solidFill>
          <a:ln w="12700">
            <a:solidFill>
              <a:srgbClr val="1C7293"/>
            </a:solidFill>
            <a:prstDash val="solid"/>
          </a:ln>
        </p:spPr>
      </p:sp>
      <p:sp>
        <p:nvSpPr>
          <p:cNvPr id="7" name="Text 5"/>
          <p:cNvSpPr/>
          <p:nvPr/>
        </p:nvSpPr>
        <p:spPr>
          <a:xfrm>
            <a:off x="941832" y="15544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508760" y="1536192"/>
            <a:ext cx="2377440" cy="384048"/>
          </a:xfrm>
          <a:prstGeom prst="rect">
            <a:avLst/>
          </a:prstGeom>
          <a:noFill/>
          <a:ln/>
        </p:spPr>
        <p:txBody>
          <a:bodyPr wrap="square" lIns="0" tIns="0" rIns="0" bIns="0" rtlCol="0" anchor="ctr"/>
          <a:lstStyle/>
          <a:p>
            <a:pPr indent="0" marL="0">
              <a:buNone/>
            </a:pPr>
            <a:r>
              <a:rPr lang="en-US" sz="1500" b="1" dirty="0">
                <a:solidFill>
                  <a:srgbClr val="10233F"/>
                </a:solidFill>
                <a:latin typeface="Courier New" pitchFamily="34" charset="0"/>
                <a:ea typeface="Courier New" pitchFamily="34" charset="-122"/>
                <a:cs typeface="Courier New" pitchFamily="34" charset="-120"/>
              </a:rPr>
              <a:t>prepare</a:t>
            </a:r>
            <a:endParaRPr lang="en-US" sz="1500" dirty="0"/>
          </a:p>
        </p:txBody>
      </p:sp>
      <p:sp>
        <p:nvSpPr>
          <p:cNvPr id="9" name="Text 7"/>
          <p:cNvSpPr/>
          <p:nvPr/>
        </p:nvSpPr>
        <p:spPr>
          <a:xfrm>
            <a:off x="941832" y="2057400"/>
            <a:ext cx="2880360" cy="777240"/>
          </a:xfrm>
          <a:prstGeom prst="rect">
            <a:avLst/>
          </a:prstGeom>
          <a:noFill/>
          <a:ln/>
        </p:spPr>
        <p:txBody>
          <a:bodyPr wrap="square" lIns="0" tIns="0" rIns="0" bIns="0" rtlCol="0" anchor="t"/>
          <a:lstStyle/>
          <a:p>
            <a:pPr indent="0" marL="0">
              <a:buNone/>
            </a:pPr>
            <a:r>
              <a:rPr lang="en-US" sz="1150" dirty="0">
                <a:solidFill>
                  <a:srgbClr val="5A6B7D"/>
                </a:solidFill>
                <a:latin typeface="Calibri" pitchFamily="34" charset="0"/>
                <a:ea typeface="Calibri" pitchFamily="34" charset="-122"/>
                <a:cs typeface="Calibri" pitchFamily="34" charset="-120"/>
              </a:rPr>
              <a:t>quality report, drop 1,081 duplicates, stratified 80/20 split</a:t>
            </a:r>
            <a:endParaRPr lang="en-US" sz="1150" dirty="0"/>
          </a:p>
        </p:txBody>
      </p:sp>
      <p:sp>
        <p:nvSpPr>
          <p:cNvPr id="10" name="Text 8"/>
          <p:cNvSpPr/>
          <p:nvPr/>
        </p:nvSpPr>
        <p:spPr>
          <a:xfrm>
            <a:off x="4087368" y="1828800"/>
            <a:ext cx="274320" cy="365760"/>
          </a:xfrm>
          <a:prstGeom prst="rect">
            <a:avLst/>
          </a:prstGeom>
          <a:noFill/>
          <a:ln/>
        </p:spPr>
        <p:txBody>
          <a:bodyPr wrap="square" lIns="0" tIns="0" rIns="0" bIns="0"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4361688" y="1325880"/>
            <a:ext cx="3383280" cy="1600200"/>
          </a:xfrm>
          <a:prstGeom prst="roundRect">
            <a:avLst>
              <a:gd name="adj" fmla="val 5143"/>
            </a:avLst>
          </a:prstGeom>
          <a:solidFill>
            <a:srgbClr val="F2F5F9"/>
          </a:solidFill>
          <a:ln w="12700">
            <a:solidFill>
              <a:srgbClr val="F2F5F9"/>
            </a:solidFill>
            <a:prstDash val="solid"/>
          </a:ln>
        </p:spPr>
      </p:sp>
      <p:sp>
        <p:nvSpPr>
          <p:cNvPr id="12" name="Shape 10"/>
          <p:cNvSpPr/>
          <p:nvPr/>
        </p:nvSpPr>
        <p:spPr>
          <a:xfrm>
            <a:off x="4617720" y="1554480"/>
            <a:ext cx="457200" cy="457200"/>
          </a:xfrm>
          <a:prstGeom prst="ellipse">
            <a:avLst/>
          </a:prstGeom>
          <a:solidFill>
            <a:srgbClr val="1C7293"/>
          </a:solidFill>
          <a:ln w="12700">
            <a:solidFill>
              <a:srgbClr val="1C7293"/>
            </a:solidFill>
            <a:prstDash val="solid"/>
          </a:ln>
        </p:spPr>
      </p:sp>
      <p:sp>
        <p:nvSpPr>
          <p:cNvPr id="13" name="Text 11"/>
          <p:cNvSpPr/>
          <p:nvPr/>
        </p:nvSpPr>
        <p:spPr>
          <a:xfrm>
            <a:off x="4617720" y="15544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5184648" y="1536192"/>
            <a:ext cx="2377440" cy="384048"/>
          </a:xfrm>
          <a:prstGeom prst="rect">
            <a:avLst/>
          </a:prstGeom>
          <a:noFill/>
          <a:ln/>
        </p:spPr>
        <p:txBody>
          <a:bodyPr wrap="square" lIns="0" tIns="0" rIns="0" bIns="0" rtlCol="0" anchor="ctr"/>
          <a:lstStyle/>
          <a:p>
            <a:pPr indent="0" marL="0">
              <a:buNone/>
            </a:pPr>
            <a:r>
              <a:rPr lang="en-US" sz="1500" b="1" dirty="0">
                <a:solidFill>
                  <a:srgbClr val="10233F"/>
                </a:solidFill>
                <a:latin typeface="Courier New" pitchFamily="34" charset="0"/>
                <a:ea typeface="Courier New" pitchFamily="34" charset="-122"/>
                <a:cs typeface="Courier New" pitchFamily="34" charset="-120"/>
              </a:rPr>
              <a:t>train</a:t>
            </a:r>
            <a:endParaRPr lang="en-US" sz="1500" dirty="0"/>
          </a:p>
        </p:txBody>
      </p:sp>
      <p:sp>
        <p:nvSpPr>
          <p:cNvPr id="15" name="Text 13"/>
          <p:cNvSpPr/>
          <p:nvPr/>
        </p:nvSpPr>
        <p:spPr>
          <a:xfrm>
            <a:off x="4617720" y="2057400"/>
            <a:ext cx="2880360" cy="777240"/>
          </a:xfrm>
          <a:prstGeom prst="rect">
            <a:avLst/>
          </a:prstGeom>
          <a:noFill/>
          <a:ln/>
        </p:spPr>
        <p:txBody>
          <a:bodyPr wrap="square" lIns="0" tIns="0" rIns="0" bIns="0" rtlCol="0" anchor="t"/>
          <a:lstStyle/>
          <a:p>
            <a:pPr indent="0" marL="0">
              <a:buNone/>
            </a:pPr>
            <a:r>
              <a:rPr lang="en-US" sz="1150" dirty="0">
                <a:solidFill>
                  <a:srgbClr val="5A6B7D"/>
                </a:solidFill>
                <a:latin typeface="Calibri" pitchFamily="34" charset="0"/>
                <a:ea typeface="Calibri" pitchFamily="34" charset="-122"/>
                <a:cs typeface="Calibri" pitchFamily="34" charset="-120"/>
              </a:rPr>
              <a:t>scale Time and Amount inside the pipeline, then RandomForest</a:t>
            </a:r>
            <a:endParaRPr lang="en-US" sz="1150" dirty="0"/>
          </a:p>
        </p:txBody>
      </p:sp>
      <p:sp>
        <p:nvSpPr>
          <p:cNvPr id="16" name="Text 14"/>
          <p:cNvSpPr/>
          <p:nvPr/>
        </p:nvSpPr>
        <p:spPr>
          <a:xfrm>
            <a:off x="7763256" y="1828800"/>
            <a:ext cx="274320" cy="365760"/>
          </a:xfrm>
          <a:prstGeom prst="rect">
            <a:avLst/>
          </a:prstGeom>
          <a:noFill/>
          <a:ln/>
        </p:spPr>
        <p:txBody>
          <a:bodyPr wrap="square" lIns="0" tIns="0" rIns="0" bIns="0"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8037576" y="1325880"/>
            <a:ext cx="3383280" cy="1600200"/>
          </a:xfrm>
          <a:prstGeom prst="roundRect">
            <a:avLst>
              <a:gd name="adj" fmla="val 5143"/>
            </a:avLst>
          </a:prstGeom>
          <a:solidFill>
            <a:srgbClr val="F2F5F9"/>
          </a:solidFill>
          <a:ln w="12700">
            <a:solidFill>
              <a:srgbClr val="F2F5F9"/>
            </a:solidFill>
            <a:prstDash val="solid"/>
          </a:ln>
        </p:spPr>
      </p:sp>
      <p:sp>
        <p:nvSpPr>
          <p:cNvPr id="18" name="Shape 16"/>
          <p:cNvSpPr/>
          <p:nvPr/>
        </p:nvSpPr>
        <p:spPr>
          <a:xfrm>
            <a:off x="8293608" y="1554480"/>
            <a:ext cx="457200" cy="457200"/>
          </a:xfrm>
          <a:prstGeom prst="ellipse">
            <a:avLst/>
          </a:prstGeom>
          <a:solidFill>
            <a:srgbClr val="1C7293"/>
          </a:solidFill>
          <a:ln w="12700">
            <a:solidFill>
              <a:srgbClr val="1C7293"/>
            </a:solidFill>
            <a:prstDash val="solid"/>
          </a:ln>
        </p:spPr>
      </p:sp>
      <p:sp>
        <p:nvSpPr>
          <p:cNvPr id="19" name="Text 17"/>
          <p:cNvSpPr/>
          <p:nvPr/>
        </p:nvSpPr>
        <p:spPr>
          <a:xfrm>
            <a:off x="8293608" y="15544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8860536" y="1536192"/>
            <a:ext cx="2377440" cy="384048"/>
          </a:xfrm>
          <a:prstGeom prst="rect">
            <a:avLst/>
          </a:prstGeom>
          <a:noFill/>
          <a:ln/>
        </p:spPr>
        <p:txBody>
          <a:bodyPr wrap="square" lIns="0" tIns="0" rIns="0" bIns="0" rtlCol="0" anchor="ctr"/>
          <a:lstStyle/>
          <a:p>
            <a:pPr indent="0" marL="0">
              <a:buNone/>
            </a:pPr>
            <a:r>
              <a:rPr lang="en-US" sz="1500" b="1" dirty="0">
                <a:solidFill>
                  <a:srgbClr val="10233F"/>
                </a:solidFill>
                <a:latin typeface="Courier New" pitchFamily="34" charset="0"/>
                <a:ea typeface="Courier New" pitchFamily="34" charset="-122"/>
                <a:cs typeface="Courier New" pitchFamily="34" charset="-120"/>
              </a:rPr>
              <a:t>evaluate</a:t>
            </a:r>
            <a:endParaRPr lang="en-US" sz="1500" dirty="0"/>
          </a:p>
        </p:txBody>
      </p:sp>
      <p:sp>
        <p:nvSpPr>
          <p:cNvPr id="21" name="Text 19"/>
          <p:cNvSpPr/>
          <p:nvPr/>
        </p:nvSpPr>
        <p:spPr>
          <a:xfrm>
            <a:off x="8293608" y="2057400"/>
            <a:ext cx="2880360" cy="777240"/>
          </a:xfrm>
          <a:prstGeom prst="rect">
            <a:avLst/>
          </a:prstGeom>
          <a:noFill/>
          <a:ln/>
        </p:spPr>
        <p:txBody>
          <a:bodyPr wrap="square" lIns="0" tIns="0" rIns="0" bIns="0" rtlCol="0" anchor="t"/>
          <a:lstStyle/>
          <a:p>
            <a:pPr indent="0" marL="0">
              <a:buNone/>
            </a:pPr>
            <a:r>
              <a:rPr lang="en-US" sz="1150" dirty="0">
                <a:solidFill>
                  <a:srgbClr val="5A6B7D"/>
                </a:solidFill>
                <a:latin typeface="Calibri" pitchFamily="34" charset="0"/>
                <a:ea typeface="Calibri" pitchFamily="34" charset="-122"/>
                <a:cs typeface="Calibri" pitchFamily="34" charset="-120"/>
              </a:rPr>
              <a:t>imbalance-aware metrics on the held-out 56,746 rows</a:t>
            </a:r>
            <a:endParaRPr lang="en-US" sz="1150" dirty="0"/>
          </a:p>
        </p:txBody>
      </p:sp>
      <p:sp>
        <p:nvSpPr>
          <p:cNvPr id="22" name="Shape 20"/>
          <p:cNvSpPr/>
          <p:nvPr/>
        </p:nvSpPr>
        <p:spPr>
          <a:xfrm>
            <a:off x="685800" y="3154680"/>
            <a:ext cx="5669280" cy="2971800"/>
          </a:xfrm>
          <a:prstGeom prst="roundRect">
            <a:avLst>
              <a:gd name="adj" fmla="val 2769"/>
            </a:avLst>
          </a:prstGeom>
          <a:solidFill>
            <a:srgbClr val="F2F5F9"/>
          </a:solidFill>
          <a:ln w="12700">
            <a:solidFill>
              <a:srgbClr val="F2F5F9"/>
            </a:solidFill>
            <a:prstDash val="solid"/>
          </a:ln>
        </p:spPr>
      </p:sp>
      <p:sp>
        <p:nvSpPr>
          <p:cNvPr id="23" name="Text 21"/>
          <p:cNvSpPr/>
          <p:nvPr/>
        </p:nvSpPr>
        <p:spPr>
          <a:xfrm>
            <a:off x="960120" y="3337560"/>
            <a:ext cx="5120640" cy="320040"/>
          </a:xfrm>
          <a:prstGeom prst="rect">
            <a:avLst/>
          </a:prstGeom>
          <a:noFill/>
          <a:ln/>
        </p:spPr>
        <p:txBody>
          <a:bodyPr wrap="square" lIns="0" tIns="0" rIns="0" bIns="0" rtlCol="0" anchor="ctr"/>
          <a:lstStyle/>
          <a:p>
            <a:pPr indent="0" marL="0">
              <a:buNone/>
            </a:pPr>
            <a:r>
              <a:rPr lang="en-US" sz="1500" b="1" dirty="0">
                <a:solidFill>
                  <a:srgbClr val="17222E"/>
                </a:solidFill>
                <a:latin typeface="Calibri" pitchFamily="34" charset="0"/>
                <a:ea typeface="Calibri" pitchFamily="34" charset="-122"/>
                <a:cs typeface="Calibri" pitchFamily="34" charset="-120"/>
              </a:rPr>
              <a:t>Baseline on the held-out test set</a:t>
            </a:r>
            <a:endParaRPr lang="en-US" sz="1500" dirty="0"/>
          </a:p>
        </p:txBody>
      </p:sp>
      <p:sp>
        <p:nvSpPr>
          <p:cNvPr id="24" name="Text 22"/>
          <p:cNvSpPr/>
          <p:nvPr/>
        </p:nvSpPr>
        <p:spPr>
          <a:xfrm>
            <a:off x="960120" y="3767328"/>
            <a:ext cx="2011680" cy="347472"/>
          </a:xfrm>
          <a:prstGeom prst="rect">
            <a:avLst/>
          </a:prstGeom>
          <a:noFill/>
          <a:ln/>
        </p:spPr>
        <p:txBody>
          <a:bodyPr wrap="square" lIns="0" tIns="0" rIns="0" bIns="0" rtlCol="0" anchor="ctr"/>
          <a:lstStyle/>
          <a:p>
            <a:pPr indent="0" marL="0">
              <a:buNone/>
            </a:pPr>
            <a:r>
              <a:rPr lang="en-US" sz="1250" dirty="0">
                <a:solidFill>
                  <a:srgbClr val="5A6B7D"/>
                </a:solidFill>
                <a:latin typeface="Calibri" pitchFamily="34" charset="0"/>
                <a:ea typeface="Calibri" pitchFamily="34" charset="-122"/>
                <a:cs typeface="Calibri" pitchFamily="34" charset="-120"/>
              </a:rPr>
              <a:t>Precision</a:t>
            </a:r>
            <a:endParaRPr lang="en-US" sz="1250" dirty="0"/>
          </a:p>
        </p:txBody>
      </p:sp>
      <p:sp>
        <p:nvSpPr>
          <p:cNvPr id="25" name="Text 23"/>
          <p:cNvSpPr/>
          <p:nvPr/>
        </p:nvSpPr>
        <p:spPr>
          <a:xfrm>
            <a:off x="2926080" y="3767328"/>
            <a:ext cx="1188720" cy="347472"/>
          </a:xfrm>
          <a:prstGeom prst="rect">
            <a:avLst/>
          </a:prstGeom>
          <a:noFill/>
          <a:ln/>
        </p:spPr>
        <p:txBody>
          <a:bodyPr wrap="square" lIns="0" tIns="0" rIns="0" bIns="0" rtlCol="0" anchor="ctr"/>
          <a:lstStyle/>
          <a:p>
            <a:pPr indent="0" marL="0">
              <a:buNone/>
            </a:pPr>
            <a:r>
              <a:rPr lang="en-US" sz="1300" b="1" dirty="0">
                <a:solidFill>
                  <a:srgbClr val="10233F"/>
                </a:solidFill>
                <a:latin typeface="Courier New" pitchFamily="34" charset="0"/>
                <a:ea typeface="Courier New" pitchFamily="34" charset="-122"/>
                <a:cs typeface="Courier New" pitchFamily="34" charset="-120"/>
              </a:rPr>
              <a:t>0.8846</a:t>
            </a:r>
            <a:endParaRPr lang="en-US" sz="1300" dirty="0"/>
          </a:p>
        </p:txBody>
      </p:sp>
      <p:sp>
        <p:nvSpPr>
          <p:cNvPr id="26" name="Shape 24"/>
          <p:cNvSpPr/>
          <p:nvPr/>
        </p:nvSpPr>
        <p:spPr>
          <a:xfrm>
            <a:off x="4251960" y="3886200"/>
            <a:ext cx="1577313" cy="118872"/>
          </a:xfrm>
          <a:prstGeom prst="rect">
            <a:avLst/>
          </a:prstGeom>
          <a:solidFill>
            <a:srgbClr val="1C7293"/>
          </a:solidFill>
          <a:ln w="12700">
            <a:solidFill>
              <a:srgbClr val="1C7293"/>
            </a:solidFill>
            <a:prstDash val="solid"/>
          </a:ln>
        </p:spPr>
      </p:sp>
      <p:sp>
        <p:nvSpPr>
          <p:cNvPr id="27" name="Text 25"/>
          <p:cNvSpPr/>
          <p:nvPr/>
        </p:nvSpPr>
        <p:spPr>
          <a:xfrm>
            <a:off x="960120" y="4197096"/>
            <a:ext cx="2011680" cy="347472"/>
          </a:xfrm>
          <a:prstGeom prst="rect">
            <a:avLst/>
          </a:prstGeom>
          <a:noFill/>
          <a:ln/>
        </p:spPr>
        <p:txBody>
          <a:bodyPr wrap="square" lIns="0" tIns="0" rIns="0" bIns="0" rtlCol="0" anchor="ctr"/>
          <a:lstStyle/>
          <a:p>
            <a:pPr indent="0" marL="0">
              <a:buNone/>
            </a:pPr>
            <a:r>
              <a:rPr lang="en-US" sz="1250" dirty="0">
                <a:solidFill>
                  <a:srgbClr val="5A6B7D"/>
                </a:solidFill>
                <a:latin typeface="Calibri" pitchFamily="34" charset="0"/>
                <a:ea typeface="Calibri" pitchFamily="34" charset="-122"/>
                <a:cs typeface="Calibri" pitchFamily="34" charset="-120"/>
              </a:rPr>
              <a:t>Recall</a:t>
            </a:r>
            <a:endParaRPr lang="en-US" sz="1250" dirty="0"/>
          </a:p>
        </p:txBody>
      </p:sp>
      <p:sp>
        <p:nvSpPr>
          <p:cNvPr id="28" name="Text 26"/>
          <p:cNvSpPr/>
          <p:nvPr/>
        </p:nvSpPr>
        <p:spPr>
          <a:xfrm>
            <a:off x="2926080" y="4197096"/>
            <a:ext cx="1188720" cy="347472"/>
          </a:xfrm>
          <a:prstGeom prst="rect">
            <a:avLst/>
          </a:prstGeom>
          <a:noFill/>
          <a:ln/>
        </p:spPr>
        <p:txBody>
          <a:bodyPr wrap="square" lIns="0" tIns="0" rIns="0" bIns="0" rtlCol="0" anchor="ctr"/>
          <a:lstStyle/>
          <a:p>
            <a:pPr indent="0" marL="0">
              <a:buNone/>
            </a:pPr>
            <a:r>
              <a:rPr lang="en-US" sz="1300" b="1" dirty="0">
                <a:solidFill>
                  <a:srgbClr val="10233F"/>
                </a:solidFill>
                <a:latin typeface="Courier New" pitchFamily="34" charset="0"/>
                <a:ea typeface="Courier New" pitchFamily="34" charset="-122"/>
                <a:cs typeface="Courier New" pitchFamily="34" charset="-120"/>
              </a:rPr>
              <a:t>0.7263</a:t>
            </a:r>
            <a:endParaRPr lang="en-US" sz="1300" dirty="0"/>
          </a:p>
        </p:txBody>
      </p:sp>
      <p:sp>
        <p:nvSpPr>
          <p:cNvPr id="29" name="Shape 27"/>
          <p:cNvSpPr/>
          <p:nvPr/>
        </p:nvSpPr>
        <p:spPr>
          <a:xfrm>
            <a:off x="4251960" y="4315968"/>
            <a:ext cx="1295051" cy="118872"/>
          </a:xfrm>
          <a:prstGeom prst="rect">
            <a:avLst/>
          </a:prstGeom>
          <a:solidFill>
            <a:srgbClr val="C81E3C"/>
          </a:solidFill>
          <a:ln w="12700">
            <a:solidFill>
              <a:srgbClr val="C81E3C"/>
            </a:solidFill>
            <a:prstDash val="solid"/>
          </a:ln>
        </p:spPr>
      </p:sp>
      <p:sp>
        <p:nvSpPr>
          <p:cNvPr id="30" name="Text 28"/>
          <p:cNvSpPr/>
          <p:nvPr/>
        </p:nvSpPr>
        <p:spPr>
          <a:xfrm>
            <a:off x="960120" y="4626864"/>
            <a:ext cx="2011680" cy="347472"/>
          </a:xfrm>
          <a:prstGeom prst="rect">
            <a:avLst/>
          </a:prstGeom>
          <a:noFill/>
          <a:ln/>
        </p:spPr>
        <p:txBody>
          <a:bodyPr wrap="square" lIns="0" tIns="0" rIns="0" bIns="0" rtlCol="0" anchor="ctr"/>
          <a:lstStyle/>
          <a:p>
            <a:pPr indent="0" marL="0">
              <a:buNone/>
            </a:pPr>
            <a:r>
              <a:rPr lang="en-US" sz="1250" dirty="0">
                <a:solidFill>
                  <a:srgbClr val="5A6B7D"/>
                </a:solidFill>
                <a:latin typeface="Calibri" pitchFamily="34" charset="0"/>
                <a:ea typeface="Calibri" pitchFamily="34" charset="-122"/>
                <a:cs typeface="Calibri" pitchFamily="34" charset="-120"/>
              </a:rPr>
              <a:t>F1</a:t>
            </a:r>
            <a:endParaRPr lang="en-US" sz="1250" dirty="0"/>
          </a:p>
        </p:txBody>
      </p:sp>
      <p:sp>
        <p:nvSpPr>
          <p:cNvPr id="31" name="Text 29"/>
          <p:cNvSpPr/>
          <p:nvPr/>
        </p:nvSpPr>
        <p:spPr>
          <a:xfrm>
            <a:off x="2926080" y="4626864"/>
            <a:ext cx="1188720" cy="347472"/>
          </a:xfrm>
          <a:prstGeom prst="rect">
            <a:avLst/>
          </a:prstGeom>
          <a:noFill/>
          <a:ln/>
        </p:spPr>
        <p:txBody>
          <a:bodyPr wrap="square" lIns="0" tIns="0" rIns="0" bIns="0" rtlCol="0" anchor="ctr"/>
          <a:lstStyle/>
          <a:p>
            <a:pPr indent="0" marL="0">
              <a:buNone/>
            </a:pPr>
            <a:r>
              <a:rPr lang="en-US" sz="1300" b="1" dirty="0">
                <a:solidFill>
                  <a:srgbClr val="10233F"/>
                </a:solidFill>
                <a:latin typeface="Courier New" pitchFamily="34" charset="0"/>
                <a:ea typeface="Courier New" pitchFamily="34" charset="-122"/>
                <a:cs typeface="Courier New" pitchFamily="34" charset="-120"/>
              </a:rPr>
              <a:t>0.7977</a:t>
            </a:r>
            <a:endParaRPr lang="en-US" sz="1300" dirty="0"/>
          </a:p>
        </p:txBody>
      </p:sp>
      <p:sp>
        <p:nvSpPr>
          <p:cNvPr id="32" name="Shape 30"/>
          <p:cNvSpPr/>
          <p:nvPr/>
        </p:nvSpPr>
        <p:spPr>
          <a:xfrm>
            <a:off x="4251960" y="4745736"/>
            <a:ext cx="1422363" cy="118872"/>
          </a:xfrm>
          <a:prstGeom prst="rect">
            <a:avLst/>
          </a:prstGeom>
          <a:solidFill>
            <a:srgbClr val="1C7293"/>
          </a:solidFill>
          <a:ln w="12700">
            <a:solidFill>
              <a:srgbClr val="1C7293"/>
            </a:solidFill>
            <a:prstDash val="solid"/>
          </a:ln>
        </p:spPr>
      </p:sp>
      <p:sp>
        <p:nvSpPr>
          <p:cNvPr id="33" name="Text 31"/>
          <p:cNvSpPr/>
          <p:nvPr/>
        </p:nvSpPr>
        <p:spPr>
          <a:xfrm>
            <a:off x="960120" y="5056632"/>
            <a:ext cx="2011680" cy="347472"/>
          </a:xfrm>
          <a:prstGeom prst="rect">
            <a:avLst/>
          </a:prstGeom>
          <a:noFill/>
          <a:ln/>
        </p:spPr>
        <p:txBody>
          <a:bodyPr wrap="square" lIns="0" tIns="0" rIns="0" bIns="0" rtlCol="0" anchor="ctr"/>
          <a:lstStyle/>
          <a:p>
            <a:pPr indent="0" marL="0">
              <a:buNone/>
            </a:pPr>
            <a:r>
              <a:rPr lang="en-US" sz="1250" dirty="0">
                <a:solidFill>
                  <a:srgbClr val="5A6B7D"/>
                </a:solidFill>
                <a:latin typeface="Calibri" pitchFamily="34" charset="0"/>
                <a:ea typeface="Calibri" pitchFamily="34" charset="-122"/>
                <a:cs typeface="Calibri" pitchFamily="34" charset="-120"/>
              </a:rPr>
              <a:t>ROC-AUC</a:t>
            </a:r>
            <a:endParaRPr lang="en-US" sz="1250" dirty="0"/>
          </a:p>
        </p:txBody>
      </p:sp>
      <p:sp>
        <p:nvSpPr>
          <p:cNvPr id="34" name="Text 32"/>
          <p:cNvSpPr/>
          <p:nvPr/>
        </p:nvSpPr>
        <p:spPr>
          <a:xfrm>
            <a:off x="2926080" y="5056632"/>
            <a:ext cx="1188720" cy="347472"/>
          </a:xfrm>
          <a:prstGeom prst="rect">
            <a:avLst/>
          </a:prstGeom>
          <a:noFill/>
          <a:ln/>
        </p:spPr>
        <p:txBody>
          <a:bodyPr wrap="square" lIns="0" tIns="0" rIns="0" bIns="0" rtlCol="0" anchor="ctr"/>
          <a:lstStyle/>
          <a:p>
            <a:pPr indent="0" marL="0">
              <a:buNone/>
            </a:pPr>
            <a:r>
              <a:rPr lang="en-US" sz="1300" b="1" dirty="0">
                <a:solidFill>
                  <a:srgbClr val="10233F"/>
                </a:solidFill>
                <a:latin typeface="Courier New" pitchFamily="34" charset="0"/>
                <a:ea typeface="Courier New" pitchFamily="34" charset="-122"/>
                <a:cs typeface="Courier New" pitchFamily="34" charset="-120"/>
              </a:rPr>
              <a:t>0.9567</a:t>
            </a:r>
            <a:endParaRPr lang="en-US" sz="1300" dirty="0"/>
          </a:p>
        </p:txBody>
      </p:sp>
      <p:sp>
        <p:nvSpPr>
          <p:cNvPr id="35" name="Shape 33"/>
          <p:cNvSpPr/>
          <p:nvPr/>
        </p:nvSpPr>
        <p:spPr>
          <a:xfrm>
            <a:off x="4251960" y="5175504"/>
            <a:ext cx="1705873" cy="118872"/>
          </a:xfrm>
          <a:prstGeom prst="rect">
            <a:avLst/>
          </a:prstGeom>
          <a:solidFill>
            <a:srgbClr val="1C7293"/>
          </a:solidFill>
          <a:ln w="12700">
            <a:solidFill>
              <a:srgbClr val="1C7293"/>
            </a:solidFill>
            <a:prstDash val="solid"/>
          </a:ln>
        </p:spPr>
      </p:sp>
      <p:sp>
        <p:nvSpPr>
          <p:cNvPr id="36" name="Text 34"/>
          <p:cNvSpPr/>
          <p:nvPr/>
        </p:nvSpPr>
        <p:spPr>
          <a:xfrm>
            <a:off x="960120" y="5486400"/>
            <a:ext cx="2011680" cy="347472"/>
          </a:xfrm>
          <a:prstGeom prst="rect">
            <a:avLst/>
          </a:prstGeom>
          <a:noFill/>
          <a:ln/>
        </p:spPr>
        <p:txBody>
          <a:bodyPr wrap="square" lIns="0" tIns="0" rIns="0" bIns="0" rtlCol="0" anchor="ctr"/>
          <a:lstStyle/>
          <a:p>
            <a:pPr indent="0" marL="0">
              <a:buNone/>
            </a:pPr>
            <a:r>
              <a:rPr lang="en-US" sz="1250" dirty="0">
                <a:solidFill>
                  <a:srgbClr val="5A6B7D"/>
                </a:solidFill>
                <a:latin typeface="Calibri" pitchFamily="34" charset="0"/>
                <a:ea typeface="Calibri" pitchFamily="34" charset="-122"/>
                <a:cs typeface="Calibri" pitchFamily="34" charset="-120"/>
              </a:rPr>
              <a:t>PR-AUC</a:t>
            </a:r>
            <a:endParaRPr lang="en-US" sz="1250" dirty="0"/>
          </a:p>
        </p:txBody>
      </p:sp>
      <p:sp>
        <p:nvSpPr>
          <p:cNvPr id="37" name="Text 35"/>
          <p:cNvSpPr/>
          <p:nvPr/>
        </p:nvSpPr>
        <p:spPr>
          <a:xfrm>
            <a:off x="2926080" y="5486400"/>
            <a:ext cx="1188720" cy="347472"/>
          </a:xfrm>
          <a:prstGeom prst="rect">
            <a:avLst/>
          </a:prstGeom>
          <a:noFill/>
          <a:ln/>
        </p:spPr>
        <p:txBody>
          <a:bodyPr wrap="square" lIns="0" tIns="0" rIns="0" bIns="0" rtlCol="0" anchor="ctr"/>
          <a:lstStyle/>
          <a:p>
            <a:pPr indent="0" marL="0">
              <a:buNone/>
            </a:pPr>
            <a:r>
              <a:rPr lang="en-US" sz="1300" b="1" dirty="0">
                <a:solidFill>
                  <a:srgbClr val="10233F"/>
                </a:solidFill>
                <a:latin typeface="Courier New" pitchFamily="34" charset="0"/>
                <a:ea typeface="Courier New" pitchFamily="34" charset="-122"/>
                <a:cs typeface="Courier New" pitchFamily="34" charset="-120"/>
              </a:rPr>
              <a:t>0.7854</a:t>
            </a:r>
            <a:endParaRPr lang="en-US" sz="1300" dirty="0"/>
          </a:p>
        </p:txBody>
      </p:sp>
      <p:sp>
        <p:nvSpPr>
          <p:cNvPr id="38" name="Shape 36"/>
          <p:cNvSpPr/>
          <p:nvPr/>
        </p:nvSpPr>
        <p:spPr>
          <a:xfrm>
            <a:off x="4251960" y="5605272"/>
            <a:ext cx="1400431" cy="118872"/>
          </a:xfrm>
          <a:prstGeom prst="rect">
            <a:avLst/>
          </a:prstGeom>
          <a:solidFill>
            <a:srgbClr val="1C7293"/>
          </a:solidFill>
          <a:ln w="12700">
            <a:solidFill>
              <a:srgbClr val="1C7293"/>
            </a:solidFill>
            <a:prstDash val="solid"/>
          </a:ln>
        </p:spPr>
      </p:sp>
      <p:sp>
        <p:nvSpPr>
          <p:cNvPr id="39" name="Shape 37"/>
          <p:cNvSpPr/>
          <p:nvPr/>
        </p:nvSpPr>
        <p:spPr>
          <a:xfrm>
            <a:off x="6720840" y="3154680"/>
            <a:ext cx="4800600" cy="2971800"/>
          </a:xfrm>
          <a:prstGeom prst="roundRect">
            <a:avLst>
              <a:gd name="adj" fmla="val 2769"/>
            </a:avLst>
          </a:prstGeom>
          <a:solidFill>
            <a:srgbClr val="F2F5F9"/>
          </a:solidFill>
          <a:ln w="12700">
            <a:solidFill>
              <a:srgbClr val="F2F5F9"/>
            </a:solidFill>
            <a:prstDash val="solid"/>
          </a:ln>
        </p:spPr>
      </p:sp>
      <p:sp>
        <p:nvSpPr>
          <p:cNvPr id="40" name="Text 38"/>
          <p:cNvSpPr/>
          <p:nvPr/>
        </p:nvSpPr>
        <p:spPr>
          <a:xfrm>
            <a:off x="6995160" y="3337560"/>
            <a:ext cx="4251960" cy="320040"/>
          </a:xfrm>
          <a:prstGeom prst="rect">
            <a:avLst/>
          </a:prstGeom>
          <a:noFill/>
          <a:ln/>
        </p:spPr>
        <p:txBody>
          <a:bodyPr wrap="square" lIns="0" tIns="0" rIns="0" bIns="0" rtlCol="0" anchor="ctr"/>
          <a:lstStyle/>
          <a:p>
            <a:pPr indent="0" marL="0">
              <a:buNone/>
            </a:pPr>
            <a:r>
              <a:rPr lang="en-US" sz="1500" b="1" dirty="0">
                <a:solidFill>
                  <a:srgbClr val="17222E"/>
                </a:solidFill>
                <a:latin typeface="Calibri" pitchFamily="34" charset="0"/>
                <a:ea typeface="Calibri" pitchFamily="34" charset="-122"/>
                <a:cs typeface="Calibri" pitchFamily="34" charset="-120"/>
              </a:rPr>
              <a:t>Tracked, not remembered</a:t>
            </a:r>
            <a:endParaRPr lang="en-US" sz="1500" dirty="0"/>
          </a:p>
        </p:txBody>
      </p:sp>
      <p:sp>
        <p:nvSpPr>
          <p:cNvPr id="41" name="Shape 39"/>
          <p:cNvSpPr/>
          <p:nvPr/>
        </p:nvSpPr>
        <p:spPr>
          <a:xfrm>
            <a:off x="6995160" y="3803904"/>
            <a:ext cx="420624" cy="420624"/>
          </a:xfrm>
          <a:prstGeom prst="ellipse">
            <a:avLst/>
          </a:prstGeom>
          <a:solidFill>
            <a:srgbClr val="1C7293"/>
          </a:solidFill>
          <a:ln w="12700">
            <a:solidFill>
              <a:srgbClr val="1C7293"/>
            </a:solidFill>
            <a:prstDash val="solid"/>
          </a:ln>
        </p:spPr>
      </p:sp>
      <p:sp>
        <p:nvSpPr>
          <p:cNvPr id="42" name="Text 40"/>
          <p:cNvSpPr/>
          <p:nvPr/>
        </p:nvSpPr>
        <p:spPr>
          <a:xfrm>
            <a:off x="6995160" y="380390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43" name="Text 41"/>
          <p:cNvSpPr/>
          <p:nvPr/>
        </p:nvSpPr>
        <p:spPr>
          <a:xfrm>
            <a:off x="7598664" y="3767328"/>
            <a:ext cx="3648456" cy="274320"/>
          </a:xfrm>
          <a:prstGeom prst="rect">
            <a:avLst/>
          </a:prstGeom>
          <a:noFill/>
          <a:ln/>
        </p:spPr>
        <p:txBody>
          <a:bodyPr wrap="square" lIns="0" tIns="0" rIns="0" bIns="0" rtlCol="0" anchor="ctr"/>
          <a:lstStyle/>
          <a:p>
            <a:pPr indent="0" marL="0">
              <a:buNone/>
            </a:pPr>
            <a:r>
              <a:rPr lang="en-US" sz="1400" b="1" dirty="0">
                <a:solidFill>
                  <a:srgbClr val="17222E"/>
                </a:solidFill>
                <a:latin typeface="Calibri" pitchFamily="34" charset="0"/>
                <a:ea typeface="Calibri" pitchFamily="34" charset="-122"/>
                <a:cs typeface="Calibri" pitchFamily="34" charset="-120"/>
              </a:rPr>
              <a:t>DVC</a:t>
            </a:r>
            <a:endParaRPr lang="en-US" sz="1400" dirty="0"/>
          </a:p>
        </p:txBody>
      </p:sp>
      <p:sp>
        <p:nvSpPr>
          <p:cNvPr id="44" name="Text 42"/>
          <p:cNvSpPr/>
          <p:nvPr/>
        </p:nvSpPr>
        <p:spPr>
          <a:xfrm>
            <a:off x="7598664" y="4032504"/>
            <a:ext cx="3648456" cy="384048"/>
          </a:xfrm>
          <a:prstGeom prst="rect">
            <a:avLst/>
          </a:prstGeom>
          <a:noFill/>
          <a:ln/>
        </p:spPr>
        <p:txBody>
          <a:bodyPr wrap="square" lIns="0" tIns="0" rIns="0" bIns="0" rtlCol="0" anchor="t"/>
          <a:lstStyle/>
          <a:p>
            <a:pPr indent="0" marL="0">
              <a:buNone/>
            </a:pPr>
            <a:r>
              <a:rPr lang="en-US" sz="1150" dirty="0">
                <a:solidFill>
                  <a:srgbClr val="5A6B7D"/>
                </a:solidFill>
                <a:latin typeface="Calibri" pitchFamily="34" charset="0"/>
                <a:ea typeface="Calibri" pitchFamily="34" charset="-122"/>
                <a:cs typeface="Calibri" pitchFamily="34" charset="-120"/>
              </a:rPr>
              <a:t>dvc.yaml wires the three stages; dvc.lock pins data, code and model hashes.</a:t>
            </a:r>
            <a:endParaRPr lang="en-US" sz="1150" dirty="0"/>
          </a:p>
        </p:txBody>
      </p:sp>
      <p:sp>
        <p:nvSpPr>
          <p:cNvPr id="45" name="Shape 43"/>
          <p:cNvSpPr/>
          <p:nvPr/>
        </p:nvSpPr>
        <p:spPr>
          <a:xfrm>
            <a:off x="6995160" y="4562856"/>
            <a:ext cx="420624" cy="420624"/>
          </a:xfrm>
          <a:prstGeom prst="ellipse">
            <a:avLst/>
          </a:prstGeom>
          <a:solidFill>
            <a:srgbClr val="C81E3C"/>
          </a:solidFill>
          <a:ln w="12700">
            <a:solidFill>
              <a:srgbClr val="C81E3C"/>
            </a:solidFill>
            <a:prstDash val="solid"/>
          </a:ln>
        </p:spPr>
      </p:sp>
      <p:sp>
        <p:nvSpPr>
          <p:cNvPr id="46" name="Text 44"/>
          <p:cNvSpPr/>
          <p:nvPr/>
        </p:nvSpPr>
        <p:spPr>
          <a:xfrm>
            <a:off x="6995160" y="45628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
            </a:r>
            <a:endParaRPr lang="en-US" sz="1200" dirty="0"/>
          </a:p>
        </p:txBody>
      </p:sp>
      <p:sp>
        <p:nvSpPr>
          <p:cNvPr id="47" name="Text 45"/>
          <p:cNvSpPr/>
          <p:nvPr/>
        </p:nvSpPr>
        <p:spPr>
          <a:xfrm>
            <a:off x="7598664" y="4526280"/>
            <a:ext cx="3648456" cy="274320"/>
          </a:xfrm>
          <a:prstGeom prst="rect">
            <a:avLst/>
          </a:prstGeom>
          <a:noFill/>
          <a:ln/>
        </p:spPr>
        <p:txBody>
          <a:bodyPr wrap="square" lIns="0" tIns="0" rIns="0" bIns="0" rtlCol="0" anchor="ctr"/>
          <a:lstStyle/>
          <a:p>
            <a:pPr indent="0" marL="0">
              <a:buNone/>
            </a:pPr>
            <a:r>
              <a:rPr lang="en-US" sz="1400" b="1" dirty="0">
                <a:solidFill>
                  <a:srgbClr val="17222E"/>
                </a:solidFill>
                <a:latin typeface="Calibri" pitchFamily="34" charset="0"/>
                <a:ea typeface="Calibri" pitchFamily="34" charset="-122"/>
                <a:cs typeface="Calibri" pitchFamily="34" charset="-120"/>
              </a:rPr>
              <a:t>MLflow</a:t>
            </a:r>
            <a:endParaRPr lang="en-US" sz="1400" dirty="0"/>
          </a:p>
        </p:txBody>
      </p:sp>
      <p:sp>
        <p:nvSpPr>
          <p:cNvPr id="48" name="Text 46"/>
          <p:cNvSpPr/>
          <p:nvPr/>
        </p:nvSpPr>
        <p:spPr>
          <a:xfrm>
            <a:off x="7598664" y="4791456"/>
            <a:ext cx="3648456" cy="384048"/>
          </a:xfrm>
          <a:prstGeom prst="rect">
            <a:avLst/>
          </a:prstGeom>
          <a:noFill/>
          <a:ln/>
        </p:spPr>
        <p:txBody>
          <a:bodyPr wrap="square" lIns="0" tIns="0" rIns="0" bIns="0" rtlCol="0" anchor="t"/>
          <a:lstStyle/>
          <a:p>
            <a:pPr indent="0" marL="0">
              <a:buNone/>
            </a:pPr>
            <a:r>
              <a:rPr lang="en-US" sz="1150" dirty="0">
                <a:solidFill>
                  <a:srgbClr val="5A6B7D"/>
                </a:solidFill>
                <a:latin typeface="Calibri" pitchFamily="34" charset="0"/>
                <a:ea typeface="Calibri" pitchFamily="34" charset="-122"/>
                <a:cs typeface="Calibri" pitchFamily="34" charset="-120"/>
              </a:rPr>
              <a:t>Baseline plus two experiments, logged to a local SQLite store.</a:t>
            </a:r>
            <a:endParaRPr lang="en-US" sz="1150" dirty="0"/>
          </a:p>
        </p:txBody>
      </p:sp>
      <p:sp>
        <p:nvSpPr>
          <p:cNvPr id="49" name="Shape 47"/>
          <p:cNvSpPr/>
          <p:nvPr/>
        </p:nvSpPr>
        <p:spPr>
          <a:xfrm>
            <a:off x="6995160" y="5321808"/>
            <a:ext cx="420624" cy="420624"/>
          </a:xfrm>
          <a:prstGeom prst="ellipse">
            <a:avLst/>
          </a:prstGeom>
          <a:solidFill>
            <a:srgbClr val="1E7A50"/>
          </a:solidFill>
          <a:ln w="12700">
            <a:solidFill>
              <a:srgbClr val="1E7A50"/>
            </a:solidFill>
            <a:prstDash val="solid"/>
          </a:ln>
        </p:spPr>
      </p:sp>
      <p:sp>
        <p:nvSpPr>
          <p:cNvPr id="50" name="Text 48"/>
          <p:cNvSpPr/>
          <p:nvPr/>
        </p:nvSpPr>
        <p:spPr>
          <a:xfrm>
            <a:off x="6995160" y="532180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t>
            </a:r>
            <a:endParaRPr lang="en-US" sz="1200" dirty="0"/>
          </a:p>
        </p:txBody>
      </p:sp>
      <p:sp>
        <p:nvSpPr>
          <p:cNvPr id="51" name="Text 49"/>
          <p:cNvSpPr/>
          <p:nvPr/>
        </p:nvSpPr>
        <p:spPr>
          <a:xfrm>
            <a:off x="7598664" y="5285232"/>
            <a:ext cx="3648456" cy="274320"/>
          </a:xfrm>
          <a:prstGeom prst="rect">
            <a:avLst/>
          </a:prstGeom>
          <a:noFill/>
          <a:ln/>
        </p:spPr>
        <p:txBody>
          <a:bodyPr wrap="square" lIns="0" tIns="0" rIns="0" bIns="0" rtlCol="0" anchor="ctr"/>
          <a:lstStyle/>
          <a:p>
            <a:pPr indent="0" marL="0">
              <a:buNone/>
            </a:pPr>
            <a:r>
              <a:rPr lang="en-US" sz="1400" b="1" dirty="0">
                <a:solidFill>
                  <a:srgbClr val="17222E"/>
                </a:solidFill>
                <a:latin typeface="Calibri" pitchFamily="34" charset="0"/>
                <a:ea typeface="Calibri" pitchFamily="34" charset="-122"/>
                <a:cs typeface="Calibri" pitchFamily="34" charset="-120"/>
              </a:rPr>
              <a:t>params.yaml</a:t>
            </a:r>
            <a:endParaRPr lang="en-US" sz="1400" dirty="0"/>
          </a:p>
        </p:txBody>
      </p:sp>
      <p:sp>
        <p:nvSpPr>
          <p:cNvPr id="52" name="Text 50"/>
          <p:cNvSpPr/>
          <p:nvPr/>
        </p:nvSpPr>
        <p:spPr>
          <a:xfrm>
            <a:off x="7598664" y="5550408"/>
            <a:ext cx="3648456" cy="384048"/>
          </a:xfrm>
          <a:prstGeom prst="rect">
            <a:avLst/>
          </a:prstGeom>
          <a:noFill/>
          <a:ln/>
        </p:spPr>
        <p:txBody>
          <a:bodyPr wrap="square" lIns="0" tIns="0" rIns="0" bIns="0" rtlCol="0" anchor="t"/>
          <a:lstStyle/>
          <a:p>
            <a:pPr indent="0" marL="0">
              <a:buNone/>
            </a:pPr>
            <a:r>
              <a:rPr lang="en-US" sz="1150" dirty="0">
                <a:solidFill>
                  <a:srgbClr val="5A6B7D"/>
                </a:solidFill>
                <a:latin typeface="Calibri" pitchFamily="34" charset="0"/>
                <a:ea typeface="Calibri" pitchFamily="34" charset="-122"/>
                <a:cs typeface="Calibri" pitchFamily="34" charset="-120"/>
              </a:rPr>
              <a:t>One config file feeds every stage, so a change re-runs only what it affects.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595360" cy="731520"/>
          </a:xfrm>
          <a:prstGeom prst="rect">
            <a:avLst/>
          </a:prstGeom>
          <a:noFill/>
          <a:ln/>
        </p:spPr>
        <p:txBody>
          <a:bodyPr wrap="square" lIns="0" tIns="0" rIns="0" bIns="0" rtlCol="0" anchor="ctr"/>
          <a:lstStyle/>
          <a:p>
            <a:pPr algn="l" indent="0" marL="0">
              <a:buNone/>
            </a:pPr>
            <a:r>
              <a:rPr lang="en-US" sz="3400" b="1" dirty="0">
                <a:solidFill>
                  <a:srgbClr val="10233F"/>
                </a:solidFill>
                <a:latin typeface="Cambria" pitchFamily="34" charset="0"/>
                <a:ea typeface="Cambria" pitchFamily="34" charset="-122"/>
                <a:cs typeface="Cambria" pitchFamily="34" charset="-120"/>
              </a:rPr>
              <a:t>What Phase 2 added</a:t>
            </a:r>
            <a:endParaRPr lang="en-US" sz="3400" dirty="0"/>
          </a:p>
        </p:txBody>
      </p:sp>
      <p:sp>
        <p:nvSpPr>
          <p:cNvPr id="3" name="Shape 1"/>
          <p:cNvSpPr/>
          <p:nvPr/>
        </p:nvSpPr>
        <p:spPr>
          <a:xfrm>
            <a:off x="9464040" y="457200"/>
            <a:ext cx="2194560" cy="420624"/>
          </a:xfrm>
          <a:prstGeom prst="roundRect">
            <a:avLst>
              <a:gd name="adj" fmla="val 47826"/>
            </a:avLst>
          </a:prstGeom>
          <a:solidFill>
            <a:srgbClr val="F2F5F9"/>
          </a:solidFill>
          <a:ln w="12700">
            <a:solidFill>
              <a:srgbClr val="F2F5F9"/>
            </a:solidFill>
            <a:prstDash val="solid"/>
          </a:ln>
        </p:spPr>
      </p:sp>
      <p:sp>
        <p:nvSpPr>
          <p:cNvPr id="4" name="Text 2"/>
          <p:cNvSpPr/>
          <p:nvPr/>
        </p:nvSpPr>
        <p:spPr>
          <a:xfrm>
            <a:off x="9464040" y="457200"/>
            <a:ext cx="2194560" cy="42062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Mohamed</a:t>
            </a:r>
            <a:endParaRPr lang="en-US" sz="1100" dirty="0"/>
          </a:p>
        </p:txBody>
      </p:sp>
      <p:pic>
        <p:nvPicPr>
          <p:cNvPr id="5" name="Image 0" descr="/sessions/focused-compassionate-galileo/mnt/mlops-creditcard/docs/architecture_phase2.png">    </p:cNvPr>
          <p:cNvPicPr>
            <a:picLocks noChangeAspect="1"/>
          </p:cNvPicPr>
          <p:nvPr/>
        </p:nvPicPr>
        <p:blipFill>
          <a:blip r:embed="rId1"/>
          <a:srcRect l="0" r="0" t="0" b="0"/>
          <a:stretch/>
        </p:blipFill>
        <p:spPr>
          <a:xfrm>
            <a:off x="566928" y="1170432"/>
            <a:ext cx="11064240" cy="5074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595360" cy="731520"/>
          </a:xfrm>
          <a:prstGeom prst="rect">
            <a:avLst/>
          </a:prstGeom>
          <a:noFill/>
          <a:ln/>
        </p:spPr>
        <p:txBody>
          <a:bodyPr wrap="square" lIns="0" tIns="0" rIns="0" bIns="0" rtlCol="0" anchor="ctr"/>
          <a:lstStyle/>
          <a:p>
            <a:pPr algn="l" indent="0" marL="0">
              <a:buNone/>
            </a:pPr>
            <a:r>
              <a:rPr lang="en-US" sz="3400" b="1" dirty="0">
                <a:solidFill>
                  <a:srgbClr val="10233F"/>
                </a:solidFill>
                <a:latin typeface="Cambria" pitchFamily="34" charset="0"/>
                <a:ea typeface="Cambria" pitchFamily="34" charset="-122"/>
                <a:cs typeface="Cambria" pitchFamily="34" charset="-120"/>
              </a:rPr>
              <a:t>Serving the real model with FastAPI</a:t>
            </a:r>
            <a:endParaRPr lang="en-US" sz="3400" dirty="0"/>
          </a:p>
        </p:txBody>
      </p:sp>
      <p:sp>
        <p:nvSpPr>
          <p:cNvPr id="3" name="Shape 1"/>
          <p:cNvSpPr/>
          <p:nvPr/>
        </p:nvSpPr>
        <p:spPr>
          <a:xfrm>
            <a:off x="9464040" y="457200"/>
            <a:ext cx="2194560" cy="420624"/>
          </a:xfrm>
          <a:prstGeom prst="roundRect">
            <a:avLst>
              <a:gd name="adj" fmla="val 47826"/>
            </a:avLst>
          </a:prstGeom>
          <a:solidFill>
            <a:srgbClr val="F2F5F9"/>
          </a:solidFill>
          <a:ln w="12700">
            <a:solidFill>
              <a:srgbClr val="F2F5F9"/>
            </a:solidFill>
            <a:prstDash val="solid"/>
          </a:ln>
        </p:spPr>
      </p:sp>
      <p:sp>
        <p:nvSpPr>
          <p:cNvPr id="4" name="Text 2"/>
          <p:cNvSpPr/>
          <p:nvPr/>
        </p:nvSpPr>
        <p:spPr>
          <a:xfrm>
            <a:off x="9464040" y="457200"/>
            <a:ext cx="2194560" cy="42062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Abdulraouf</a:t>
            </a:r>
            <a:endParaRPr lang="en-US" sz="1100" dirty="0"/>
          </a:p>
        </p:txBody>
      </p:sp>
      <p:sp>
        <p:nvSpPr>
          <p:cNvPr id="5" name="Shape 3"/>
          <p:cNvSpPr/>
          <p:nvPr/>
        </p:nvSpPr>
        <p:spPr>
          <a:xfrm>
            <a:off x="685800" y="1280160"/>
            <a:ext cx="5349240" cy="3063240"/>
          </a:xfrm>
          <a:prstGeom prst="roundRect">
            <a:avLst>
              <a:gd name="adj" fmla="val 2687"/>
            </a:avLst>
          </a:prstGeom>
          <a:solidFill>
            <a:srgbClr val="F2F5F9"/>
          </a:solidFill>
          <a:ln w="12700">
            <a:solidFill>
              <a:srgbClr val="F2F5F9"/>
            </a:solidFill>
            <a:prstDash val="solid"/>
          </a:ln>
        </p:spPr>
      </p:sp>
      <p:sp>
        <p:nvSpPr>
          <p:cNvPr id="6" name="Text 4"/>
          <p:cNvSpPr/>
          <p:nvPr/>
        </p:nvSpPr>
        <p:spPr>
          <a:xfrm>
            <a:off x="932688" y="1481328"/>
            <a:ext cx="1508760" cy="365760"/>
          </a:xfrm>
          <a:prstGeom prst="rect">
            <a:avLst/>
          </a:prstGeom>
          <a:noFill/>
          <a:ln/>
        </p:spPr>
        <p:txBody>
          <a:bodyPr wrap="square" lIns="0" tIns="0" rIns="0" bIns="0" rtlCol="0" anchor="ctr"/>
          <a:lstStyle/>
          <a:p>
            <a:pPr indent="0" marL="0">
              <a:buNone/>
            </a:pPr>
            <a:r>
              <a:rPr lang="en-US" sz="1250" b="1" dirty="0">
                <a:solidFill>
                  <a:srgbClr val="1C7293"/>
                </a:solidFill>
                <a:latin typeface="Courier New" pitchFamily="34" charset="0"/>
                <a:ea typeface="Courier New" pitchFamily="34" charset="-122"/>
                <a:cs typeface="Courier New" pitchFamily="34" charset="-120"/>
              </a:rPr>
              <a:t>/</a:t>
            </a:r>
            <a:endParaRPr lang="en-US" sz="1250" dirty="0"/>
          </a:p>
        </p:txBody>
      </p:sp>
      <p:sp>
        <p:nvSpPr>
          <p:cNvPr id="7" name="Text 5"/>
          <p:cNvSpPr/>
          <p:nvPr/>
        </p:nvSpPr>
        <p:spPr>
          <a:xfrm>
            <a:off x="2487168" y="1481328"/>
            <a:ext cx="3337560" cy="365760"/>
          </a:xfrm>
          <a:prstGeom prst="rect">
            <a:avLst/>
          </a:prstGeom>
          <a:noFill/>
          <a:ln/>
        </p:spPr>
        <p:txBody>
          <a:bodyPr wrap="square" lIns="0" tIns="0" rIns="0" bIns="0" rtlCol="0" anchor="ctr"/>
          <a:lstStyle/>
          <a:p>
            <a:pPr indent="0" marL="0">
              <a:buNone/>
            </a:pPr>
            <a:r>
              <a:rPr lang="en-US" sz="1100" dirty="0">
                <a:solidFill>
                  <a:srgbClr val="5A6B7D"/>
                </a:solidFill>
                <a:latin typeface="Calibri" pitchFamily="34" charset="0"/>
                <a:ea typeface="Calibri" pitchFamily="34" charset="-122"/>
                <a:cs typeface="Calibri" pitchFamily="34" charset="-120"/>
              </a:rPr>
              <a:t>what this service is</a:t>
            </a:r>
            <a:endParaRPr lang="en-US" sz="1100" dirty="0"/>
          </a:p>
        </p:txBody>
      </p:sp>
      <p:sp>
        <p:nvSpPr>
          <p:cNvPr id="8" name="Text 6"/>
          <p:cNvSpPr/>
          <p:nvPr/>
        </p:nvSpPr>
        <p:spPr>
          <a:xfrm>
            <a:off x="932688" y="2048256"/>
            <a:ext cx="1508760" cy="365760"/>
          </a:xfrm>
          <a:prstGeom prst="rect">
            <a:avLst/>
          </a:prstGeom>
          <a:noFill/>
          <a:ln/>
        </p:spPr>
        <p:txBody>
          <a:bodyPr wrap="square" lIns="0" tIns="0" rIns="0" bIns="0" rtlCol="0" anchor="ctr"/>
          <a:lstStyle/>
          <a:p>
            <a:pPr indent="0" marL="0">
              <a:buNone/>
            </a:pPr>
            <a:r>
              <a:rPr lang="en-US" sz="1250" b="1" dirty="0">
                <a:solidFill>
                  <a:srgbClr val="1C7293"/>
                </a:solidFill>
                <a:latin typeface="Courier New" pitchFamily="34" charset="0"/>
                <a:ea typeface="Courier New" pitchFamily="34" charset="-122"/>
                <a:cs typeface="Courier New" pitchFamily="34" charset="-120"/>
              </a:rPr>
              <a:t>/health</a:t>
            </a:r>
            <a:endParaRPr lang="en-US" sz="1250" dirty="0"/>
          </a:p>
        </p:txBody>
      </p:sp>
      <p:sp>
        <p:nvSpPr>
          <p:cNvPr id="9" name="Text 7"/>
          <p:cNvSpPr/>
          <p:nvPr/>
        </p:nvSpPr>
        <p:spPr>
          <a:xfrm>
            <a:off x="2487168" y="2048256"/>
            <a:ext cx="3337560" cy="365760"/>
          </a:xfrm>
          <a:prstGeom prst="rect">
            <a:avLst/>
          </a:prstGeom>
          <a:noFill/>
          <a:ln/>
        </p:spPr>
        <p:txBody>
          <a:bodyPr wrap="square" lIns="0" tIns="0" rIns="0" bIns="0" rtlCol="0" anchor="ctr"/>
          <a:lstStyle/>
          <a:p>
            <a:pPr indent="0" marL="0">
              <a:buNone/>
            </a:pPr>
            <a:r>
              <a:rPr lang="en-US" sz="1100" dirty="0">
                <a:solidFill>
                  <a:srgbClr val="5A6B7D"/>
                </a:solidFill>
                <a:latin typeface="Calibri" pitchFamily="34" charset="0"/>
                <a:ea typeface="Calibri" pitchFamily="34" charset="-122"/>
                <a:cs typeface="Calibri" pitchFamily="34" charset="-120"/>
              </a:rPr>
              <a:t>200 only when the model is really loaded, 503 otherwise</a:t>
            </a:r>
            <a:endParaRPr lang="en-US" sz="1100" dirty="0"/>
          </a:p>
        </p:txBody>
      </p:sp>
      <p:sp>
        <p:nvSpPr>
          <p:cNvPr id="10" name="Text 8"/>
          <p:cNvSpPr/>
          <p:nvPr/>
        </p:nvSpPr>
        <p:spPr>
          <a:xfrm>
            <a:off x="932688" y="2615184"/>
            <a:ext cx="1508760" cy="365760"/>
          </a:xfrm>
          <a:prstGeom prst="rect">
            <a:avLst/>
          </a:prstGeom>
          <a:noFill/>
          <a:ln/>
        </p:spPr>
        <p:txBody>
          <a:bodyPr wrap="square" lIns="0" tIns="0" rIns="0" bIns="0" rtlCol="0" anchor="ctr"/>
          <a:lstStyle/>
          <a:p>
            <a:pPr indent="0" marL="0">
              <a:buNone/>
            </a:pPr>
            <a:r>
              <a:rPr lang="en-US" sz="1250" b="1" dirty="0">
                <a:solidFill>
                  <a:srgbClr val="1C7293"/>
                </a:solidFill>
                <a:latin typeface="Courier New" pitchFamily="34" charset="0"/>
                <a:ea typeface="Courier New" pitchFamily="34" charset="-122"/>
                <a:cs typeface="Courier New" pitchFamily="34" charset="-120"/>
              </a:rPr>
              <a:t>/model-info</a:t>
            </a:r>
            <a:endParaRPr lang="en-US" sz="1250" dirty="0"/>
          </a:p>
        </p:txBody>
      </p:sp>
      <p:sp>
        <p:nvSpPr>
          <p:cNvPr id="11" name="Text 9"/>
          <p:cNvSpPr/>
          <p:nvPr/>
        </p:nvSpPr>
        <p:spPr>
          <a:xfrm>
            <a:off x="2487168" y="2615184"/>
            <a:ext cx="3337560" cy="365760"/>
          </a:xfrm>
          <a:prstGeom prst="rect">
            <a:avLst/>
          </a:prstGeom>
          <a:noFill/>
          <a:ln/>
        </p:spPr>
        <p:txBody>
          <a:bodyPr wrap="square" lIns="0" tIns="0" rIns="0" bIns="0" rtlCol="0" anchor="ctr"/>
          <a:lstStyle/>
          <a:p>
            <a:pPr indent="0" marL="0">
              <a:buNone/>
            </a:pPr>
            <a:r>
              <a:rPr lang="en-US" sz="1100" dirty="0">
                <a:solidFill>
                  <a:srgbClr val="5A6B7D"/>
                </a:solidFill>
                <a:latin typeface="Calibri" pitchFamily="34" charset="0"/>
                <a:ea typeface="Calibri" pitchFamily="34" charset="-122"/>
                <a:cs typeface="Calibri" pitchFamily="34" charset="-120"/>
              </a:rPr>
              <a:t>model type, 30 features, hyperparameters, artifact hash</a:t>
            </a:r>
            <a:endParaRPr lang="en-US" sz="1100" dirty="0"/>
          </a:p>
        </p:txBody>
      </p:sp>
      <p:sp>
        <p:nvSpPr>
          <p:cNvPr id="12" name="Text 10"/>
          <p:cNvSpPr/>
          <p:nvPr/>
        </p:nvSpPr>
        <p:spPr>
          <a:xfrm>
            <a:off x="932688" y="3182112"/>
            <a:ext cx="1508760" cy="365760"/>
          </a:xfrm>
          <a:prstGeom prst="rect">
            <a:avLst/>
          </a:prstGeom>
          <a:noFill/>
          <a:ln/>
        </p:spPr>
        <p:txBody>
          <a:bodyPr wrap="square" lIns="0" tIns="0" rIns="0" bIns="0" rtlCol="0" anchor="ctr"/>
          <a:lstStyle/>
          <a:p>
            <a:pPr indent="0" marL="0">
              <a:buNone/>
            </a:pPr>
            <a:r>
              <a:rPr lang="en-US" sz="1250" b="1" dirty="0">
                <a:solidFill>
                  <a:srgbClr val="1C7293"/>
                </a:solidFill>
                <a:latin typeface="Courier New" pitchFamily="34" charset="0"/>
                <a:ea typeface="Courier New" pitchFamily="34" charset="-122"/>
                <a:cs typeface="Courier New" pitchFamily="34" charset="-120"/>
              </a:rPr>
              <a:t>/predict</a:t>
            </a:r>
            <a:endParaRPr lang="en-US" sz="1250" dirty="0"/>
          </a:p>
        </p:txBody>
      </p:sp>
      <p:sp>
        <p:nvSpPr>
          <p:cNvPr id="13" name="Text 11"/>
          <p:cNvSpPr/>
          <p:nvPr/>
        </p:nvSpPr>
        <p:spPr>
          <a:xfrm>
            <a:off x="2487168" y="3182112"/>
            <a:ext cx="3337560" cy="365760"/>
          </a:xfrm>
          <a:prstGeom prst="rect">
            <a:avLst/>
          </a:prstGeom>
          <a:noFill/>
          <a:ln/>
        </p:spPr>
        <p:txBody>
          <a:bodyPr wrap="square" lIns="0" tIns="0" rIns="0" bIns="0" rtlCol="0" anchor="ctr"/>
          <a:lstStyle/>
          <a:p>
            <a:pPr indent="0" marL="0">
              <a:buNone/>
            </a:pPr>
            <a:r>
              <a:rPr lang="en-US" sz="1100" dirty="0">
                <a:solidFill>
                  <a:srgbClr val="5A6B7D"/>
                </a:solidFill>
                <a:latin typeface="Calibri" pitchFamily="34" charset="0"/>
                <a:ea typeface="Calibri" pitchFamily="34" charset="-122"/>
                <a:cs typeface="Calibri" pitchFamily="34" charset="-120"/>
              </a:rPr>
              <a:t>one transaction in, class and fraud probability out</a:t>
            </a:r>
            <a:endParaRPr lang="en-US" sz="1100" dirty="0"/>
          </a:p>
        </p:txBody>
      </p:sp>
      <p:sp>
        <p:nvSpPr>
          <p:cNvPr id="14" name="Text 12"/>
          <p:cNvSpPr/>
          <p:nvPr/>
        </p:nvSpPr>
        <p:spPr>
          <a:xfrm>
            <a:off x="932688" y="3749040"/>
            <a:ext cx="1508760" cy="365760"/>
          </a:xfrm>
          <a:prstGeom prst="rect">
            <a:avLst/>
          </a:prstGeom>
          <a:noFill/>
          <a:ln/>
        </p:spPr>
        <p:txBody>
          <a:bodyPr wrap="square" lIns="0" tIns="0" rIns="0" bIns="0" rtlCol="0" anchor="ctr"/>
          <a:lstStyle/>
          <a:p>
            <a:pPr indent="0" marL="0">
              <a:buNone/>
            </a:pPr>
            <a:r>
              <a:rPr lang="en-US" sz="1250" b="1" dirty="0">
                <a:solidFill>
                  <a:srgbClr val="1C7293"/>
                </a:solidFill>
                <a:latin typeface="Courier New" pitchFamily="34" charset="0"/>
                <a:ea typeface="Courier New" pitchFamily="34" charset="-122"/>
                <a:cs typeface="Courier New" pitchFamily="34" charset="-120"/>
              </a:rPr>
              <a:t>/docs</a:t>
            </a:r>
            <a:endParaRPr lang="en-US" sz="1250" dirty="0"/>
          </a:p>
        </p:txBody>
      </p:sp>
      <p:sp>
        <p:nvSpPr>
          <p:cNvPr id="15" name="Text 13"/>
          <p:cNvSpPr/>
          <p:nvPr/>
        </p:nvSpPr>
        <p:spPr>
          <a:xfrm>
            <a:off x="2487168" y="3749040"/>
            <a:ext cx="3337560" cy="365760"/>
          </a:xfrm>
          <a:prstGeom prst="rect">
            <a:avLst/>
          </a:prstGeom>
          <a:noFill/>
          <a:ln/>
        </p:spPr>
        <p:txBody>
          <a:bodyPr wrap="square" lIns="0" tIns="0" rIns="0" bIns="0" rtlCol="0" anchor="ctr"/>
          <a:lstStyle/>
          <a:p>
            <a:pPr indent="0" marL="0">
              <a:buNone/>
            </a:pPr>
            <a:r>
              <a:rPr lang="en-US" sz="1100" dirty="0">
                <a:solidFill>
                  <a:srgbClr val="5A6B7D"/>
                </a:solidFill>
                <a:latin typeface="Calibri" pitchFamily="34" charset="0"/>
                <a:ea typeface="Calibri" pitchFamily="34" charset="-122"/>
                <a:cs typeface="Calibri" pitchFamily="34" charset="-120"/>
              </a:rPr>
              <a:t>Swagger UI, generated from the Pydantic schema</a:t>
            </a:r>
            <a:endParaRPr lang="en-US" sz="1100" dirty="0"/>
          </a:p>
        </p:txBody>
      </p:sp>
      <p:sp>
        <p:nvSpPr>
          <p:cNvPr id="16" name="Shape 14"/>
          <p:cNvSpPr/>
          <p:nvPr/>
        </p:nvSpPr>
        <p:spPr>
          <a:xfrm>
            <a:off x="685800" y="4553712"/>
            <a:ext cx="5349240" cy="1572768"/>
          </a:xfrm>
          <a:prstGeom prst="roundRect">
            <a:avLst>
              <a:gd name="adj" fmla="val 5233"/>
            </a:avLst>
          </a:prstGeom>
          <a:solidFill>
            <a:srgbClr val="F2F5F9"/>
          </a:solidFill>
          <a:ln w="12700">
            <a:solidFill>
              <a:srgbClr val="F2F5F9"/>
            </a:solidFill>
            <a:prstDash val="solid"/>
          </a:ln>
        </p:spPr>
      </p:sp>
      <p:sp>
        <p:nvSpPr>
          <p:cNvPr id="17" name="Text 15"/>
          <p:cNvSpPr/>
          <p:nvPr/>
        </p:nvSpPr>
        <p:spPr>
          <a:xfrm>
            <a:off x="932688" y="4690872"/>
            <a:ext cx="4846320" cy="274320"/>
          </a:xfrm>
          <a:prstGeom prst="rect">
            <a:avLst/>
          </a:prstGeom>
          <a:noFill/>
          <a:ln/>
        </p:spPr>
        <p:txBody>
          <a:bodyPr wrap="square" lIns="0" tIns="0" rIns="0" bIns="0" rtlCol="0" anchor="ctr"/>
          <a:lstStyle/>
          <a:p>
            <a:pPr indent="0" marL="0">
              <a:buNone/>
            </a:pPr>
            <a:r>
              <a:rPr lang="en-US" sz="1350" b="1" dirty="0">
                <a:solidFill>
                  <a:srgbClr val="17222E"/>
                </a:solidFill>
                <a:latin typeface="Calibri" pitchFamily="34" charset="0"/>
                <a:ea typeface="Calibri" pitchFamily="34" charset="-122"/>
                <a:cs typeface="Calibri" pitchFamily="34" charset="-120"/>
              </a:rPr>
              <a:t>Two details that matter</a:t>
            </a:r>
            <a:endParaRPr lang="en-US" sz="1350" dirty="0"/>
          </a:p>
        </p:txBody>
      </p:sp>
      <p:sp>
        <p:nvSpPr>
          <p:cNvPr id="18" name="Text 16"/>
          <p:cNvSpPr/>
          <p:nvPr/>
        </p:nvSpPr>
        <p:spPr>
          <a:xfrm>
            <a:off x="932688" y="4992624"/>
            <a:ext cx="4846320" cy="10058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5A6B7D"/>
                </a:solidFill>
                <a:latin typeface="Calibri" pitchFamily="34" charset="0"/>
                <a:ea typeface="Calibri" pitchFamily="34" charset="-122"/>
                <a:cs typeface="Calibri" pitchFamily="34" charset="-120"/>
              </a:rPr>
              <a:t>The whole sklearn Pipeline is served, not just the forest — so scaling at inference is identical to training.</a:t>
            </a:r>
            <a:endParaRPr lang="en-US" sz="1100" dirty="0"/>
          </a:p>
          <a:p>
            <a:pPr marL="342900" indent="-342900">
              <a:spcAft>
                <a:spcPts val="600"/>
              </a:spcAft>
              <a:buSzPct val="100000"/>
              <a:buChar char="•"/>
            </a:pPr>
            <a:r>
              <a:rPr lang="en-US" sz="1100" dirty="0">
                <a:solidFill>
                  <a:srgbClr val="5A6B7D"/>
                </a:solidFill>
                <a:latin typeface="Calibri" pitchFamily="34" charset="0"/>
                <a:ea typeface="Calibri" pitchFamily="34" charset="-122"/>
                <a:cs typeface="Calibri" pitchFamily="34" charset="-120"/>
              </a:rPr>
              <a:t>The model is loaded once at startup, not per request.</a:t>
            </a:r>
            <a:endParaRPr lang="en-US" sz="1100" dirty="0"/>
          </a:p>
        </p:txBody>
      </p:sp>
      <p:sp>
        <p:nvSpPr>
          <p:cNvPr id="19" name="Shape 17"/>
          <p:cNvSpPr/>
          <p:nvPr/>
        </p:nvSpPr>
        <p:spPr>
          <a:xfrm>
            <a:off x="6400800" y="1280160"/>
            <a:ext cx="5120640" cy="4846320"/>
          </a:xfrm>
          <a:prstGeom prst="roundRect">
            <a:avLst>
              <a:gd name="adj" fmla="val 1698"/>
            </a:avLst>
          </a:prstGeom>
          <a:solidFill>
            <a:srgbClr val="10233F"/>
          </a:solidFill>
          <a:ln w="12700">
            <a:solidFill>
              <a:srgbClr val="10233F"/>
            </a:solidFill>
            <a:prstDash val="solid"/>
          </a:ln>
        </p:spPr>
      </p:sp>
      <p:sp>
        <p:nvSpPr>
          <p:cNvPr id="20" name="Text 18"/>
          <p:cNvSpPr/>
          <p:nvPr/>
        </p:nvSpPr>
        <p:spPr>
          <a:xfrm>
            <a:off x="6675120" y="1444752"/>
            <a:ext cx="4572000" cy="292608"/>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A real request against the deployed service</a:t>
            </a:r>
            <a:endParaRPr lang="en-US" sz="1250" dirty="0"/>
          </a:p>
        </p:txBody>
      </p:sp>
      <p:sp>
        <p:nvSpPr>
          <p:cNvPr id="21" name="Text 19"/>
          <p:cNvSpPr/>
          <p:nvPr/>
        </p:nvSpPr>
        <p:spPr>
          <a:xfrm>
            <a:off x="6675120" y="1810512"/>
            <a:ext cx="4572000" cy="1600200"/>
          </a:xfrm>
          <a:prstGeom prst="rect">
            <a:avLst/>
          </a:prstGeom>
          <a:noFill/>
          <a:ln/>
        </p:spPr>
        <p:txBody>
          <a:bodyPr wrap="square" lIns="0" tIns="0" rIns="0" bIns="0" rtlCol="0" anchor="t"/>
          <a:lstStyle/>
          <a:p>
            <a:pPr indent="0" marL="0">
              <a:lnSpc>
                <a:spcPts val="1500"/>
              </a:lnSpc>
              <a:buNone/>
            </a:pPr>
            <a:r>
              <a:rPr lang="en-US" sz="1100" dirty="0">
                <a:solidFill>
                  <a:srgbClr val="9FE8D6"/>
                </a:solidFill>
                <a:latin typeface="Courier New" pitchFamily="34" charset="0"/>
                <a:ea typeface="Courier New" pitchFamily="34" charset="-122"/>
                <a:cs typeface="Courier New" pitchFamily="34" charset="-120"/>
              </a:rPr>
              <a:t>POST /predict</a:t>
            </a:r>
            <a:endParaRPr lang="en-US" sz="1100" dirty="0"/>
          </a:p>
          <a:p>
            <a:pPr indent="0" marL="0">
              <a:lnSpc>
                <a:spcPts val="1500"/>
              </a:lnSpc>
              <a:buNone/>
            </a:pPr>
            <a:r>
              <a:rPr lang="en-US" sz="1100" dirty="0">
                <a:solidFill>
                  <a:srgbClr val="9FE8D6"/>
                </a:solidFill>
                <a:latin typeface="Courier New" pitchFamily="34" charset="0"/>
                <a:ea typeface="Courier New" pitchFamily="34" charset="-122"/>
                <a:cs typeface="Courier New" pitchFamily="34" charset="-120"/>
              </a:rPr>
              <a:t>{</a:t>
            </a:r>
            <a:endParaRPr lang="en-US" sz="1100" dirty="0"/>
          </a:p>
          <a:p>
            <a:pPr indent="0" marL="0">
              <a:lnSpc>
                <a:spcPts val="1500"/>
              </a:lnSpc>
              <a:buNone/>
            </a:pPr>
            <a:r>
              <a:rPr lang="en-US" sz="1100" dirty="0">
                <a:solidFill>
                  <a:srgbClr val="9FE8D6"/>
                </a:solidFill>
                <a:latin typeface="Courier New" pitchFamily="34" charset="0"/>
                <a:ea typeface="Courier New" pitchFamily="34" charset="-122"/>
                <a:cs typeface="Courier New" pitchFamily="34" charset="-120"/>
              </a:rPr>
              <a:t>  "Time": 406.0,</a:t>
            </a:r>
            <a:endParaRPr lang="en-US" sz="1100" dirty="0"/>
          </a:p>
          <a:p>
            <a:pPr indent="0" marL="0">
              <a:lnSpc>
                <a:spcPts val="1500"/>
              </a:lnSpc>
              <a:buNone/>
            </a:pPr>
            <a:r>
              <a:rPr lang="en-US" sz="1100" dirty="0">
                <a:solidFill>
                  <a:srgbClr val="9FE8D6"/>
                </a:solidFill>
                <a:latin typeface="Courier New" pitchFamily="34" charset="0"/>
                <a:ea typeface="Courier New" pitchFamily="34" charset="-122"/>
                <a:cs typeface="Courier New" pitchFamily="34" charset="-120"/>
              </a:rPr>
              <a:t>  "V1": -2.3122, "V2": 1.9520,</a:t>
            </a:r>
            <a:endParaRPr lang="en-US" sz="1100" dirty="0"/>
          </a:p>
          <a:p>
            <a:pPr indent="0" marL="0">
              <a:lnSpc>
                <a:spcPts val="1500"/>
              </a:lnSpc>
              <a:buNone/>
            </a:pPr>
            <a:r>
              <a:rPr lang="en-US" sz="1100" dirty="0">
                <a:solidFill>
                  <a:srgbClr val="9FE8D6"/>
                </a:solidFill>
                <a:latin typeface="Courier New" pitchFamily="34" charset="0"/>
                <a:ea typeface="Courier New" pitchFamily="34" charset="-122"/>
                <a:cs typeface="Courier New" pitchFamily="34" charset="-120"/>
              </a:rPr>
              <a:t>  ...  "V28": -0.0210,</a:t>
            </a:r>
            <a:endParaRPr lang="en-US" sz="1100" dirty="0"/>
          </a:p>
          <a:p>
            <a:pPr indent="0" marL="0">
              <a:lnSpc>
                <a:spcPts val="1500"/>
              </a:lnSpc>
              <a:buNone/>
            </a:pPr>
            <a:r>
              <a:rPr lang="en-US" sz="1100" dirty="0">
                <a:solidFill>
                  <a:srgbClr val="9FE8D6"/>
                </a:solidFill>
                <a:latin typeface="Courier New" pitchFamily="34" charset="0"/>
                <a:ea typeface="Courier New" pitchFamily="34" charset="-122"/>
                <a:cs typeface="Courier New" pitchFamily="34" charset="-120"/>
              </a:rPr>
              <a:t>  "Amount": 0.0</a:t>
            </a:r>
            <a:endParaRPr lang="en-US" sz="1100" dirty="0"/>
          </a:p>
          <a:p>
            <a:pPr indent="0" marL="0">
              <a:lnSpc>
                <a:spcPts val="1500"/>
              </a:lnSpc>
              <a:buNone/>
            </a:pPr>
            <a:r>
              <a:rPr lang="en-US" sz="1100" dirty="0">
                <a:solidFill>
                  <a:srgbClr val="9FE8D6"/>
                </a:solidFill>
                <a:latin typeface="Courier New" pitchFamily="34" charset="0"/>
                <a:ea typeface="Courier New" pitchFamily="34" charset="-122"/>
                <a:cs typeface="Courier New" pitchFamily="34" charset="-120"/>
              </a:rPr>
              <a:t>}</a:t>
            </a:r>
            <a:endParaRPr lang="en-US" sz="1100" dirty="0"/>
          </a:p>
        </p:txBody>
      </p:sp>
      <p:sp>
        <p:nvSpPr>
          <p:cNvPr id="22" name="Text 20"/>
          <p:cNvSpPr/>
          <p:nvPr/>
        </p:nvSpPr>
        <p:spPr>
          <a:xfrm>
            <a:off x="6675120" y="3493008"/>
            <a:ext cx="4572000" cy="256032"/>
          </a:xfrm>
          <a:prstGeom prst="rect">
            <a:avLst/>
          </a:prstGeom>
          <a:noFill/>
          <a:ln/>
        </p:spPr>
        <p:txBody>
          <a:bodyPr wrap="square" lIns="0" tIns="0" rIns="0" bIns="0" rtlCol="0" anchor="ctr"/>
          <a:lstStyle/>
          <a:p>
            <a:pPr indent="0" marL="0">
              <a:buNone/>
            </a:pPr>
            <a:r>
              <a:rPr lang="en-US" sz="1100" i="1" dirty="0">
                <a:solidFill>
                  <a:srgbClr val="8FA6C4"/>
                </a:solidFill>
                <a:latin typeface="Calibri" pitchFamily="34" charset="0"/>
                <a:ea typeface="Calibri" pitchFamily="34" charset="-122"/>
                <a:cs typeface="Calibri" pitchFamily="34" charset="-120"/>
              </a:rPr>
              <a:t>response</a:t>
            </a:r>
            <a:endParaRPr lang="en-US" sz="1100" dirty="0"/>
          </a:p>
        </p:txBody>
      </p:sp>
      <p:sp>
        <p:nvSpPr>
          <p:cNvPr id="23" name="Text 21"/>
          <p:cNvSpPr/>
          <p:nvPr/>
        </p:nvSpPr>
        <p:spPr>
          <a:xfrm>
            <a:off x="6675120" y="3767328"/>
            <a:ext cx="4572000" cy="1600200"/>
          </a:xfrm>
          <a:prstGeom prst="rect">
            <a:avLst/>
          </a:prstGeom>
          <a:noFill/>
          <a:ln/>
        </p:spPr>
        <p:txBody>
          <a:bodyPr wrap="square" lIns="0" tIns="0" rIns="0" bIns="0" rtlCol="0" anchor="t"/>
          <a:lstStyle/>
          <a:p>
            <a:pPr indent="0" marL="0">
              <a:lnSpc>
                <a:spcPts val="1500"/>
              </a:lnSpc>
              <a:buNone/>
            </a:pPr>
            <a:r>
              <a:rPr lang="en-US" sz="1100" dirty="0">
                <a:solidFill>
                  <a:srgbClr val="FFC7CF"/>
                </a:solidFill>
                <a:latin typeface="Courier New" pitchFamily="34" charset="0"/>
                <a:ea typeface="Courier New" pitchFamily="34" charset="-122"/>
                <a:cs typeface="Courier New" pitchFamily="34" charset="-120"/>
              </a:rPr>
              <a:t>{</a:t>
            </a:r>
            <a:endParaRPr lang="en-US" sz="1100" dirty="0"/>
          </a:p>
          <a:p>
            <a:pPr indent="0" marL="0">
              <a:lnSpc>
                <a:spcPts val="1500"/>
              </a:lnSpc>
              <a:buNone/>
            </a:pPr>
            <a:r>
              <a:rPr lang="en-US" sz="1100" dirty="0">
                <a:solidFill>
                  <a:srgbClr val="FFC7CF"/>
                </a:solidFill>
                <a:latin typeface="Courier New" pitchFamily="34" charset="0"/>
                <a:ea typeface="Courier New" pitchFamily="34" charset="-122"/>
                <a:cs typeface="Courier New" pitchFamily="34" charset="-120"/>
              </a:rPr>
              <a:t>  "predicted_class": 1,</a:t>
            </a:r>
            <a:endParaRPr lang="en-US" sz="1100" dirty="0"/>
          </a:p>
          <a:p>
            <a:pPr indent="0" marL="0">
              <a:lnSpc>
                <a:spcPts val="1500"/>
              </a:lnSpc>
              <a:buNone/>
            </a:pPr>
            <a:r>
              <a:rPr lang="en-US" sz="1100" dirty="0">
                <a:solidFill>
                  <a:srgbClr val="FFC7CF"/>
                </a:solidFill>
                <a:latin typeface="Courier New" pitchFamily="34" charset="0"/>
                <a:ea typeface="Courier New" pitchFamily="34" charset="-122"/>
                <a:cs typeface="Courier New" pitchFamily="34" charset="-120"/>
              </a:rPr>
              <a:t>  "label": "fraud",</a:t>
            </a:r>
            <a:endParaRPr lang="en-US" sz="1100" dirty="0"/>
          </a:p>
          <a:p>
            <a:pPr indent="0" marL="0">
              <a:lnSpc>
                <a:spcPts val="1500"/>
              </a:lnSpc>
              <a:buNone/>
            </a:pPr>
            <a:r>
              <a:rPr lang="en-US" sz="1100" dirty="0">
                <a:solidFill>
                  <a:srgbClr val="FFC7CF"/>
                </a:solidFill>
                <a:latin typeface="Courier New" pitchFamily="34" charset="0"/>
                <a:ea typeface="Courier New" pitchFamily="34" charset="-122"/>
                <a:cs typeface="Courier New" pitchFamily="34" charset="-120"/>
              </a:rPr>
              <a:t>  "fraud_probability": 0.969592,</a:t>
            </a:r>
            <a:endParaRPr lang="en-US" sz="1100" dirty="0"/>
          </a:p>
          <a:p>
            <a:pPr indent="0" marL="0">
              <a:lnSpc>
                <a:spcPts val="1500"/>
              </a:lnSpc>
              <a:buNone/>
            </a:pPr>
            <a:r>
              <a:rPr lang="en-US" sz="1100" dirty="0">
                <a:solidFill>
                  <a:srgbClr val="FFC7CF"/>
                </a:solidFill>
                <a:latin typeface="Courier New" pitchFamily="34" charset="0"/>
                <a:ea typeface="Courier New" pitchFamily="34" charset="-122"/>
                <a:cs typeface="Courier New" pitchFamily="34" charset="-120"/>
              </a:rPr>
              <a:t>  "decision_threshold": 0.5,</a:t>
            </a:r>
            <a:endParaRPr lang="en-US" sz="1100" dirty="0"/>
          </a:p>
          <a:p>
            <a:pPr indent="0" marL="0">
              <a:lnSpc>
                <a:spcPts val="1500"/>
              </a:lnSpc>
              <a:buNone/>
            </a:pPr>
            <a:r>
              <a:rPr lang="en-US" sz="1100" dirty="0">
                <a:solidFill>
                  <a:srgbClr val="FFC7CF"/>
                </a:solidFill>
                <a:latin typeface="Courier New" pitchFamily="34" charset="0"/>
                <a:ea typeface="Courier New" pitchFamily="34" charset="-122"/>
                <a:cs typeface="Courier New" pitchFamily="34" charset="-120"/>
              </a:rPr>
              <a:t>  "is_fraud": true</a:t>
            </a:r>
            <a:endParaRPr lang="en-US" sz="1100" dirty="0"/>
          </a:p>
          <a:p>
            <a:pPr indent="0" marL="0">
              <a:lnSpc>
                <a:spcPts val="1500"/>
              </a:lnSpc>
              <a:buNone/>
            </a:pPr>
            <a:r>
              <a:rPr lang="en-US" sz="1100" dirty="0">
                <a:solidFill>
                  <a:srgbClr val="FFC7CF"/>
                </a:solidFill>
                <a:latin typeface="Courier New" pitchFamily="34" charset="0"/>
                <a:ea typeface="Courier New" pitchFamily="34" charset="-122"/>
                <a:cs typeface="Courier New" pitchFamily="34" charset="-120"/>
              </a:rPr>
              <a:t>}</a:t>
            </a:r>
            <a:endParaRPr lang="en-US" sz="1100" dirty="0"/>
          </a:p>
        </p:txBody>
      </p:sp>
      <p:sp>
        <p:nvSpPr>
          <p:cNvPr id="24" name="Text 22"/>
          <p:cNvSpPr/>
          <p:nvPr/>
        </p:nvSpPr>
        <p:spPr>
          <a:xfrm>
            <a:off x="6675120" y="5486400"/>
            <a:ext cx="4572000" cy="457200"/>
          </a:xfrm>
          <a:prstGeom prst="rect">
            <a:avLst/>
          </a:prstGeom>
          <a:noFill/>
          <a:ln/>
        </p:spPr>
        <p:txBody>
          <a:bodyPr wrap="square" lIns="0" tIns="0" rIns="0" bIns="0" rtlCol="0" anchor="t"/>
          <a:lstStyle/>
          <a:p>
            <a:pPr indent="0" marL="0">
              <a:buNone/>
            </a:pPr>
            <a:r>
              <a:rPr lang="en-US" sz="1050" i="1" dirty="0">
                <a:solidFill>
                  <a:srgbClr val="8FA6C4"/>
                </a:solidFill>
                <a:latin typeface="Calibri" pitchFamily="34" charset="0"/>
                <a:ea typeface="Calibri" pitchFamily="34" charset="-122"/>
                <a:cs typeface="Calibri" pitchFamily="34" charset="-120"/>
              </a:rPr>
              <a:t>A genuine fraud row from our own test split.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595360" cy="731520"/>
          </a:xfrm>
          <a:prstGeom prst="rect">
            <a:avLst/>
          </a:prstGeom>
          <a:noFill/>
          <a:ln/>
        </p:spPr>
        <p:txBody>
          <a:bodyPr wrap="square" lIns="0" tIns="0" rIns="0" bIns="0" rtlCol="0" anchor="ctr"/>
          <a:lstStyle/>
          <a:p>
            <a:pPr algn="l" indent="0" marL="0">
              <a:buNone/>
            </a:pPr>
            <a:r>
              <a:rPr lang="en-US" sz="3400" b="1" dirty="0">
                <a:solidFill>
                  <a:srgbClr val="10233F"/>
                </a:solidFill>
                <a:latin typeface="Cambria" pitchFamily="34" charset="0"/>
                <a:ea typeface="Cambria" pitchFamily="34" charset="-122"/>
                <a:cs typeface="Cambria" pitchFamily="34" charset="-120"/>
              </a:rPr>
              <a:t>Containerised and deployed</a:t>
            </a:r>
            <a:endParaRPr lang="en-US" sz="3400" dirty="0"/>
          </a:p>
        </p:txBody>
      </p:sp>
      <p:sp>
        <p:nvSpPr>
          <p:cNvPr id="3" name="Shape 1"/>
          <p:cNvSpPr/>
          <p:nvPr/>
        </p:nvSpPr>
        <p:spPr>
          <a:xfrm>
            <a:off x="9464040" y="457200"/>
            <a:ext cx="2194560" cy="420624"/>
          </a:xfrm>
          <a:prstGeom prst="roundRect">
            <a:avLst>
              <a:gd name="adj" fmla="val 47826"/>
            </a:avLst>
          </a:prstGeom>
          <a:solidFill>
            <a:srgbClr val="F2F5F9"/>
          </a:solidFill>
          <a:ln w="12700">
            <a:solidFill>
              <a:srgbClr val="F2F5F9"/>
            </a:solidFill>
            <a:prstDash val="solid"/>
          </a:ln>
        </p:spPr>
      </p:sp>
      <p:sp>
        <p:nvSpPr>
          <p:cNvPr id="4" name="Text 2"/>
          <p:cNvSpPr/>
          <p:nvPr/>
        </p:nvSpPr>
        <p:spPr>
          <a:xfrm>
            <a:off x="9464040" y="457200"/>
            <a:ext cx="2194560" cy="42062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Mohamed</a:t>
            </a:r>
            <a:endParaRPr lang="en-US" sz="1100" dirty="0"/>
          </a:p>
        </p:txBody>
      </p:sp>
      <p:sp>
        <p:nvSpPr>
          <p:cNvPr id="5" name="Shape 3"/>
          <p:cNvSpPr/>
          <p:nvPr/>
        </p:nvSpPr>
        <p:spPr>
          <a:xfrm>
            <a:off x="685800" y="1280160"/>
            <a:ext cx="5303520" cy="1280160"/>
          </a:xfrm>
          <a:prstGeom prst="roundRect">
            <a:avLst>
              <a:gd name="adj" fmla="val 6429"/>
            </a:avLst>
          </a:prstGeom>
          <a:solidFill>
            <a:srgbClr val="F2F5F9"/>
          </a:solidFill>
          <a:ln w="12700">
            <a:solidFill>
              <a:srgbClr val="F2F5F9"/>
            </a:solidFill>
            <a:prstDash val="solid"/>
          </a:ln>
        </p:spPr>
      </p:sp>
      <p:sp>
        <p:nvSpPr>
          <p:cNvPr id="6" name="Shape 4"/>
          <p:cNvSpPr/>
          <p:nvPr/>
        </p:nvSpPr>
        <p:spPr>
          <a:xfrm>
            <a:off x="960120" y="1536192"/>
            <a:ext cx="457200" cy="457200"/>
          </a:xfrm>
          <a:prstGeom prst="ellipse">
            <a:avLst/>
          </a:prstGeom>
          <a:solidFill>
            <a:srgbClr val="1C7293"/>
          </a:solidFill>
          <a:ln w="12700">
            <a:solidFill>
              <a:srgbClr val="1C7293"/>
            </a:solidFill>
            <a:prstDash val="solid"/>
          </a:ln>
        </p:spPr>
      </p:sp>
      <p:sp>
        <p:nvSpPr>
          <p:cNvPr id="7" name="Text 5"/>
          <p:cNvSpPr/>
          <p:nvPr/>
        </p:nvSpPr>
        <p:spPr>
          <a:xfrm>
            <a:off x="960120" y="153619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554480" y="1481328"/>
            <a:ext cx="4206240" cy="320040"/>
          </a:xfrm>
          <a:prstGeom prst="rect">
            <a:avLst/>
          </a:prstGeom>
          <a:noFill/>
          <a:ln/>
        </p:spPr>
        <p:txBody>
          <a:bodyPr wrap="square" lIns="0" tIns="0" rIns="0" bIns="0" rtlCol="0" anchor="ctr"/>
          <a:lstStyle/>
          <a:p>
            <a:pPr indent="0" marL="0">
              <a:buNone/>
            </a:pPr>
            <a:r>
              <a:rPr lang="en-US" sz="1400" b="1" dirty="0">
                <a:solidFill>
                  <a:srgbClr val="17222E"/>
                </a:solidFill>
                <a:latin typeface="Calibri" pitchFamily="34" charset="0"/>
                <a:ea typeface="Calibri" pitchFamily="34" charset="-122"/>
                <a:cs typeface="Calibri" pitchFamily="34" charset="-120"/>
              </a:rPr>
              <a:t>python:3.11-slim</a:t>
            </a:r>
            <a:endParaRPr lang="en-US" sz="1400" dirty="0"/>
          </a:p>
        </p:txBody>
      </p:sp>
      <p:sp>
        <p:nvSpPr>
          <p:cNvPr id="9" name="Text 7"/>
          <p:cNvSpPr/>
          <p:nvPr/>
        </p:nvSpPr>
        <p:spPr>
          <a:xfrm>
            <a:off x="1554480" y="1828800"/>
            <a:ext cx="4206240" cy="621792"/>
          </a:xfrm>
          <a:prstGeom prst="rect">
            <a:avLst/>
          </a:prstGeom>
          <a:noFill/>
          <a:ln/>
        </p:spPr>
        <p:txBody>
          <a:bodyPr wrap="square" lIns="0" tIns="0" rIns="0" bIns="0" rtlCol="0" anchor="t"/>
          <a:lstStyle/>
          <a:p>
            <a:pPr indent="0" marL="0">
              <a:buNone/>
            </a:pPr>
            <a:r>
              <a:rPr lang="en-US" sz="1100" dirty="0">
                <a:solidFill>
                  <a:srgbClr val="5A6B7D"/>
                </a:solidFill>
                <a:latin typeface="Calibri" pitchFamily="34" charset="0"/>
                <a:ea typeface="Calibri" pitchFamily="34" charset="-122"/>
                <a:cs typeface="Calibri" pitchFamily="34" charset="-120"/>
              </a:rPr>
              <a:t>Small base. Only the serving dependencies go in — no DVC, MLflow or Evidently.</a:t>
            </a:r>
            <a:endParaRPr lang="en-US" sz="1100" dirty="0"/>
          </a:p>
        </p:txBody>
      </p:sp>
      <p:sp>
        <p:nvSpPr>
          <p:cNvPr id="10" name="Shape 8"/>
          <p:cNvSpPr/>
          <p:nvPr/>
        </p:nvSpPr>
        <p:spPr>
          <a:xfrm>
            <a:off x="6309360" y="1280160"/>
            <a:ext cx="5303520" cy="1280160"/>
          </a:xfrm>
          <a:prstGeom prst="roundRect">
            <a:avLst>
              <a:gd name="adj" fmla="val 6429"/>
            </a:avLst>
          </a:prstGeom>
          <a:solidFill>
            <a:srgbClr val="F2F5F9"/>
          </a:solidFill>
          <a:ln w="12700">
            <a:solidFill>
              <a:srgbClr val="F2F5F9"/>
            </a:solidFill>
            <a:prstDash val="solid"/>
          </a:ln>
        </p:spPr>
      </p:sp>
      <p:sp>
        <p:nvSpPr>
          <p:cNvPr id="11" name="Shape 9"/>
          <p:cNvSpPr/>
          <p:nvPr/>
        </p:nvSpPr>
        <p:spPr>
          <a:xfrm>
            <a:off x="6583680" y="1536192"/>
            <a:ext cx="457200" cy="457200"/>
          </a:xfrm>
          <a:prstGeom prst="ellipse">
            <a:avLst/>
          </a:prstGeom>
          <a:solidFill>
            <a:srgbClr val="1C3A5E"/>
          </a:solidFill>
          <a:ln w="12700">
            <a:solidFill>
              <a:srgbClr val="1C3A5E"/>
            </a:solidFill>
            <a:prstDash val="solid"/>
          </a:ln>
        </p:spPr>
      </p:sp>
      <p:sp>
        <p:nvSpPr>
          <p:cNvPr id="12" name="Text 10"/>
          <p:cNvSpPr/>
          <p:nvPr/>
        </p:nvSpPr>
        <p:spPr>
          <a:xfrm>
            <a:off x="6583680" y="153619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7178040" y="1481328"/>
            <a:ext cx="4206240" cy="320040"/>
          </a:xfrm>
          <a:prstGeom prst="rect">
            <a:avLst/>
          </a:prstGeom>
          <a:noFill/>
          <a:ln/>
        </p:spPr>
        <p:txBody>
          <a:bodyPr wrap="square" lIns="0" tIns="0" rIns="0" bIns="0" rtlCol="0" anchor="ctr"/>
          <a:lstStyle/>
          <a:p>
            <a:pPr indent="0" marL="0">
              <a:buNone/>
            </a:pPr>
            <a:r>
              <a:rPr lang="en-US" sz="1400" b="1" dirty="0">
                <a:solidFill>
                  <a:srgbClr val="17222E"/>
                </a:solidFill>
                <a:latin typeface="Calibri" pitchFamily="34" charset="0"/>
                <a:ea typeface="Calibri" pitchFamily="34" charset="-122"/>
                <a:cs typeface="Calibri" pitchFamily="34" charset="-120"/>
              </a:rPr>
              <a:t>Pinned requirements</a:t>
            </a:r>
            <a:endParaRPr lang="en-US" sz="1400" dirty="0"/>
          </a:p>
        </p:txBody>
      </p:sp>
      <p:sp>
        <p:nvSpPr>
          <p:cNvPr id="14" name="Text 12"/>
          <p:cNvSpPr/>
          <p:nvPr/>
        </p:nvSpPr>
        <p:spPr>
          <a:xfrm>
            <a:off x="7178040" y="1828800"/>
            <a:ext cx="4206240" cy="621792"/>
          </a:xfrm>
          <a:prstGeom prst="rect">
            <a:avLst/>
          </a:prstGeom>
          <a:noFill/>
          <a:ln/>
        </p:spPr>
        <p:txBody>
          <a:bodyPr wrap="square" lIns="0" tIns="0" rIns="0" bIns="0" rtlCol="0" anchor="t"/>
          <a:lstStyle/>
          <a:p>
            <a:pPr indent="0" marL="0">
              <a:buNone/>
            </a:pPr>
            <a:r>
              <a:rPr lang="en-US" sz="1100" dirty="0">
                <a:solidFill>
                  <a:srgbClr val="5A6B7D"/>
                </a:solidFill>
                <a:latin typeface="Calibri" pitchFamily="34" charset="0"/>
                <a:ea typeface="Calibri" pitchFamily="34" charset="-122"/>
                <a:cs typeface="Calibri" pitchFamily="34" charset="-120"/>
              </a:rPr>
              <a:t>requirements-api.txt is fully pinned, so the container loads model.pkl with the scikit-learn that fitted it.</a:t>
            </a:r>
            <a:endParaRPr lang="en-US" sz="1100" dirty="0"/>
          </a:p>
        </p:txBody>
      </p:sp>
      <p:sp>
        <p:nvSpPr>
          <p:cNvPr id="15" name="Shape 13"/>
          <p:cNvSpPr/>
          <p:nvPr/>
        </p:nvSpPr>
        <p:spPr>
          <a:xfrm>
            <a:off x="685800" y="2761488"/>
            <a:ext cx="5303520" cy="1280160"/>
          </a:xfrm>
          <a:prstGeom prst="roundRect">
            <a:avLst>
              <a:gd name="adj" fmla="val 6429"/>
            </a:avLst>
          </a:prstGeom>
          <a:solidFill>
            <a:srgbClr val="F2F5F9"/>
          </a:solidFill>
          <a:ln w="12700">
            <a:solidFill>
              <a:srgbClr val="F2F5F9"/>
            </a:solidFill>
            <a:prstDash val="solid"/>
          </a:ln>
        </p:spPr>
      </p:sp>
      <p:sp>
        <p:nvSpPr>
          <p:cNvPr id="16" name="Shape 14"/>
          <p:cNvSpPr/>
          <p:nvPr/>
        </p:nvSpPr>
        <p:spPr>
          <a:xfrm>
            <a:off x="960120" y="3017520"/>
            <a:ext cx="457200" cy="457200"/>
          </a:xfrm>
          <a:prstGeom prst="ellipse">
            <a:avLst/>
          </a:prstGeom>
          <a:solidFill>
            <a:srgbClr val="1C7293"/>
          </a:solidFill>
          <a:ln w="12700">
            <a:solidFill>
              <a:srgbClr val="1C7293"/>
            </a:solidFill>
            <a:prstDash val="solid"/>
          </a:ln>
        </p:spPr>
      </p:sp>
      <p:sp>
        <p:nvSpPr>
          <p:cNvPr id="17" name="Text 15"/>
          <p:cNvSpPr/>
          <p:nvPr/>
        </p:nvSpPr>
        <p:spPr>
          <a:xfrm>
            <a:off x="960120" y="30175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554480" y="2962656"/>
            <a:ext cx="4206240" cy="320040"/>
          </a:xfrm>
          <a:prstGeom prst="rect">
            <a:avLst/>
          </a:prstGeom>
          <a:noFill/>
          <a:ln/>
        </p:spPr>
        <p:txBody>
          <a:bodyPr wrap="square" lIns="0" tIns="0" rIns="0" bIns="0" rtlCol="0" anchor="ctr"/>
          <a:lstStyle/>
          <a:p>
            <a:pPr indent="0" marL="0">
              <a:buNone/>
            </a:pPr>
            <a:r>
              <a:rPr lang="en-US" sz="1400" b="1" dirty="0">
                <a:solidFill>
                  <a:srgbClr val="17222E"/>
                </a:solidFill>
                <a:latin typeface="Calibri" pitchFamily="34" charset="0"/>
                <a:ea typeface="Calibri" pitchFamily="34" charset="-122"/>
                <a:cs typeface="Calibri" pitchFamily="34" charset="-120"/>
              </a:rPr>
              <a:t>Uvicorn on $PORT</a:t>
            </a:r>
            <a:endParaRPr lang="en-US" sz="1400" dirty="0"/>
          </a:p>
        </p:txBody>
      </p:sp>
      <p:sp>
        <p:nvSpPr>
          <p:cNvPr id="19" name="Text 17"/>
          <p:cNvSpPr/>
          <p:nvPr/>
        </p:nvSpPr>
        <p:spPr>
          <a:xfrm>
            <a:off x="1554480" y="3310128"/>
            <a:ext cx="4206240" cy="621792"/>
          </a:xfrm>
          <a:prstGeom prst="rect">
            <a:avLst/>
          </a:prstGeom>
          <a:noFill/>
          <a:ln/>
        </p:spPr>
        <p:txBody>
          <a:bodyPr wrap="square" lIns="0" tIns="0" rIns="0" bIns="0" rtlCol="0" anchor="t"/>
          <a:lstStyle/>
          <a:p>
            <a:pPr indent="0" marL="0">
              <a:buNone/>
            </a:pPr>
            <a:r>
              <a:rPr lang="en-US" sz="1100" dirty="0">
                <a:solidFill>
                  <a:srgbClr val="5A6B7D"/>
                </a:solidFill>
                <a:latin typeface="Calibri" pitchFamily="34" charset="0"/>
                <a:ea typeface="Calibri" pitchFamily="34" charset="-122"/>
                <a:cs typeface="Calibri" pitchFamily="34" charset="-120"/>
              </a:rPr>
              <a:t>Render injects the port; the container honours it and falls back to 8000 locally.</a:t>
            </a:r>
            <a:endParaRPr lang="en-US" sz="1100" dirty="0"/>
          </a:p>
        </p:txBody>
      </p:sp>
      <p:sp>
        <p:nvSpPr>
          <p:cNvPr id="20" name="Shape 18"/>
          <p:cNvSpPr/>
          <p:nvPr/>
        </p:nvSpPr>
        <p:spPr>
          <a:xfrm>
            <a:off x="6309360" y="2761488"/>
            <a:ext cx="5303520" cy="1280160"/>
          </a:xfrm>
          <a:prstGeom prst="roundRect">
            <a:avLst>
              <a:gd name="adj" fmla="val 6429"/>
            </a:avLst>
          </a:prstGeom>
          <a:solidFill>
            <a:srgbClr val="F2F5F9"/>
          </a:solidFill>
          <a:ln w="12700">
            <a:solidFill>
              <a:srgbClr val="F2F5F9"/>
            </a:solidFill>
            <a:prstDash val="solid"/>
          </a:ln>
        </p:spPr>
      </p:sp>
      <p:sp>
        <p:nvSpPr>
          <p:cNvPr id="21" name="Shape 19"/>
          <p:cNvSpPr/>
          <p:nvPr/>
        </p:nvSpPr>
        <p:spPr>
          <a:xfrm>
            <a:off x="6583680" y="3017520"/>
            <a:ext cx="457200" cy="457200"/>
          </a:xfrm>
          <a:prstGeom prst="ellipse">
            <a:avLst/>
          </a:prstGeom>
          <a:solidFill>
            <a:srgbClr val="1C3A5E"/>
          </a:solidFill>
          <a:ln w="12700">
            <a:solidFill>
              <a:srgbClr val="1C3A5E"/>
            </a:solidFill>
            <a:prstDash val="solid"/>
          </a:ln>
        </p:spPr>
      </p:sp>
      <p:sp>
        <p:nvSpPr>
          <p:cNvPr id="22" name="Text 20"/>
          <p:cNvSpPr/>
          <p:nvPr/>
        </p:nvSpPr>
        <p:spPr>
          <a:xfrm>
            <a:off x="6583680" y="30175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7178040" y="2962656"/>
            <a:ext cx="4206240" cy="320040"/>
          </a:xfrm>
          <a:prstGeom prst="rect">
            <a:avLst/>
          </a:prstGeom>
          <a:noFill/>
          <a:ln/>
        </p:spPr>
        <p:txBody>
          <a:bodyPr wrap="square" lIns="0" tIns="0" rIns="0" bIns="0" rtlCol="0" anchor="ctr"/>
          <a:lstStyle/>
          <a:p>
            <a:pPr indent="0" marL="0">
              <a:buNone/>
            </a:pPr>
            <a:r>
              <a:rPr lang="en-US" sz="1400" b="1" dirty="0">
                <a:solidFill>
                  <a:srgbClr val="17222E"/>
                </a:solidFill>
                <a:latin typeface="Calibri" pitchFamily="34" charset="0"/>
                <a:ea typeface="Calibri" pitchFamily="34" charset="-122"/>
                <a:cs typeface="Calibri" pitchFamily="34" charset="-120"/>
              </a:rPr>
              <a:t>No secrets, non-root</a:t>
            </a:r>
            <a:endParaRPr lang="en-US" sz="1400" dirty="0"/>
          </a:p>
        </p:txBody>
      </p:sp>
      <p:sp>
        <p:nvSpPr>
          <p:cNvPr id="24" name="Text 22"/>
          <p:cNvSpPr/>
          <p:nvPr/>
        </p:nvSpPr>
        <p:spPr>
          <a:xfrm>
            <a:off x="7178040" y="3310128"/>
            <a:ext cx="4206240" cy="621792"/>
          </a:xfrm>
          <a:prstGeom prst="rect">
            <a:avLst/>
          </a:prstGeom>
          <a:noFill/>
          <a:ln/>
        </p:spPr>
        <p:txBody>
          <a:bodyPr wrap="square" lIns="0" tIns="0" rIns="0" bIns="0" rtlCol="0" anchor="t"/>
          <a:lstStyle/>
          <a:p>
            <a:pPr indent="0" marL="0">
              <a:buNone/>
            </a:pPr>
            <a:r>
              <a:rPr lang="en-US" sz="1100" dirty="0">
                <a:solidFill>
                  <a:srgbClr val="5A6B7D"/>
                </a:solidFill>
                <a:latin typeface="Calibri" pitchFamily="34" charset="0"/>
                <a:ea typeface="Calibri" pitchFamily="34" charset="-122"/>
                <a:cs typeface="Calibri" pitchFamily="34" charset="-120"/>
              </a:rPr>
              <a:t>The image holds code and a 1.9 MB model. The deploy hook lives in GitHub secrets.</a:t>
            </a:r>
            <a:endParaRPr lang="en-US" sz="1100" dirty="0"/>
          </a:p>
        </p:txBody>
      </p:sp>
      <p:sp>
        <p:nvSpPr>
          <p:cNvPr id="25" name="Shape 23"/>
          <p:cNvSpPr/>
          <p:nvPr/>
        </p:nvSpPr>
        <p:spPr>
          <a:xfrm>
            <a:off x="685800" y="4315968"/>
            <a:ext cx="10835640" cy="1810512"/>
          </a:xfrm>
          <a:prstGeom prst="roundRect">
            <a:avLst>
              <a:gd name="adj" fmla="val 4545"/>
            </a:avLst>
          </a:prstGeom>
          <a:solidFill>
            <a:srgbClr val="10233F"/>
          </a:solidFill>
          <a:ln w="12700">
            <a:solidFill>
              <a:srgbClr val="10233F"/>
            </a:solidFill>
            <a:prstDash val="solid"/>
          </a:ln>
        </p:spPr>
      </p:sp>
      <p:sp>
        <p:nvSpPr>
          <p:cNvPr id="26" name="Shape 24"/>
          <p:cNvSpPr/>
          <p:nvPr/>
        </p:nvSpPr>
        <p:spPr>
          <a:xfrm>
            <a:off x="1005840" y="4507992"/>
            <a:ext cx="274320" cy="274320"/>
          </a:xfrm>
          <a:prstGeom prst="ellipse">
            <a:avLst/>
          </a:prstGeom>
          <a:solidFill>
            <a:srgbClr val="1E7A50"/>
          </a:solidFill>
          <a:ln w="12700">
            <a:solidFill>
              <a:srgbClr val="1E7A50"/>
            </a:solidFill>
            <a:prstDash val="solid"/>
          </a:ln>
        </p:spPr>
      </p:sp>
      <p:sp>
        <p:nvSpPr>
          <p:cNvPr id="27" name="Text 25"/>
          <p:cNvSpPr/>
          <p:nvPr/>
        </p:nvSpPr>
        <p:spPr>
          <a:xfrm>
            <a:off x="1005840" y="4507992"/>
            <a:ext cx="274320" cy="274320"/>
          </a:xfrm>
          <a:prstGeom prst="rect">
            <a:avLst/>
          </a:prstGeom>
          <a:noFill/>
          <a:ln/>
        </p:spPr>
        <p:txBody>
          <a:bodyPr wrap="square" lIns="0" tIns="0" rIns="0" bIns="0" rtlCol="0" anchor="ctr"/>
          <a:lstStyle/>
          <a:p>
            <a:pPr algn="ctr" indent="0" marL="0">
              <a:buNone/>
            </a:pPr>
            <a:endParaRPr lang="en-US" sz="1200" dirty="0"/>
          </a:p>
        </p:txBody>
      </p:sp>
      <p:sp>
        <p:nvSpPr>
          <p:cNvPr id="28" name="Text 26"/>
          <p:cNvSpPr/>
          <p:nvPr/>
        </p:nvSpPr>
        <p:spPr>
          <a:xfrm>
            <a:off x="1389888" y="4480560"/>
            <a:ext cx="3657600" cy="310896"/>
          </a:xfrm>
          <a:prstGeom prst="rect">
            <a:avLst/>
          </a:prstGeom>
          <a:noFill/>
          <a:ln/>
        </p:spPr>
        <p:txBody>
          <a:bodyPr wrap="square" lIns="0" tIns="0" rIns="0" bIns="0" rtlCol="0" anchor="ctr"/>
          <a:lstStyle/>
          <a:p>
            <a:pPr indent="0" marL="0">
              <a:buNone/>
            </a:pPr>
            <a:r>
              <a:rPr lang="en-US" sz="1200" b="1" dirty="0">
                <a:solidFill>
                  <a:srgbClr val="8FA6C4"/>
                </a:solidFill>
                <a:latin typeface="Calibri" pitchFamily="34" charset="0"/>
                <a:ea typeface="Calibri" pitchFamily="34" charset="-122"/>
                <a:cs typeface="Calibri" pitchFamily="34" charset="-120"/>
              </a:rPr>
              <a:t>Live now</a:t>
            </a:r>
            <a:endParaRPr lang="en-US" sz="1200" dirty="0"/>
          </a:p>
        </p:txBody>
      </p:sp>
      <p:sp>
        <p:nvSpPr>
          <p:cNvPr id="29" name="Text 27"/>
          <p:cNvSpPr/>
          <p:nvPr/>
        </p:nvSpPr>
        <p:spPr>
          <a:xfrm>
            <a:off x="1005840" y="4809744"/>
            <a:ext cx="10149840" cy="457200"/>
          </a:xfrm>
          <a:prstGeom prst="rect">
            <a:avLst/>
          </a:prstGeom>
          <a:noFill/>
          <a:ln/>
        </p:spPr>
        <p:txBody>
          <a:bodyPr wrap="square" lIns="0" tIns="0" rIns="0" bIns="0" rtlCol="0" anchor="ctr"/>
          <a:lstStyle/>
          <a:p>
            <a:pPr indent="0" marL="0">
              <a:buNone/>
            </a:pPr>
            <a:r>
              <a:rPr lang="en-US" sz="1900" b="1" dirty="0">
                <a:solidFill>
                  <a:srgbClr val="9FE8D6"/>
                </a:solidFill>
                <a:latin typeface="Courier New" pitchFamily="34" charset="0"/>
                <a:ea typeface="Courier New" pitchFamily="34" charset="-122"/>
                <a:cs typeface="Courier New" pitchFamily="34" charset="-120"/>
              </a:rPr>
              <a:t>https://mai201-fraud-api.onrender.com</a:t>
            </a:r>
            <a:endParaRPr lang="en-US" sz="1900" dirty="0"/>
          </a:p>
        </p:txBody>
      </p:sp>
      <p:sp>
        <p:nvSpPr>
          <p:cNvPr id="30" name="Text 28"/>
          <p:cNvSpPr/>
          <p:nvPr/>
        </p:nvSpPr>
        <p:spPr>
          <a:xfrm>
            <a:off x="1005840" y="5321808"/>
            <a:ext cx="10149840" cy="310896"/>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/health  -&gt;  {"status":"healthy","model_loaded":true,"model_path":"/srv/app/models/model.pkl"}</a:t>
            </a:r>
            <a:endParaRPr lang="en-US" sz="1050" dirty="0"/>
          </a:p>
        </p:txBody>
      </p:sp>
      <p:sp>
        <p:nvSpPr>
          <p:cNvPr id="31" name="Text 29"/>
          <p:cNvSpPr/>
          <p:nvPr/>
        </p:nvSpPr>
        <p:spPr>
          <a:xfrm>
            <a:off x="1005840" y="5650992"/>
            <a:ext cx="10149840" cy="310896"/>
          </a:xfrm>
          <a:prstGeom prst="rect">
            <a:avLst/>
          </a:prstGeom>
          <a:noFill/>
          <a:ln/>
        </p:spPr>
        <p:txBody>
          <a:bodyPr wrap="square" lIns="0" tIns="0" rIns="0" bIns="0" rtlCol="0" anchor="ctr"/>
          <a:lstStyle/>
          <a:p>
            <a:pPr indent="0" marL="0">
              <a:buNone/>
            </a:pPr>
            <a:r>
              <a:rPr lang="en-US" sz="1100" dirty="0">
                <a:solidFill>
                  <a:srgbClr val="8FA6C4"/>
                </a:solidFill>
                <a:latin typeface="Calibri" pitchFamily="34" charset="0"/>
                <a:ea typeface="Calibri" pitchFamily="34" charset="-122"/>
                <a:cs typeface="Calibri" pitchFamily="34" charset="-120"/>
              </a:rPr>
              <a:t>Swagger UI at https://mai201-fraud-api.onrender.com/docs   ·   released by CI/CD from commit 363892b</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595360" cy="731520"/>
          </a:xfrm>
          <a:prstGeom prst="rect">
            <a:avLst/>
          </a:prstGeom>
          <a:noFill/>
          <a:ln/>
        </p:spPr>
        <p:txBody>
          <a:bodyPr wrap="square" lIns="0" tIns="0" rIns="0" bIns="0" rtlCol="0" anchor="ctr"/>
          <a:lstStyle/>
          <a:p>
            <a:pPr algn="l" indent="0" marL="0">
              <a:buNone/>
            </a:pPr>
            <a:r>
              <a:rPr lang="en-US" sz="3400" b="1" dirty="0">
                <a:solidFill>
                  <a:srgbClr val="10233F"/>
                </a:solidFill>
                <a:latin typeface="Cambria" pitchFamily="34" charset="0"/>
                <a:ea typeface="Cambria" pitchFamily="34" charset="-122"/>
                <a:cs typeface="Cambria" pitchFamily="34" charset="-120"/>
              </a:rPr>
              <a:t>CI/CD with GitHub Actions</a:t>
            </a:r>
            <a:endParaRPr lang="en-US" sz="3400" dirty="0"/>
          </a:p>
        </p:txBody>
      </p:sp>
      <p:sp>
        <p:nvSpPr>
          <p:cNvPr id="3" name="Shape 1"/>
          <p:cNvSpPr/>
          <p:nvPr/>
        </p:nvSpPr>
        <p:spPr>
          <a:xfrm>
            <a:off x="9464040" y="457200"/>
            <a:ext cx="2194560" cy="420624"/>
          </a:xfrm>
          <a:prstGeom prst="roundRect">
            <a:avLst>
              <a:gd name="adj" fmla="val 47826"/>
            </a:avLst>
          </a:prstGeom>
          <a:solidFill>
            <a:srgbClr val="F2F5F9"/>
          </a:solidFill>
          <a:ln w="12700">
            <a:solidFill>
              <a:srgbClr val="F2F5F9"/>
            </a:solidFill>
            <a:prstDash val="solid"/>
          </a:ln>
        </p:spPr>
      </p:sp>
      <p:sp>
        <p:nvSpPr>
          <p:cNvPr id="4" name="Text 2"/>
          <p:cNvSpPr/>
          <p:nvPr/>
        </p:nvSpPr>
        <p:spPr>
          <a:xfrm>
            <a:off x="9464040" y="457200"/>
            <a:ext cx="2194560" cy="42062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Mohamed</a:t>
            </a:r>
            <a:endParaRPr lang="en-US" sz="1100" dirty="0"/>
          </a:p>
        </p:txBody>
      </p:sp>
      <p:sp>
        <p:nvSpPr>
          <p:cNvPr id="5" name="Shape 3"/>
          <p:cNvSpPr/>
          <p:nvPr/>
        </p:nvSpPr>
        <p:spPr>
          <a:xfrm>
            <a:off x="685800" y="1371600"/>
            <a:ext cx="2514600" cy="1874520"/>
          </a:xfrm>
          <a:prstGeom prst="roundRect">
            <a:avLst>
              <a:gd name="adj" fmla="val 4390"/>
            </a:avLst>
          </a:prstGeom>
          <a:solidFill>
            <a:srgbClr val="F2F5F9"/>
          </a:solidFill>
          <a:ln w="12700">
            <a:solidFill>
              <a:srgbClr val="F2F5F9"/>
            </a:solidFill>
            <a:prstDash val="solid"/>
          </a:ln>
        </p:spPr>
      </p:sp>
      <p:sp>
        <p:nvSpPr>
          <p:cNvPr id="6" name="Shape 4"/>
          <p:cNvSpPr/>
          <p:nvPr/>
        </p:nvSpPr>
        <p:spPr>
          <a:xfrm>
            <a:off x="1691640" y="1600200"/>
            <a:ext cx="502920" cy="502920"/>
          </a:xfrm>
          <a:prstGeom prst="ellipse">
            <a:avLst/>
          </a:prstGeom>
          <a:solidFill>
            <a:srgbClr val="1C7293"/>
          </a:solidFill>
          <a:ln w="12700">
            <a:solidFill>
              <a:srgbClr val="1C7293"/>
            </a:solidFill>
            <a:prstDash val="solid"/>
          </a:ln>
        </p:spPr>
      </p:sp>
      <p:sp>
        <p:nvSpPr>
          <p:cNvPr id="7" name="Text 5"/>
          <p:cNvSpPr/>
          <p:nvPr/>
        </p:nvSpPr>
        <p:spPr>
          <a:xfrm>
            <a:off x="1691640" y="160020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822960" y="2212848"/>
            <a:ext cx="2240280" cy="320040"/>
          </a:xfrm>
          <a:prstGeom prst="rect">
            <a:avLst/>
          </a:prstGeom>
          <a:noFill/>
          <a:ln/>
        </p:spPr>
        <p:txBody>
          <a:bodyPr wrap="square" lIns="0" tIns="0" rIns="0" bIns="0" rtlCol="0" anchor="ctr"/>
          <a:lstStyle/>
          <a:p>
            <a:pPr algn="ctr" indent="0" marL="0">
              <a:buNone/>
            </a:pPr>
            <a:r>
              <a:rPr lang="en-US" sz="1400" b="1" dirty="0">
                <a:solidFill>
                  <a:srgbClr val="17222E"/>
                </a:solidFill>
                <a:latin typeface="Calibri" pitchFamily="34" charset="0"/>
                <a:ea typeface="Calibri" pitchFamily="34" charset="-122"/>
                <a:cs typeface="Calibri" pitchFamily="34" charset="-120"/>
              </a:rPr>
              <a:t>Ruff lint</a:t>
            </a:r>
            <a:endParaRPr lang="en-US" sz="1400" dirty="0"/>
          </a:p>
        </p:txBody>
      </p:sp>
      <p:sp>
        <p:nvSpPr>
          <p:cNvPr id="9" name="Text 7"/>
          <p:cNvSpPr/>
          <p:nvPr/>
        </p:nvSpPr>
        <p:spPr>
          <a:xfrm>
            <a:off x="822960" y="2542032"/>
            <a:ext cx="2240280" cy="594360"/>
          </a:xfrm>
          <a:prstGeom prst="rect">
            <a:avLst/>
          </a:prstGeom>
          <a:noFill/>
          <a:ln/>
        </p:spPr>
        <p:txBody>
          <a:bodyPr wrap="square" lIns="0" tIns="0" rIns="0" bIns="0" rtlCol="0" anchor="t"/>
          <a:lstStyle/>
          <a:p>
            <a:pPr algn="ctr" indent="0" marL="0">
              <a:buNone/>
            </a:pPr>
            <a:r>
              <a:rPr lang="en-US" sz="1050" dirty="0">
                <a:solidFill>
                  <a:srgbClr val="5A6B7D"/>
                </a:solidFill>
                <a:latin typeface="Calibri" pitchFamily="34" charset="0"/>
                <a:ea typeface="Calibri" pitchFamily="34" charset="-122"/>
                <a:cs typeface="Calibri" pitchFamily="34" charset="-120"/>
              </a:rPr>
              <a:t>the whole repo, clean</a:t>
            </a:r>
            <a:endParaRPr lang="en-US" sz="1050" dirty="0"/>
          </a:p>
        </p:txBody>
      </p:sp>
      <p:sp>
        <p:nvSpPr>
          <p:cNvPr id="10" name="Text 8"/>
          <p:cNvSpPr/>
          <p:nvPr/>
        </p:nvSpPr>
        <p:spPr>
          <a:xfrm>
            <a:off x="3227832" y="2148840"/>
            <a:ext cx="237744" cy="365760"/>
          </a:xfrm>
          <a:prstGeom prst="rect">
            <a:avLst/>
          </a:prstGeom>
          <a:noFill/>
          <a:ln/>
        </p:spPr>
        <p:txBody>
          <a:bodyPr wrap="square" lIns="0" tIns="0" rIns="0" bIns="0" rtlCol="0" anchor="ctr"/>
          <a:lstStyle/>
          <a:p>
            <a:pPr algn="ctr" indent="0" marL="0">
              <a:buNone/>
            </a:pPr>
            <a:r>
              <a:rPr lang="en-US" sz="1800" b="1" dirty="0">
                <a:solidFill>
                  <a:srgbClr val="1C7293"/>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3483864" y="1371600"/>
            <a:ext cx="2514600" cy="1874520"/>
          </a:xfrm>
          <a:prstGeom prst="roundRect">
            <a:avLst>
              <a:gd name="adj" fmla="val 4390"/>
            </a:avLst>
          </a:prstGeom>
          <a:solidFill>
            <a:srgbClr val="F2F5F9"/>
          </a:solidFill>
          <a:ln w="12700">
            <a:solidFill>
              <a:srgbClr val="F2F5F9"/>
            </a:solidFill>
            <a:prstDash val="solid"/>
          </a:ln>
        </p:spPr>
      </p:sp>
      <p:sp>
        <p:nvSpPr>
          <p:cNvPr id="12" name="Shape 10"/>
          <p:cNvSpPr/>
          <p:nvPr/>
        </p:nvSpPr>
        <p:spPr>
          <a:xfrm>
            <a:off x="4489704" y="1600200"/>
            <a:ext cx="502920" cy="502920"/>
          </a:xfrm>
          <a:prstGeom prst="ellipse">
            <a:avLst/>
          </a:prstGeom>
          <a:solidFill>
            <a:srgbClr val="1C7293"/>
          </a:solidFill>
          <a:ln w="12700">
            <a:solidFill>
              <a:srgbClr val="1C7293"/>
            </a:solidFill>
            <a:prstDash val="solid"/>
          </a:ln>
        </p:spPr>
      </p:sp>
      <p:sp>
        <p:nvSpPr>
          <p:cNvPr id="13" name="Text 11"/>
          <p:cNvSpPr/>
          <p:nvPr/>
        </p:nvSpPr>
        <p:spPr>
          <a:xfrm>
            <a:off x="4489704" y="160020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3621024" y="2212848"/>
            <a:ext cx="2240280" cy="320040"/>
          </a:xfrm>
          <a:prstGeom prst="rect">
            <a:avLst/>
          </a:prstGeom>
          <a:noFill/>
          <a:ln/>
        </p:spPr>
        <p:txBody>
          <a:bodyPr wrap="square" lIns="0" tIns="0" rIns="0" bIns="0" rtlCol="0" anchor="ctr"/>
          <a:lstStyle/>
          <a:p>
            <a:pPr algn="ctr" indent="0" marL="0">
              <a:buNone/>
            </a:pPr>
            <a:r>
              <a:rPr lang="en-US" sz="1400" b="1" dirty="0">
                <a:solidFill>
                  <a:srgbClr val="17222E"/>
                </a:solidFill>
                <a:latin typeface="Calibri" pitchFamily="34" charset="0"/>
                <a:ea typeface="Calibri" pitchFamily="34" charset="-122"/>
                <a:cs typeface="Calibri" pitchFamily="34" charset="-120"/>
              </a:rPr>
              <a:t>pytest</a:t>
            </a:r>
            <a:endParaRPr lang="en-US" sz="1400" dirty="0"/>
          </a:p>
        </p:txBody>
      </p:sp>
      <p:sp>
        <p:nvSpPr>
          <p:cNvPr id="15" name="Text 13"/>
          <p:cNvSpPr/>
          <p:nvPr/>
        </p:nvSpPr>
        <p:spPr>
          <a:xfrm>
            <a:off x="3621024" y="2542032"/>
            <a:ext cx="2240280" cy="594360"/>
          </a:xfrm>
          <a:prstGeom prst="rect">
            <a:avLst/>
          </a:prstGeom>
          <a:noFill/>
          <a:ln/>
        </p:spPr>
        <p:txBody>
          <a:bodyPr wrap="square" lIns="0" tIns="0" rIns="0" bIns="0" rtlCol="0" anchor="t"/>
          <a:lstStyle/>
          <a:p>
            <a:pPr algn="ctr" indent="0" marL="0">
              <a:buNone/>
            </a:pPr>
            <a:r>
              <a:rPr lang="en-US" sz="1050" dirty="0">
                <a:solidFill>
                  <a:srgbClr val="5A6B7D"/>
                </a:solidFill>
                <a:latin typeface="Calibri" pitchFamily="34" charset="0"/>
                <a:ea typeface="Calibri" pitchFamily="34" charset="-122"/>
                <a:cs typeface="Calibri" pitchFamily="34" charset="-120"/>
              </a:rPr>
              <a:t>34 tests against the real model</a:t>
            </a:r>
            <a:endParaRPr lang="en-US" sz="1050" dirty="0"/>
          </a:p>
        </p:txBody>
      </p:sp>
      <p:sp>
        <p:nvSpPr>
          <p:cNvPr id="16" name="Text 14"/>
          <p:cNvSpPr/>
          <p:nvPr/>
        </p:nvSpPr>
        <p:spPr>
          <a:xfrm>
            <a:off x="6025896" y="2148840"/>
            <a:ext cx="237744" cy="365760"/>
          </a:xfrm>
          <a:prstGeom prst="rect">
            <a:avLst/>
          </a:prstGeom>
          <a:noFill/>
          <a:ln/>
        </p:spPr>
        <p:txBody>
          <a:bodyPr wrap="square" lIns="0" tIns="0" rIns="0" bIns="0" rtlCol="0" anchor="ctr"/>
          <a:lstStyle/>
          <a:p>
            <a:pPr algn="ctr" indent="0" marL="0">
              <a:buNone/>
            </a:pPr>
            <a:r>
              <a:rPr lang="en-US" sz="1800" b="1" dirty="0">
                <a:solidFill>
                  <a:srgbClr val="1C7293"/>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6281928" y="1371600"/>
            <a:ext cx="2514600" cy="1874520"/>
          </a:xfrm>
          <a:prstGeom prst="roundRect">
            <a:avLst>
              <a:gd name="adj" fmla="val 4390"/>
            </a:avLst>
          </a:prstGeom>
          <a:solidFill>
            <a:srgbClr val="F2F5F9"/>
          </a:solidFill>
          <a:ln w="12700">
            <a:solidFill>
              <a:srgbClr val="F2F5F9"/>
            </a:solidFill>
            <a:prstDash val="solid"/>
          </a:ln>
        </p:spPr>
      </p:sp>
      <p:sp>
        <p:nvSpPr>
          <p:cNvPr id="18" name="Shape 16"/>
          <p:cNvSpPr/>
          <p:nvPr/>
        </p:nvSpPr>
        <p:spPr>
          <a:xfrm>
            <a:off x="7287768" y="1600200"/>
            <a:ext cx="502920" cy="502920"/>
          </a:xfrm>
          <a:prstGeom prst="ellipse">
            <a:avLst/>
          </a:prstGeom>
          <a:solidFill>
            <a:srgbClr val="1C7293"/>
          </a:solidFill>
          <a:ln w="12700">
            <a:solidFill>
              <a:srgbClr val="1C7293"/>
            </a:solidFill>
            <a:prstDash val="solid"/>
          </a:ln>
        </p:spPr>
      </p:sp>
      <p:sp>
        <p:nvSpPr>
          <p:cNvPr id="19" name="Text 17"/>
          <p:cNvSpPr/>
          <p:nvPr/>
        </p:nvSpPr>
        <p:spPr>
          <a:xfrm>
            <a:off x="7287768" y="160020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6419088" y="2212848"/>
            <a:ext cx="2240280" cy="320040"/>
          </a:xfrm>
          <a:prstGeom prst="rect">
            <a:avLst/>
          </a:prstGeom>
          <a:noFill/>
          <a:ln/>
        </p:spPr>
        <p:txBody>
          <a:bodyPr wrap="square" lIns="0" tIns="0" rIns="0" bIns="0" rtlCol="0" anchor="ctr"/>
          <a:lstStyle/>
          <a:p>
            <a:pPr algn="ctr" indent="0" marL="0">
              <a:buNone/>
            </a:pPr>
            <a:r>
              <a:rPr lang="en-US" sz="1400" b="1" dirty="0">
                <a:solidFill>
                  <a:srgbClr val="17222E"/>
                </a:solidFill>
                <a:latin typeface="Calibri" pitchFamily="34" charset="0"/>
                <a:ea typeface="Calibri" pitchFamily="34" charset="-122"/>
                <a:cs typeface="Calibri" pitchFamily="34" charset="-120"/>
              </a:rPr>
              <a:t>docker build</a:t>
            </a:r>
            <a:endParaRPr lang="en-US" sz="1400" dirty="0"/>
          </a:p>
        </p:txBody>
      </p:sp>
      <p:sp>
        <p:nvSpPr>
          <p:cNvPr id="21" name="Text 19"/>
          <p:cNvSpPr/>
          <p:nvPr/>
        </p:nvSpPr>
        <p:spPr>
          <a:xfrm>
            <a:off x="6419088" y="2542032"/>
            <a:ext cx="2240280" cy="594360"/>
          </a:xfrm>
          <a:prstGeom prst="rect">
            <a:avLst/>
          </a:prstGeom>
          <a:noFill/>
          <a:ln/>
        </p:spPr>
        <p:txBody>
          <a:bodyPr wrap="square" lIns="0" tIns="0" rIns="0" bIns="0" rtlCol="0" anchor="t"/>
          <a:lstStyle/>
          <a:p>
            <a:pPr algn="ctr" indent="0" marL="0">
              <a:buNone/>
            </a:pPr>
            <a:r>
              <a:rPr lang="en-US" sz="1050" dirty="0">
                <a:solidFill>
                  <a:srgbClr val="5A6B7D"/>
                </a:solidFill>
                <a:latin typeface="Calibri" pitchFamily="34" charset="0"/>
                <a:ea typeface="Calibri" pitchFamily="34" charset="-122"/>
                <a:cs typeface="Calibri" pitchFamily="34" charset="-120"/>
              </a:rPr>
              <a:t>then the container is started and probed</a:t>
            </a:r>
            <a:endParaRPr lang="en-US" sz="1050" dirty="0"/>
          </a:p>
        </p:txBody>
      </p:sp>
      <p:sp>
        <p:nvSpPr>
          <p:cNvPr id="22" name="Text 20"/>
          <p:cNvSpPr/>
          <p:nvPr/>
        </p:nvSpPr>
        <p:spPr>
          <a:xfrm>
            <a:off x="8823960" y="2148840"/>
            <a:ext cx="237744" cy="365760"/>
          </a:xfrm>
          <a:prstGeom prst="rect">
            <a:avLst/>
          </a:prstGeom>
          <a:noFill/>
          <a:ln/>
        </p:spPr>
        <p:txBody>
          <a:bodyPr wrap="square" lIns="0" tIns="0" rIns="0" bIns="0" rtlCol="0" anchor="ctr"/>
          <a:lstStyle/>
          <a:p>
            <a:pPr algn="ctr" indent="0" marL="0">
              <a:buNone/>
            </a:pPr>
            <a:r>
              <a:rPr lang="en-US" sz="1800" b="1" dirty="0">
                <a:solidFill>
                  <a:srgbClr val="1C7293"/>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9079992" y="1371600"/>
            <a:ext cx="2514600" cy="1874520"/>
          </a:xfrm>
          <a:prstGeom prst="roundRect">
            <a:avLst>
              <a:gd name="adj" fmla="val 4390"/>
            </a:avLst>
          </a:prstGeom>
          <a:solidFill>
            <a:srgbClr val="F2F5F9"/>
          </a:solidFill>
          <a:ln w="12700">
            <a:solidFill>
              <a:srgbClr val="F2F5F9"/>
            </a:solidFill>
            <a:prstDash val="solid"/>
          </a:ln>
        </p:spPr>
      </p:sp>
      <p:sp>
        <p:nvSpPr>
          <p:cNvPr id="24" name="Shape 22"/>
          <p:cNvSpPr/>
          <p:nvPr/>
        </p:nvSpPr>
        <p:spPr>
          <a:xfrm>
            <a:off x="10085832" y="1600200"/>
            <a:ext cx="502920" cy="502920"/>
          </a:xfrm>
          <a:prstGeom prst="ellipse">
            <a:avLst/>
          </a:prstGeom>
          <a:solidFill>
            <a:srgbClr val="C81E3C"/>
          </a:solidFill>
          <a:ln w="12700">
            <a:solidFill>
              <a:srgbClr val="C81E3C"/>
            </a:solidFill>
            <a:prstDash val="solid"/>
          </a:ln>
        </p:spPr>
      </p:sp>
      <p:sp>
        <p:nvSpPr>
          <p:cNvPr id="25" name="Text 23"/>
          <p:cNvSpPr/>
          <p:nvPr/>
        </p:nvSpPr>
        <p:spPr>
          <a:xfrm>
            <a:off x="10085832" y="160020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p:nvPr/>
        </p:nvSpPr>
        <p:spPr>
          <a:xfrm>
            <a:off x="9217152" y="2212848"/>
            <a:ext cx="2240280" cy="320040"/>
          </a:xfrm>
          <a:prstGeom prst="rect">
            <a:avLst/>
          </a:prstGeom>
          <a:noFill/>
          <a:ln/>
        </p:spPr>
        <p:txBody>
          <a:bodyPr wrap="square" lIns="0" tIns="0" rIns="0" bIns="0" rtlCol="0" anchor="ctr"/>
          <a:lstStyle/>
          <a:p>
            <a:pPr algn="ctr" indent="0" marL="0">
              <a:buNone/>
            </a:pPr>
            <a:r>
              <a:rPr lang="en-US" sz="1400" b="1" dirty="0">
                <a:solidFill>
                  <a:srgbClr val="17222E"/>
                </a:solidFill>
                <a:latin typeface="Calibri" pitchFamily="34" charset="0"/>
                <a:ea typeface="Calibri" pitchFamily="34" charset="-122"/>
                <a:cs typeface="Calibri" pitchFamily="34" charset="-120"/>
              </a:rPr>
              <a:t>deploy</a:t>
            </a:r>
            <a:endParaRPr lang="en-US" sz="1400" dirty="0"/>
          </a:p>
        </p:txBody>
      </p:sp>
      <p:sp>
        <p:nvSpPr>
          <p:cNvPr id="27" name="Text 25"/>
          <p:cNvSpPr/>
          <p:nvPr/>
        </p:nvSpPr>
        <p:spPr>
          <a:xfrm>
            <a:off x="9217152" y="2542032"/>
            <a:ext cx="2240280" cy="594360"/>
          </a:xfrm>
          <a:prstGeom prst="rect">
            <a:avLst/>
          </a:prstGeom>
          <a:noFill/>
          <a:ln/>
        </p:spPr>
        <p:txBody>
          <a:bodyPr wrap="square" lIns="0" tIns="0" rIns="0" bIns="0" rtlCol="0" anchor="t"/>
          <a:lstStyle/>
          <a:p>
            <a:pPr algn="ctr" indent="0" marL="0">
              <a:buNone/>
            </a:pPr>
            <a:r>
              <a:rPr lang="en-US" sz="1050" dirty="0">
                <a:solidFill>
                  <a:srgbClr val="5A6B7D"/>
                </a:solidFill>
                <a:latin typeface="Calibri" pitchFamily="34" charset="0"/>
                <a:ea typeface="Calibri" pitchFamily="34" charset="-122"/>
                <a:cs typeface="Calibri" pitchFamily="34" charset="-120"/>
              </a:rPr>
              <a:t>Render deploy hook, main branch only</a:t>
            </a:r>
            <a:endParaRPr lang="en-US" sz="1050" dirty="0"/>
          </a:p>
        </p:txBody>
      </p:sp>
      <p:sp>
        <p:nvSpPr>
          <p:cNvPr id="28" name="Shape 26"/>
          <p:cNvSpPr/>
          <p:nvPr/>
        </p:nvSpPr>
        <p:spPr>
          <a:xfrm>
            <a:off x="685800" y="3474720"/>
            <a:ext cx="5349240" cy="2487168"/>
          </a:xfrm>
          <a:prstGeom prst="roundRect">
            <a:avLst>
              <a:gd name="adj" fmla="val 3309"/>
            </a:avLst>
          </a:prstGeom>
          <a:solidFill>
            <a:srgbClr val="F2F5F9"/>
          </a:solidFill>
          <a:ln w="12700">
            <a:solidFill>
              <a:srgbClr val="F2F5F9"/>
            </a:solidFill>
            <a:prstDash val="solid"/>
          </a:ln>
        </p:spPr>
      </p:sp>
      <p:sp>
        <p:nvSpPr>
          <p:cNvPr id="29" name="Text 27"/>
          <p:cNvSpPr/>
          <p:nvPr/>
        </p:nvSpPr>
        <p:spPr>
          <a:xfrm>
            <a:off x="960120" y="3657600"/>
            <a:ext cx="4846320" cy="320040"/>
          </a:xfrm>
          <a:prstGeom prst="rect">
            <a:avLst/>
          </a:prstGeom>
          <a:noFill/>
          <a:ln/>
        </p:spPr>
        <p:txBody>
          <a:bodyPr wrap="square" lIns="0" tIns="0" rIns="0" bIns="0" rtlCol="0" anchor="ctr"/>
          <a:lstStyle/>
          <a:p>
            <a:pPr indent="0" marL="0">
              <a:buNone/>
            </a:pPr>
            <a:r>
              <a:rPr lang="en-US" sz="1450" b="1" dirty="0">
                <a:solidFill>
                  <a:srgbClr val="17222E"/>
                </a:solidFill>
                <a:latin typeface="Calibri" pitchFamily="34" charset="0"/>
                <a:ea typeface="Calibri" pitchFamily="34" charset="-122"/>
                <a:cs typeface="Calibri" pitchFamily="34" charset="-120"/>
              </a:rPr>
              <a:t>The container is tested, not just built</a:t>
            </a:r>
            <a:endParaRPr lang="en-US" sz="1450" dirty="0"/>
          </a:p>
        </p:txBody>
      </p:sp>
      <p:sp>
        <p:nvSpPr>
          <p:cNvPr id="30" name="Text 28"/>
          <p:cNvSpPr/>
          <p:nvPr/>
        </p:nvSpPr>
        <p:spPr>
          <a:xfrm>
            <a:off x="960120" y="4041648"/>
            <a:ext cx="4846320" cy="192024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5A6B7D"/>
                </a:solidFill>
                <a:latin typeface="Calibri" pitchFamily="34" charset="0"/>
                <a:ea typeface="Calibri" pitchFamily="34" charset="-122"/>
                <a:cs typeface="Calibri" pitchFamily="34" charset="-120"/>
              </a:rPr>
              <a:t>CI starts the image it just built, waits for it to come up, and checks /health reports the model as loaded.</a:t>
            </a:r>
            <a:endParaRPr lang="en-US" sz="1150" dirty="0"/>
          </a:p>
          <a:p>
            <a:pPr marL="342900" indent="-342900">
              <a:spcAft>
                <a:spcPts val="800"/>
              </a:spcAft>
              <a:buSzPct val="100000"/>
              <a:buChar char="•"/>
            </a:pPr>
            <a:r>
              <a:rPr lang="en-US" sz="1150" dirty="0">
                <a:solidFill>
                  <a:srgbClr val="5A6B7D"/>
                </a:solidFill>
                <a:latin typeface="Calibri" pitchFamily="34" charset="0"/>
                <a:ea typeface="Calibri" pitchFamily="34" charset="-122"/>
                <a:cs typeface="Calibri" pitchFamily="34" charset="-120"/>
              </a:rPr>
              <a:t>It posts a real transaction to /predict and asserts the probability is between 0 and 1.</a:t>
            </a:r>
            <a:endParaRPr lang="en-US" sz="1150" dirty="0"/>
          </a:p>
          <a:p>
            <a:pPr marL="342900" indent="-342900">
              <a:spcAft>
                <a:spcPts val="800"/>
              </a:spcAft>
              <a:buSzPct val="100000"/>
              <a:buChar char="•"/>
            </a:pPr>
            <a:r>
              <a:rPr lang="en-US" sz="1150" dirty="0">
                <a:solidFill>
                  <a:srgbClr val="5A6B7D"/>
                </a:solidFill>
                <a:latin typeface="Calibri" pitchFamily="34" charset="0"/>
                <a:ea typeface="Calibri" pitchFamily="34" charset="-122"/>
                <a:cs typeface="Calibri" pitchFamily="34" charset="-120"/>
              </a:rPr>
              <a:t>It sends a malformed body and asserts a 422 comes back.</a:t>
            </a:r>
            <a:endParaRPr lang="en-US" sz="1150" dirty="0"/>
          </a:p>
        </p:txBody>
      </p:sp>
      <p:sp>
        <p:nvSpPr>
          <p:cNvPr id="31" name="Shape 29"/>
          <p:cNvSpPr/>
          <p:nvPr/>
        </p:nvSpPr>
        <p:spPr>
          <a:xfrm>
            <a:off x="6400800" y="3474720"/>
            <a:ext cx="5120640" cy="2487168"/>
          </a:xfrm>
          <a:prstGeom prst="roundRect">
            <a:avLst>
              <a:gd name="adj" fmla="val 3309"/>
            </a:avLst>
          </a:prstGeom>
          <a:solidFill>
            <a:srgbClr val="F2F5F9"/>
          </a:solidFill>
          <a:ln w="12700">
            <a:solidFill>
              <a:srgbClr val="F2F5F9"/>
            </a:solidFill>
            <a:prstDash val="solid"/>
          </a:ln>
        </p:spPr>
      </p:sp>
      <p:sp>
        <p:nvSpPr>
          <p:cNvPr id="32" name="Text 30"/>
          <p:cNvSpPr/>
          <p:nvPr/>
        </p:nvSpPr>
        <p:spPr>
          <a:xfrm>
            <a:off x="6675120" y="3657600"/>
            <a:ext cx="4572000" cy="320040"/>
          </a:xfrm>
          <a:prstGeom prst="rect">
            <a:avLst/>
          </a:prstGeom>
          <a:noFill/>
          <a:ln/>
        </p:spPr>
        <p:txBody>
          <a:bodyPr wrap="square" lIns="0" tIns="0" rIns="0" bIns="0" rtlCol="0" anchor="ctr"/>
          <a:lstStyle/>
          <a:p>
            <a:pPr indent="0" marL="0">
              <a:buNone/>
            </a:pPr>
            <a:r>
              <a:rPr lang="en-US" sz="1450" b="1" dirty="0">
                <a:solidFill>
                  <a:srgbClr val="17222E"/>
                </a:solidFill>
                <a:latin typeface="Calibri" pitchFamily="34" charset="0"/>
                <a:ea typeface="Calibri" pitchFamily="34" charset="-122"/>
                <a:cs typeface="Calibri" pitchFamily="34" charset="-120"/>
              </a:rPr>
              <a:t>Pull request vs. main</a:t>
            </a:r>
            <a:endParaRPr lang="en-US" sz="1450" dirty="0"/>
          </a:p>
        </p:txBody>
      </p:sp>
      <p:sp>
        <p:nvSpPr>
          <p:cNvPr id="33" name="Shape 31"/>
          <p:cNvSpPr/>
          <p:nvPr/>
        </p:nvSpPr>
        <p:spPr>
          <a:xfrm>
            <a:off x="6675120" y="4151376"/>
            <a:ext cx="420624" cy="420624"/>
          </a:xfrm>
          <a:prstGeom prst="ellipse">
            <a:avLst/>
          </a:prstGeom>
          <a:solidFill>
            <a:srgbClr val="1C7293"/>
          </a:solidFill>
          <a:ln w="12700">
            <a:solidFill>
              <a:srgbClr val="1C7293"/>
            </a:solidFill>
            <a:prstDash val="solid"/>
          </a:ln>
        </p:spPr>
      </p:sp>
      <p:sp>
        <p:nvSpPr>
          <p:cNvPr id="34" name="Text 32"/>
          <p:cNvSpPr/>
          <p:nvPr/>
        </p:nvSpPr>
        <p:spPr>
          <a:xfrm>
            <a:off x="6675120" y="415137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t>
            </a:r>
            <a:endParaRPr lang="en-US" sz="1200" dirty="0"/>
          </a:p>
        </p:txBody>
      </p:sp>
      <p:sp>
        <p:nvSpPr>
          <p:cNvPr id="35" name="Text 33"/>
          <p:cNvSpPr/>
          <p:nvPr/>
        </p:nvSpPr>
        <p:spPr>
          <a:xfrm>
            <a:off x="7278624" y="4114800"/>
            <a:ext cx="3968496" cy="274320"/>
          </a:xfrm>
          <a:prstGeom prst="rect">
            <a:avLst/>
          </a:prstGeom>
          <a:noFill/>
          <a:ln/>
        </p:spPr>
        <p:txBody>
          <a:bodyPr wrap="square" lIns="0" tIns="0" rIns="0" bIns="0" rtlCol="0" anchor="ctr"/>
          <a:lstStyle/>
          <a:p>
            <a:pPr indent="0" marL="0">
              <a:buNone/>
            </a:pPr>
            <a:r>
              <a:rPr lang="en-US" sz="1400" b="1" dirty="0">
                <a:solidFill>
                  <a:srgbClr val="17222E"/>
                </a:solidFill>
                <a:latin typeface="Calibri" pitchFamily="34" charset="0"/>
                <a:ea typeface="Calibri" pitchFamily="34" charset="-122"/>
                <a:cs typeface="Calibri" pitchFamily="34" charset="-120"/>
              </a:rPr>
              <a:t>Pull request</a:t>
            </a:r>
            <a:endParaRPr lang="en-US" sz="1400" dirty="0"/>
          </a:p>
        </p:txBody>
      </p:sp>
      <p:sp>
        <p:nvSpPr>
          <p:cNvPr id="36" name="Text 34"/>
          <p:cNvSpPr/>
          <p:nvPr/>
        </p:nvSpPr>
        <p:spPr>
          <a:xfrm>
            <a:off x="7278624" y="4379976"/>
            <a:ext cx="3968496" cy="384048"/>
          </a:xfrm>
          <a:prstGeom prst="rect">
            <a:avLst/>
          </a:prstGeom>
          <a:noFill/>
          <a:ln/>
        </p:spPr>
        <p:txBody>
          <a:bodyPr wrap="square" lIns="0" tIns="0" rIns="0" bIns="0" rtlCol="0" anchor="t"/>
          <a:lstStyle/>
          <a:p>
            <a:pPr indent="0" marL="0">
              <a:buNone/>
            </a:pPr>
            <a:r>
              <a:rPr lang="en-US" sz="1150" dirty="0">
                <a:solidFill>
                  <a:srgbClr val="5A6B7D"/>
                </a:solidFill>
                <a:latin typeface="Calibri" pitchFamily="34" charset="0"/>
                <a:ea typeface="Calibri" pitchFamily="34" charset="-122"/>
                <a:cs typeface="Calibri" pitchFamily="34" charset="-120"/>
              </a:rPr>
              <a:t>Lint, tests and the container smoke test run. Deployment is skipped.</a:t>
            </a:r>
            <a:endParaRPr lang="en-US" sz="1150" dirty="0"/>
          </a:p>
        </p:txBody>
      </p:sp>
      <p:sp>
        <p:nvSpPr>
          <p:cNvPr id="37" name="Shape 35"/>
          <p:cNvSpPr/>
          <p:nvPr/>
        </p:nvSpPr>
        <p:spPr>
          <a:xfrm>
            <a:off x="6675120" y="4928616"/>
            <a:ext cx="420624" cy="420624"/>
          </a:xfrm>
          <a:prstGeom prst="ellipse">
            <a:avLst/>
          </a:prstGeom>
          <a:solidFill>
            <a:srgbClr val="C81E3C"/>
          </a:solidFill>
          <a:ln w="12700">
            <a:solidFill>
              <a:srgbClr val="C81E3C"/>
            </a:solidFill>
            <a:prstDash val="solid"/>
          </a:ln>
        </p:spPr>
      </p:sp>
      <p:sp>
        <p:nvSpPr>
          <p:cNvPr id="38" name="Text 36"/>
          <p:cNvSpPr/>
          <p:nvPr/>
        </p:nvSpPr>
        <p:spPr>
          <a:xfrm>
            <a:off x="6675120" y="492861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
            </a:r>
            <a:endParaRPr lang="en-US" sz="1200" dirty="0"/>
          </a:p>
        </p:txBody>
      </p:sp>
      <p:sp>
        <p:nvSpPr>
          <p:cNvPr id="39" name="Text 37"/>
          <p:cNvSpPr/>
          <p:nvPr/>
        </p:nvSpPr>
        <p:spPr>
          <a:xfrm>
            <a:off x="7278624" y="4892040"/>
            <a:ext cx="3968496" cy="274320"/>
          </a:xfrm>
          <a:prstGeom prst="rect">
            <a:avLst/>
          </a:prstGeom>
          <a:noFill/>
          <a:ln/>
        </p:spPr>
        <p:txBody>
          <a:bodyPr wrap="square" lIns="0" tIns="0" rIns="0" bIns="0" rtlCol="0" anchor="ctr"/>
          <a:lstStyle/>
          <a:p>
            <a:pPr indent="0" marL="0">
              <a:buNone/>
            </a:pPr>
            <a:r>
              <a:rPr lang="en-US" sz="1400" b="1" dirty="0">
                <a:solidFill>
                  <a:srgbClr val="17222E"/>
                </a:solidFill>
                <a:latin typeface="Calibri" pitchFamily="34" charset="0"/>
                <a:ea typeface="Calibri" pitchFamily="34" charset="-122"/>
                <a:cs typeface="Calibri" pitchFamily="34" charset="-120"/>
              </a:rPr>
              <a:t>Push to main</a:t>
            </a:r>
            <a:endParaRPr lang="en-US" sz="1400" dirty="0"/>
          </a:p>
        </p:txBody>
      </p:sp>
      <p:sp>
        <p:nvSpPr>
          <p:cNvPr id="40" name="Text 38"/>
          <p:cNvSpPr/>
          <p:nvPr/>
        </p:nvSpPr>
        <p:spPr>
          <a:xfrm>
            <a:off x="7278624" y="5157216"/>
            <a:ext cx="3968496" cy="384048"/>
          </a:xfrm>
          <a:prstGeom prst="rect">
            <a:avLst/>
          </a:prstGeom>
          <a:noFill/>
          <a:ln/>
        </p:spPr>
        <p:txBody>
          <a:bodyPr wrap="square" lIns="0" tIns="0" rIns="0" bIns="0" rtlCol="0" anchor="t"/>
          <a:lstStyle/>
          <a:p>
            <a:pPr indent="0" marL="0">
              <a:buNone/>
            </a:pPr>
            <a:r>
              <a:rPr lang="en-US" sz="1150" dirty="0">
                <a:solidFill>
                  <a:srgbClr val="5A6B7D"/>
                </a:solidFill>
                <a:latin typeface="Calibri" pitchFamily="34" charset="0"/>
                <a:ea typeface="Calibri" pitchFamily="34" charset="-122"/>
                <a:cs typeface="Calibri" pitchFamily="34" charset="-120"/>
              </a:rPr>
              <a:t>The same checks run first; only if they all pass does the deploy job fire.</a:t>
            </a:r>
            <a:endParaRPr lang="en-US" sz="1150" dirty="0"/>
          </a:p>
        </p:txBody>
      </p:sp>
      <p:sp>
        <p:nvSpPr>
          <p:cNvPr id="41" name="Text 39"/>
          <p:cNvSpPr/>
          <p:nvPr/>
        </p:nvSpPr>
        <p:spPr>
          <a:xfrm>
            <a:off x="6675120" y="5596128"/>
            <a:ext cx="4572000" cy="411480"/>
          </a:xfrm>
          <a:prstGeom prst="rect">
            <a:avLst/>
          </a:prstGeom>
          <a:noFill/>
          <a:ln/>
        </p:spPr>
        <p:txBody>
          <a:bodyPr wrap="square" lIns="0" tIns="0" rIns="0" bIns="0" rtlCol="0" anchor="t"/>
          <a:lstStyle/>
          <a:p>
            <a:pPr indent="0" marL="0">
              <a:buNone/>
            </a:pPr>
            <a:r>
              <a:rPr lang="en-US" sz="1050" i="1" dirty="0">
                <a:solidFill>
                  <a:srgbClr val="5A6B7D"/>
                </a:solidFill>
                <a:latin typeface="Calibri" pitchFamily="34" charset="0"/>
                <a:ea typeface="Calibri" pitchFamily="34" charset="-122"/>
                <a:cs typeface="Calibri" pitchFamily="34" charset="-120"/>
              </a:rPr>
              <a:t>Render auto-deploy is switched off on purpose — CI is the only route to production.</a:t>
            </a:r>
            <a:endParaRPr lang="en-US" sz="1050" dirty="0"/>
          </a:p>
        </p:txBody>
      </p:sp>
      <p:sp>
        <p:nvSpPr>
          <p:cNvPr id="42" name="Shape 40"/>
          <p:cNvSpPr/>
          <p:nvPr/>
        </p:nvSpPr>
        <p:spPr>
          <a:xfrm>
            <a:off x="685800" y="6181344"/>
            <a:ext cx="10835640" cy="384048"/>
          </a:xfrm>
          <a:prstGeom prst="roundRect">
            <a:avLst>
              <a:gd name="adj" fmla="val 21429"/>
            </a:avLst>
          </a:prstGeom>
          <a:solidFill>
            <a:srgbClr val="E7F3EC"/>
          </a:solidFill>
          <a:ln w="12700">
            <a:solidFill>
              <a:srgbClr val="E7F3EC"/>
            </a:solidFill>
            <a:prstDash val="solid"/>
          </a:ln>
        </p:spPr>
      </p:sp>
      <p:sp>
        <p:nvSpPr>
          <p:cNvPr id="43" name="Text 41"/>
          <p:cNvSpPr/>
          <p:nvPr/>
        </p:nvSpPr>
        <p:spPr>
          <a:xfrm>
            <a:off x="960120" y="6181344"/>
            <a:ext cx="10287000" cy="384048"/>
          </a:xfrm>
          <a:prstGeom prst="rect">
            <a:avLst/>
          </a:prstGeom>
          <a:noFill/>
          <a:ln/>
        </p:spPr>
        <p:txBody>
          <a:bodyPr wrap="square" lIns="0" tIns="0" rIns="0" bIns="0" rtlCol="0" anchor="ctr"/>
          <a:lstStyle/>
          <a:p>
            <a:pPr indent="0" marL="0">
              <a:buNone/>
            </a:pPr>
            <a:r>
              <a:rPr lang="en-US" sz="1100" b="1" dirty="0">
                <a:solidFill>
                  <a:srgbClr val="1E7A50"/>
                </a:solidFill>
                <a:latin typeface="Calibri" pitchFamily="34" charset="0"/>
                <a:ea typeface="Calibri" pitchFamily="34" charset="-122"/>
                <a:cs typeface="Calibri" pitchFamily="34" charset="-120"/>
              </a:rPr>
              <a:t>All three jobs green on commit 363892b — lint and test, build and smoke-test the image, deploy to Render.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595360" cy="731520"/>
          </a:xfrm>
          <a:prstGeom prst="rect">
            <a:avLst/>
          </a:prstGeom>
          <a:noFill/>
          <a:ln/>
        </p:spPr>
        <p:txBody>
          <a:bodyPr wrap="square" lIns="0" tIns="0" rIns="0" bIns="0" rtlCol="0" anchor="ctr"/>
          <a:lstStyle/>
          <a:p>
            <a:pPr algn="l" indent="0" marL="0">
              <a:buNone/>
            </a:pPr>
            <a:r>
              <a:rPr lang="en-US" sz="3400" b="1" dirty="0">
                <a:solidFill>
                  <a:srgbClr val="10233F"/>
                </a:solidFill>
                <a:latin typeface="Cambria" pitchFamily="34" charset="0"/>
                <a:ea typeface="Cambria" pitchFamily="34" charset="-122"/>
                <a:cs typeface="Cambria" pitchFamily="34" charset="-120"/>
              </a:rPr>
              <a:t>Drift monitoring with EvidentlyAI</a:t>
            </a:r>
            <a:endParaRPr lang="en-US" sz="3400" dirty="0"/>
          </a:p>
        </p:txBody>
      </p:sp>
      <p:sp>
        <p:nvSpPr>
          <p:cNvPr id="3" name="Shape 1"/>
          <p:cNvSpPr/>
          <p:nvPr/>
        </p:nvSpPr>
        <p:spPr>
          <a:xfrm>
            <a:off x="9464040" y="457200"/>
            <a:ext cx="2194560" cy="420624"/>
          </a:xfrm>
          <a:prstGeom prst="roundRect">
            <a:avLst>
              <a:gd name="adj" fmla="val 47826"/>
            </a:avLst>
          </a:prstGeom>
          <a:solidFill>
            <a:srgbClr val="F2F5F9"/>
          </a:solidFill>
          <a:ln w="12700">
            <a:solidFill>
              <a:srgbClr val="F2F5F9"/>
            </a:solidFill>
            <a:prstDash val="solid"/>
          </a:ln>
        </p:spPr>
      </p:sp>
      <p:sp>
        <p:nvSpPr>
          <p:cNvPr id="4" name="Text 2"/>
          <p:cNvSpPr/>
          <p:nvPr/>
        </p:nvSpPr>
        <p:spPr>
          <a:xfrm>
            <a:off x="9464040" y="457200"/>
            <a:ext cx="2194560" cy="42062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Someyah</a:t>
            </a:r>
            <a:endParaRPr lang="en-US" sz="1100" dirty="0"/>
          </a:p>
        </p:txBody>
      </p:sp>
      <p:graphicFrame>
        <p:nvGraphicFramePr>
          <p:cNvPr id="5" name="Chart 0" descr=""/>
          <p:cNvGraphicFramePr/>
          <p:nvPr/>
        </p:nvGraphicFramePr>
        <p:xfrm>
          <a:off x="685800" y="1325880"/>
          <a:ext cx="5349240" cy="2788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85800" y="4315968"/>
            <a:ext cx="5349240" cy="1810512"/>
          </a:xfrm>
          <a:prstGeom prst="roundRect">
            <a:avLst>
              <a:gd name="adj" fmla="val 4545"/>
            </a:avLst>
          </a:prstGeom>
          <a:solidFill>
            <a:srgbClr val="F2F5F9"/>
          </a:solidFill>
          <a:ln w="12700">
            <a:solidFill>
              <a:srgbClr val="F2F5F9"/>
            </a:solidFill>
            <a:prstDash val="solid"/>
          </a:ln>
        </p:spPr>
      </p:sp>
      <p:sp>
        <p:nvSpPr>
          <p:cNvPr id="7" name="Text 4"/>
          <p:cNvSpPr/>
          <p:nvPr/>
        </p:nvSpPr>
        <p:spPr>
          <a:xfrm>
            <a:off x="960120" y="4480560"/>
            <a:ext cx="4846320" cy="292608"/>
          </a:xfrm>
          <a:prstGeom prst="rect">
            <a:avLst/>
          </a:prstGeom>
          <a:noFill/>
          <a:ln/>
        </p:spPr>
        <p:txBody>
          <a:bodyPr wrap="square" lIns="0" tIns="0" rIns="0" bIns="0" rtlCol="0" anchor="ctr"/>
          <a:lstStyle/>
          <a:p>
            <a:pPr indent="0" marL="0">
              <a:buNone/>
            </a:pPr>
            <a:r>
              <a:rPr lang="en-US" sz="1350" b="1" dirty="0">
                <a:solidFill>
                  <a:srgbClr val="17222E"/>
                </a:solidFill>
                <a:latin typeface="Calibri" pitchFamily="34" charset="0"/>
                <a:ea typeface="Calibri" pitchFamily="34" charset="-122"/>
                <a:cs typeface="Calibri" pitchFamily="34" charset="-120"/>
              </a:rPr>
              <a:t>How the comparison is set up</a:t>
            </a:r>
            <a:endParaRPr lang="en-US" sz="1350" dirty="0"/>
          </a:p>
        </p:txBody>
      </p:sp>
      <p:sp>
        <p:nvSpPr>
          <p:cNvPr id="8" name="Text 5"/>
          <p:cNvSpPr/>
          <p:nvPr/>
        </p:nvSpPr>
        <p:spPr>
          <a:xfrm>
            <a:off x="960120" y="4800600"/>
            <a:ext cx="4846320" cy="1188720"/>
          </a:xfrm>
          <a:prstGeom prst="rect">
            <a:avLst/>
          </a:prstGeom>
          <a:noFill/>
          <a:ln/>
        </p:spPr>
        <p:txBody>
          <a:bodyPr wrap="square" lIns="0" tIns="0" rIns="0" bIns="0" rtlCol="0" anchor="t"/>
          <a:lstStyle/>
          <a:p>
            <a:pPr indent="0" marL="0">
              <a:lnSpc>
                <a:spcPts val="1500"/>
              </a:lnSpc>
              <a:buNone/>
            </a:pPr>
            <a:r>
              <a:rPr lang="en-US" sz="1100" dirty="0">
                <a:solidFill>
                  <a:srgbClr val="5A6B7D"/>
                </a:solidFill>
                <a:latin typeface="Calibri" pitchFamily="34" charset="0"/>
                <a:ea typeface="Calibri" pitchFamily="34" charset="-122"/>
                <a:cs typeface="Calibri" pitchFamily="34" charset="-120"/>
              </a:rPr>
              <a:t>Reference: a fixed 10,000-row sample of the training split.</a:t>
            </a:r>
            <a:endParaRPr lang="en-US" sz="1100" dirty="0"/>
          </a:p>
          <a:p>
            <a:pPr indent="0" marL="0">
              <a:lnSpc>
                <a:spcPts val="1500"/>
              </a:lnSpc>
              <a:buNone/>
            </a:pPr>
            <a:r>
              <a:rPr lang="en-US" sz="1100" dirty="0">
                <a:solidFill>
                  <a:srgbClr val="5A6B7D"/>
                </a:solidFill>
                <a:latin typeface="Calibri" pitchFamily="34" charset="0"/>
                <a:ea typeface="Calibri" pitchFamily="34" charset="-122"/>
                <a:cs typeface="Calibri" pitchFamily="34" charset="-120"/>
              </a:rPr>
              <a:t>Current: 5,000 production-shaped rows.</a:t>
            </a:r>
            <a:endParaRPr lang="en-US" sz="1100" dirty="0"/>
          </a:p>
          <a:p>
            <a:pPr indent="0" marL="0">
              <a:lnSpc>
                <a:spcPts val="1500"/>
              </a:lnSpc>
              <a:buNone/>
            </a:pPr>
            <a:r>
              <a:rPr lang="en-US" sz="1100" dirty="0">
                <a:solidFill>
                  <a:srgbClr val="5A6B7D"/>
                </a:solidFill>
                <a:latin typeface="Calibri" pitchFamily="34" charset="0"/>
                <a:ea typeface="Calibri" pitchFamily="34" charset="-122"/>
                <a:cs typeface="Calibri" pitchFamily="34" charset="-120"/>
              </a:rPr>
              <a:t>30 features compared with a K-S test; Class is excluded because the API never sees a label.</a:t>
            </a:r>
            <a:endParaRPr lang="en-US" sz="1100" dirty="0"/>
          </a:p>
        </p:txBody>
      </p:sp>
      <p:sp>
        <p:nvSpPr>
          <p:cNvPr id="9" name="Shape 6"/>
          <p:cNvSpPr/>
          <p:nvPr/>
        </p:nvSpPr>
        <p:spPr>
          <a:xfrm>
            <a:off x="6400800" y="1325880"/>
            <a:ext cx="5120640" cy="1993392"/>
          </a:xfrm>
          <a:prstGeom prst="roundRect">
            <a:avLst>
              <a:gd name="adj" fmla="val 4128"/>
            </a:avLst>
          </a:prstGeom>
          <a:solidFill>
            <a:srgbClr val="F2F5F9"/>
          </a:solidFill>
          <a:ln w="12700">
            <a:solidFill>
              <a:srgbClr val="F2F5F9"/>
            </a:solidFill>
            <a:prstDash val="solid"/>
          </a:ln>
        </p:spPr>
      </p:sp>
      <p:sp>
        <p:nvSpPr>
          <p:cNvPr id="10" name="Shape 7"/>
          <p:cNvSpPr/>
          <p:nvPr/>
        </p:nvSpPr>
        <p:spPr>
          <a:xfrm>
            <a:off x="6675120" y="1536192"/>
            <a:ext cx="420624" cy="420624"/>
          </a:xfrm>
          <a:prstGeom prst="ellipse">
            <a:avLst/>
          </a:prstGeom>
          <a:solidFill>
            <a:srgbClr val="1E7A50"/>
          </a:solidFill>
          <a:ln w="12700">
            <a:solidFill>
              <a:srgbClr val="1E7A50"/>
            </a:solidFill>
            <a:prstDash val="solid"/>
          </a:ln>
        </p:spPr>
      </p:sp>
      <p:sp>
        <p:nvSpPr>
          <p:cNvPr id="11" name="Text 8"/>
          <p:cNvSpPr/>
          <p:nvPr/>
        </p:nvSpPr>
        <p:spPr>
          <a:xfrm>
            <a:off x="6675120" y="153619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OK</a:t>
            </a:r>
            <a:endParaRPr lang="en-US" sz="1200" dirty="0"/>
          </a:p>
        </p:txBody>
      </p:sp>
      <p:sp>
        <p:nvSpPr>
          <p:cNvPr id="12" name="Text 9"/>
          <p:cNvSpPr/>
          <p:nvPr/>
        </p:nvSpPr>
        <p:spPr>
          <a:xfrm>
            <a:off x="7278624" y="1517904"/>
            <a:ext cx="4023360" cy="310896"/>
          </a:xfrm>
          <a:prstGeom prst="rect">
            <a:avLst/>
          </a:prstGeom>
          <a:noFill/>
          <a:ln/>
        </p:spPr>
        <p:txBody>
          <a:bodyPr wrap="square" lIns="0" tIns="0" rIns="0" bIns="0" rtlCol="0" anchor="ctr"/>
          <a:lstStyle/>
          <a:p>
            <a:pPr indent="0" marL="0">
              <a:buNone/>
            </a:pPr>
            <a:r>
              <a:rPr lang="en-US" sz="1450" b="1" dirty="0">
                <a:solidFill>
                  <a:srgbClr val="17222E"/>
                </a:solidFill>
                <a:latin typeface="Calibri" pitchFamily="34" charset="0"/>
                <a:ea typeface="Calibri" pitchFamily="34" charset="-122"/>
                <a:cs typeface="Calibri" pitchFamily="34" charset="-120"/>
              </a:rPr>
              <a:t>Healthy batch</a:t>
            </a:r>
            <a:endParaRPr lang="en-US" sz="1450" dirty="0"/>
          </a:p>
        </p:txBody>
      </p:sp>
      <p:sp>
        <p:nvSpPr>
          <p:cNvPr id="13" name="Text 10"/>
          <p:cNvSpPr/>
          <p:nvPr/>
        </p:nvSpPr>
        <p:spPr>
          <a:xfrm>
            <a:off x="6675120" y="2029968"/>
            <a:ext cx="4572000" cy="1371600"/>
          </a:xfrm>
          <a:prstGeom prst="rect">
            <a:avLst/>
          </a:prstGeom>
          <a:noFill/>
          <a:ln/>
        </p:spPr>
        <p:txBody>
          <a:bodyPr wrap="square" lIns="0" tIns="0" rIns="0" bIns="0" rtlCol="0" anchor="t"/>
          <a:lstStyle/>
          <a:p>
            <a:pPr indent="0" marL="0">
              <a:buNone/>
            </a:pPr>
            <a:r>
              <a:rPr lang="en-US" sz="1100" dirty="0">
                <a:solidFill>
                  <a:srgbClr val="5A6B7D"/>
                </a:solidFill>
                <a:latin typeface="Calibri" pitchFamily="34" charset="0"/>
                <a:ea typeface="Calibri" pitchFamily="34" charset="-122"/>
                <a:cs typeface="Calibri" pitchFamily="34" charset="-120"/>
              </a:rPr>
              <a:t>Untouched rows from the test split. Evidently flags 0 of 30 columns, share 0.000 — no dataset drift. This is the control: it shows the monitor is not simply alarmed by everything.</a:t>
            </a:r>
            <a:endParaRPr lang="en-US" sz="1100" dirty="0"/>
          </a:p>
        </p:txBody>
      </p:sp>
      <p:sp>
        <p:nvSpPr>
          <p:cNvPr id="14" name="Shape 11"/>
          <p:cNvSpPr/>
          <p:nvPr/>
        </p:nvSpPr>
        <p:spPr>
          <a:xfrm>
            <a:off x="6400800" y="3493008"/>
            <a:ext cx="5120640" cy="2633472"/>
          </a:xfrm>
          <a:prstGeom prst="roundRect">
            <a:avLst>
              <a:gd name="adj" fmla="val 3125"/>
            </a:avLst>
          </a:prstGeom>
          <a:solidFill>
            <a:srgbClr val="FBE9EC"/>
          </a:solidFill>
          <a:ln w="12700">
            <a:solidFill>
              <a:srgbClr val="FBE9EC"/>
            </a:solidFill>
            <a:prstDash val="solid"/>
          </a:ln>
        </p:spPr>
      </p:sp>
      <p:sp>
        <p:nvSpPr>
          <p:cNvPr id="15" name="Shape 12"/>
          <p:cNvSpPr/>
          <p:nvPr/>
        </p:nvSpPr>
        <p:spPr>
          <a:xfrm>
            <a:off x="6675120" y="3703320"/>
            <a:ext cx="420624" cy="420624"/>
          </a:xfrm>
          <a:prstGeom prst="ellipse">
            <a:avLst/>
          </a:prstGeom>
          <a:solidFill>
            <a:srgbClr val="C81E3C"/>
          </a:solidFill>
          <a:ln w="12700">
            <a:solidFill>
              <a:srgbClr val="C81E3C"/>
            </a:solidFill>
            <a:prstDash val="solid"/>
          </a:ln>
        </p:spPr>
      </p:sp>
      <p:sp>
        <p:nvSpPr>
          <p:cNvPr id="16" name="Text 13"/>
          <p:cNvSpPr/>
          <p:nvPr/>
        </p:nvSpPr>
        <p:spPr>
          <a:xfrm>
            <a:off x="6675120" y="370332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7" name="Text 14"/>
          <p:cNvSpPr/>
          <p:nvPr/>
        </p:nvSpPr>
        <p:spPr>
          <a:xfrm>
            <a:off x="7278624" y="3685032"/>
            <a:ext cx="4023360" cy="310896"/>
          </a:xfrm>
          <a:prstGeom prst="rect">
            <a:avLst/>
          </a:prstGeom>
          <a:noFill/>
          <a:ln/>
        </p:spPr>
        <p:txBody>
          <a:bodyPr wrap="square" lIns="0" tIns="0" rIns="0" bIns="0" rtlCol="0" anchor="ctr"/>
          <a:lstStyle/>
          <a:p>
            <a:pPr indent="0" marL="0">
              <a:buNone/>
            </a:pPr>
            <a:r>
              <a:rPr lang="en-US" sz="1450" b="1" dirty="0">
                <a:solidFill>
                  <a:srgbClr val="17222E"/>
                </a:solidFill>
                <a:latin typeface="Calibri" pitchFamily="34" charset="0"/>
                <a:ea typeface="Calibri" pitchFamily="34" charset="-122"/>
                <a:cs typeface="Calibri" pitchFamily="34" charset="-120"/>
              </a:rPr>
              <a:t>Simulated drift</a:t>
            </a:r>
            <a:endParaRPr lang="en-US" sz="1450" dirty="0"/>
          </a:p>
        </p:txBody>
      </p:sp>
      <p:sp>
        <p:nvSpPr>
          <p:cNvPr id="18" name="Text 15"/>
          <p:cNvSpPr/>
          <p:nvPr/>
        </p:nvSpPr>
        <p:spPr>
          <a:xfrm>
            <a:off x="6675120" y="4206240"/>
            <a:ext cx="4572000" cy="1783080"/>
          </a:xfrm>
          <a:prstGeom prst="rect">
            <a:avLst/>
          </a:prstGeom>
          <a:noFill/>
          <a:ln/>
        </p:spPr>
        <p:txBody>
          <a:bodyPr wrap="square" lIns="0" tIns="0" rIns="0" bIns="0" rtlCol="0" anchor="t"/>
          <a:lstStyle/>
          <a:p>
            <a:pPr indent="0" marL="0">
              <a:buNone/>
            </a:pPr>
            <a:r>
              <a:rPr lang="en-US" sz="1100" dirty="0">
                <a:solidFill>
                  <a:srgbClr val="5A6B7D"/>
                </a:solidFill>
                <a:latin typeface="Calibri" pitchFamily="34" charset="0"/>
                <a:ea typeface="Calibri" pitchFamily="34" charset="-122"/>
                <a:cs typeface="Calibri" pitchFamily="34" charset="-120"/>
              </a:rPr>
              <a:t>A seeded shift applied to 17 columns — larger amounts, later timestamps, moved PCA components. Evidently flags 17 of 30, share 0.567, above the 0.5 threshold, so dataset drift is reported. Clearly labelled as simulated — it is not real customer traffic.</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595360" cy="731520"/>
          </a:xfrm>
          <a:prstGeom prst="rect">
            <a:avLst/>
          </a:prstGeom>
          <a:noFill/>
          <a:ln/>
        </p:spPr>
        <p:txBody>
          <a:bodyPr wrap="square" lIns="0" tIns="0" rIns="0" bIns="0" rtlCol="0" anchor="ctr"/>
          <a:lstStyle/>
          <a:p>
            <a:pPr algn="l" indent="0" marL="0">
              <a:buNone/>
            </a:pPr>
            <a:r>
              <a:rPr lang="en-US" sz="3400" b="1" dirty="0">
                <a:solidFill>
                  <a:srgbClr val="10233F"/>
                </a:solidFill>
                <a:latin typeface="Cambria" pitchFamily="34" charset="0"/>
                <a:ea typeface="Cambria" pitchFamily="34" charset="-122"/>
                <a:cs typeface="Cambria" pitchFamily="34" charset="-120"/>
              </a:rPr>
              <a:t>Retraining, and the Model Card</a:t>
            </a:r>
            <a:endParaRPr lang="en-US" sz="3400" dirty="0"/>
          </a:p>
        </p:txBody>
      </p:sp>
      <p:sp>
        <p:nvSpPr>
          <p:cNvPr id="3" name="Shape 1"/>
          <p:cNvSpPr/>
          <p:nvPr/>
        </p:nvSpPr>
        <p:spPr>
          <a:xfrm>
            <a:off x="9464040" y="457200"/>
            <a:ext cx="2194560" cy="420624"/>
          </a:xfrm>
          <a:prstGeom prst="roundRect">
            <a:avLst>
              <a:gd name="adj" fmla="val 47826"/>
            </a:avLst>
          </a:prstGeom>
          <a:solidFill>
            <a:srgbClr val="F2F5F9"/>
          </a:solidFill>
          <a:ln w="12700">
            <a:solidFill>
              <a:srgbClr val="F2F5F9"/>
            </a:solidFill>
            <a:prstDash val="solid"/>
          </a:ln>
        </p:spPr>
      </p:sp>
      <p:sp>
        <p:nvSpPr>
          <p:cNvPr id="4" name="Text 2"/>
          <p:cNvSpPr/>
          <p:nvPr/>
        </p:nvSpPr>
        <p:spPr>
          <a:xfrm>
            <a:off x="9464040" y="457200"/>
            <a:ext cx="2194560" cy="42062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Someyah</a:t>
            </a:r>
            <a:endParaRPr lang="en-US" sz="1100" dirty="0"/>
          </a:p>
        </p:txBody>
      </p:sp>
      <p:graphicFrame>
        <p:nvGraphicFramePr>
          <p:cNvPr id="5" name="Chart 0" descr=""/>
          <p:cNvGraphicFramePr/>
          <p:nvPr/>
        </p:nvGraphicFramePr>
        <p:xfrm>
          <a:off x="685800" y="1325880"/>
          <a:ext cx="5852160" cy="28803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85800" y="4370832"/>
            <a:ext cx="5852160" cy="1755648"/>
          </a:xfrm>
          <a:prstGeom prst="roundRect">
            <a:avLst>
              <a:gd name="adj" fmla="val 4688"/>
            </a:avLst>
          </a:prstGeom>
          <a:solidFill>
            <a:srgbClr val="F2F5F9"/>
          </a:solidFill>
          <a:ln w="12700">
            <a:solidFill>
              <a:srgbClr val="F2F5F9"/>
            </a:solidFill>
            <a:prstDash val="solid"/>
          </a:ln>
        </p:spPr>
      </p:sp>
      <p:sp>
        <p:nvSpPr>
          <p:cNvPr id="7" name="Text 4"/>
          <p:cNvSpPr/>
          <p:nvPr/>
        </p:nvSpPr>
        <p:spPr>
          <a:xfrm>
            <a:off x="960120" y="4526280"/>
            <a:ext cx="5303520" cy="292608"/>
          </a:xfrm>
          <a:prstGeom prst="rect">
            <a:avLst/>
          </a:prstGeom>
          <a:noFill/>
          <a:ln/>
        </p:spPr>
        <p:txBody>
          <a:bodyPr wrap="square" lIns="0" tIns="0" rIns="0" bIns="0" rtlCol="0" anchor="ctr"/>
          <a:lstStyle/>
          <a:p>
            <a:pPr indent="0" marL="0">
              <a:buNone/>
            </a:pPr>
            <a:r>
              <a:rPr lang="en-US" sz="1350" b="1" dirty="0">
                <a:solidFill>
                  <a:srgbClr val="17222E"/>
                </a:solidFill>
                <a:latin typeface="Calibri" pitchFamily="34" charset="0"/>
                <a:ea typeface="Calibri" pitchFamily="34" charset="-122"/>
                <a:cs typeface="Calibri" pitchFamily="34" charset="-120"/>
              </a:rPr>
              <a:t>Promotion is earned, not automatic</a:t>
            </a:r>
            <a:endParaRPr lang="en-US" sz="1350" dirty="0"/>
          </a:p>
        </p:txBody>
      </p:sp>
      <p:sp>
        <p:nvSpPr>
          <p:cNvPr id="8" name="Text 5"/>
          <p:cNvSpPr/>
          <p:nvPr/>
        </p:nvSpPr>
        <p:spPr>
          <a:xfrm>
            <a:off x="960120" y="4846320"/>
            <a:ext cx="5303520" cy="1143000"/>
          </a:xfrm>
          <a:prstGeom prst="rect">
            <a:avLst/>
          </a:prstGeom>
          <a:noFill/>
          <a:ln/>
        </p:spPr>
        <p:txBody>
          <a:bodyPr wrap="square" lIns="0" tIns="0" rIns="0" bIns="0" rtlCol="0" anchor="t"/>
          <a:lstStyle/>
          <a:p>
            <a:pPr indent="0" marL="0">
              <a:buNone/>
            </a:pPr>
            <a:r>
              <a:rPr lang="en-US" sz="1100" dirty="0">
                <a:solidFill>
                  <a:srgbClr val="5A6B7D"/>
                </a:solidFill>
                <a:latin typeface="Calibri" pitchFamily="34" charset="0"/>
                <a:ea typeface="Calibri" pitchFamily="34" charset="-122"/>
                <a:cs typeface="Calibri" pitchFamily="34" charset="-120"/>
              </a:rPr>
              <a:t>A candidate replaces the deployed model only if PR-AUC is at least as good and recall has not dropped by more than 0.02. This one earned it: PR-AUC 0.7854 → 0.7865, recall 0.7263 → 0.7368. If it had failed, the old model would have stayed.</a:t>
            </a:r>
            <a:endParaRPr lang="en-US" sz="1100" dirty="0"/>
          </a:p>
        </p:txBody>
      </p:sp>
      <p:sp>
        <p:nvSpPr>
          <p:cNvPr id="9" name="Shape 6"/>
          <p:cNvSpPr/>
          <p:nvPr/>
        </p:nvSpPr>
        <p:spPr>
          <a:xfrm>
            <a:off x="6903720" y="1325880"/>
            <a:ext cx="4617720" cy="2331720"/>
          </a:xfrm>
          <a:prstGeom prst="roundRect">
            <a:avLst>
              <a:gd name="adj" fmla="val 3529"/>
            </a:avLst>
          </a:prstGeom>
          <a:solidFill>
            <a:srgbClr val="F2F5F9"/>
          </a:solidFill>
          <a:ln w="12700">
            <a:solidFill>
              <a:srgbClr val="F2F5F9"/>
            </a:solidFill>
            <a:prstDash val="solid"/>
          </a:ln>
        </p:spPr>
      </p:sp>
      <p:sp>
        <p:nvSpPr>
          <p:cNvPr id="10" name="Text 7"/>
          <p:cNvSpPr/>
          <p:nvPr/>
        </p:nvSpPr>
        <p:spPr>
          <a:xfrm>
            <a:off x="7178040" y="1490472"/>
            <a:ext cx="4069080" cy="292608"/>
          </a:xfrm>
          <a:prstGeom prst="rect">
            <a:avLst/>
          </a:prstGeom>
          <a:noFill/>
          <a:ln/>
        </p:spPr>
        <p:txBody>
          <a:bodyPr wrap="square" lIns="0" tIns="0" rIns="0" bIns="0" rtlCol="0" anchor="ctr"/>
          <a:lstStyle/>
          <a:p>
            <a:pPr indent="0" marL="0">
              <a:buNone/>
            </a:pPr>
            <a:r>
              <a:rPr lang="en-US" sz="1350" b="1" dirty="0">
                <a:solidFill>
                  <a:srgbClr val="17222E"/>
                </a:solidFill>
                <a:latin typeface="Calibri" pitchFamily="34" charset="0"/>
                <a:ea typeface="Calibri" pitchFamily="34" charset="-122"/>
                <a:cs typeface="Calibri" pitchFamily="34" charset="-120"/>
              </a:rPr>
              <a:t>Retraining needs labels</a:t>
            </a:r>
            <a:endParaRPr lang="en-US" sz="1350" dirty="0"/>
          </a:p>
        </p:txBody>
      </p:sp>
      <p:sp>
        <p:nvSpPr>
          <p:cNvPr id="11" name="Text 8"/>
          <p:cNvSpPr/>
          <p:nvPr/>
        </p:nvSpPr>
        <p:spPr>
          <a:xfrm>
            <a:off x="7178040" y="1828800"/>
            <a:ext cx="4069080" cy="173736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5A6B7D"/>
                </a:solidFill>
                <a:latin typeface="Calibri" pitchFamily="34" charset="0"/>
                <a:ea typeface="Calibri" pitchFamily="34" charset="-122"/>
                <a:cs typeface="Calibri" pitchFamily="34" charset="-120"/>
              </a:rPr>
              <a:t>Production requests arrive unlabelled — training on our own predictions would teach the model its mistakes.</a:t>
            </a:r>
            <a:endParaRPr lang="en-US" sz="1050" dirty="0"/>
          </a:p>
          <a:p>
            <a:pPr marL="342900" indent="-342900">
              <a:spcAft>
                <a:spcPts val="600"/>
              </a:spcAft>
              <a:buSzPct val="100000"/>
              <a:buChar char="•"/>
            </a:pPr>
            <a:r>
              <a:rPr lang="en-US" sz="1050" dirty="0">
                <a:solidFill>
                  <a:srgbClr val="5A6B7D"/>
                </a:solidFill>
                <a:latin typeface="Calibri" pitchFamily="34" charset="0"/>
                <a:ea typeface="Calibri" pitchFamily="34" charset="-122"/>
                <a:cs typeface="Calibri" pitchFamily="34" charset="-120"/>
              </a:rPr>
              <a:t>The script refuses a batch with no Class column, or with only one class in it.</a:t>
            </a:r>
            <a:endParaRPr lang="en-US" sz="1050" dirty="0"/>
          </a:p>
          <a:p>
            <a:pPr marL="342900" indent="-342900">
              <a:spcAft>
                <a:spcPts val="600"/>
              </a:spcAft>
              <a:buSzPct val="100000"/>
              <a:buChar char="•"/>
            </a:pPr>
            <a:r>
              <a:rPr lang="en-US" sz="1050" dirty="0">
                <a:solidFill>
                  <a:srgbClr val="5A6B7D"/>
                </a:solidFill>
                <a:latin typeface="Calibri" pitchFamily="34" charset="0"/>
                <a:ea typeface="Calibri" pitchFamily="34" charset="-122"/>
                <a:cs typeface="Calibri" pitchFamily="34" charset="-120"/>
              </a:rPr>
              <a:t>The test split is never used as training data.</a:t>
            </a:r>
            <a:endParaRPr lang="en-US" sz="1050" dirty="0"/>
          </a:p>
        </p:txBody>
      </p:sp>
      <p:sp>
        <p:nvSpPr>
          <p:cNvPr id="12" name="Shape 9"/>
          <p:cNvSpPr/>
          <p:nvPr/>
        </p:nvSpPr>
        <p:spPr>
          <a:xfrm>
            <a:off x="6903720" y="3822192"/>
            <a:ext cx="4617720" cy="2304288"/>
          </a:xfrm>
          <a:prstGeom prst="roundRect">
            <a:avLst>
              <a:gd name="adj" fmla="val 3571"/>
            </a:avLst>
          </a:prstGeom>
          <a:solidFill>
            <a:srgbClr val="10233F"/>
          </a:solidFill>
          <a:ln w="12700">
            <a:solidFill>
              <a:srgbClr val="10233F"/>
            </a:solidFill>
            <a:prstDash val="solid"/>
          </a:ln>
        </p:spPr>
      </p:sp>
      <p:sp>
        <p:nvSpPr>
          <p:cNvPr id="13" name="Text 10"/>
          <p:cNvSpPr/>
          <p:nvPr/>
        </p:nvSpPr>
        <p:spPr>
          <a:xfrm>
            <a:off x="7178040" y="4005072"/>
            <a:ext cx="4069080" cy="310896"/>
          </a:xfrm>
          <a:prstGeom prst="rect">
            <a:avLst/>
          </a:prstGeom>
          <a:noFill/>
          <a:ln/>
        </p:spPr>
        <p:txBody>
          <a:bodyPr wrap="square" lIns="0" tIns="0" rIns="0" bIns="0" rtlCol="0" anchor="ctr"/>
          <a:lstStyle/>
          <a:p>
            <a:pPr indent="0" marL="0">
              <a:buNone/>
            </a:pPr>
            <a:r>
              <a:rPr lang="en-US" sz="1400" b="1" dirty="0">
                <a:solidFill>
                  <a:srgbClr val="9FE8D6"/>
                </a:solidFill>
                <a:latin typeface="Courier New" pitchFamily="34" charset="0"/>
                <a:ea typeface="Courier New" pitchFamily="34" charset="-122"/>
                <a:cs typeface="Courier New" pitchFamily="34" charset="-120"/>
              </a:rPr>
              <a:t>MODEL_CARD.md</a:t>
            </a:r>
            <a:endParaRPr lang="en-US" sz="1400" dirty="0"/>
          </a:p>
        </p:txBody>
      </p:sp>
      <p:sp>
        <p:nvSpPr>
          <p:cNvPr id="14" name="Text 11"/>
          <p:cNvSpPr/>
          <p:nvPr/>
        </p:nvSpPr>
        <p:spPr>
          <a:xfrm>
            <a:off x="7178040" y="4370832"/>
            <a:ext cx="4069080" cy="1645920"/>
          </a:xfrm>
          <a:prstGeom prst="rect">
            <a:avLst/>
          </a:prstGeom>
          <a:noFill/>
          <a:ln/>
        </p:spPr>
        <p:txBody>
          <a:bodyPr wrap="square" lIns="0" tIns="0" rIns="0" bIns="0" rtlCol="0" anchor="t"/>
          <a:lstStyle/>
          <a:p>
            <a:pPr indent="0" marL="0">
              <a:buNone/>
            </a:pPr>
            <a:r>
              <a:rPr lang="en-US" sz="1050" dirty="0">
                <a:solidFill>
                  <a:srgbClr val="CADCFC"/>
                </a:solidFill>
                <a:latin typeface="Calibri" pitchFamily="34" charset="0"/>
                <a:ea typeface="Calibri" pitchFamily="34" charset="-122"/>
                <a:cs typeface="Calibri" pitchFamily="34" charset="-120"/>
              </a:rPr>
              <a:t>Says plainly what the model is for and what it is not for: it misses 26 of 95 frauds, its probabilities are not calibrated, the data has no demographic fields so we cannot make a fairness claim, and none of it should touch a real payment decision without proper validation and governance.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233F"/>
        </a:solidFill>
      </p:bgPr>
    </p:bg>
    <p:spTree>
      <p:nvGrpSpPr>
        <p:cNvPr id="1" name=""/>
        <p:cNvGrpSpPr/>
        <p:nvPr/>
      </p:nvGrpSpPr>
      <p:grpSpPr>
        <a:xfrm>
          <a:off x="0" y="0"/>
          <a:ext cx="0" cy="0"/>
          <a:chOff x="0" y="0"/>
          <a:chExt cx="0" cy="0"/>
        </a:xfrm>
      </p:grpSpPr>
      <p:sp>
        <p:nvSpPr>
          <p:cNvPr id="2" name="Text 0"/>
          <p:cNvSpPr/>
          <p:nvPr/>
        </p:nvSpPr>
        <p:spPr>
          <a:xfrm>
            <a:off x="548640" y="384048"/>
            <a:ext cx="8595360" cy="73152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Live demo</a:t>
            </a:r>
            <a:endParaRPr lang="en-US" sz="3400" dirty="0"/>
          </a:p>
        </p:txBody>
      </p:sp>
      <p:sp>
        <p:nvSpPr>
          <p:cNvPr id="3" name="Shape 1"/>
          <p:cNvSpPr/>
          <p:nvPr/>
        </p:nvSpPr>
        <p:spPr>
          <a:xfrm>
            <a:off x="9464040" y="457200"/>
            <a:ext cx="2194560" cy="420624"/>
          </a:xfrm>
          <a:prstGeom prst="roundRect">
            <a:avLst>
              <a:gd name="adj" fmla="val 47826"/>
            </a:avLst>
          </a:prstGeom>
          <a:solidFill>
            <a:srgbClr val="1C3A5E"/>
          </a:solidFill>
          <a:ln w="12700">
            <a:solidFill>
              <a:srgbClr val="1C3A5E"/>
            </a:solidFill>
            <a:prstDash val="solid"/>
          </a:ln>
        </p:spPr>
      </p:sp>
      <p:sp>
        <p:nvSpPr>
          <p:cNvPr id="4" name="Text 2"/>
          <p:cNvSpPr/>
          <p:nvPr/>
        </p:nvSpPr>
        <p:spPr>
          <a:xfrm>
            <a:off x="9464040" y="457200"/>
            <a:ext cx="2194560" cy="420624"/>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Someyah</a:t>
            </a:r>
            <a:endParaRPr lang="en-US" sz="1100" dirty="0"/>
          </a:p>
        </p:txBody>
      </p:sp>
      <p:sp>
        <p:nvSpPr>
          <p:cNvPr id="5" name="Shape 3"/>
          <p:cNvSpPr/>
          <p:nvPr/>
        </p:nvSpPr>
        <p:spPr>
          <a:xfrm>
            <a:off x="685800" y="1298448"/>
            <a:ext cx="6858000" cy="713232"/>
          </a:xfrm>
          <a:prstGeom prst="roundRect">
            <a:avLst>
              <a:gd name="adj" fmla="val 11538"/>
            </a:avLst>
          </a:prstGeom>
          <a:solidFill>
            <a:srgbClr val="1C3A5E"/>
          </a:solidFill>
          <a:ln w="12700">
            <a:solidFill>
              <a:srgbClr val="1C3A5E"/>
            </a:solidFill>
            <a:prstDash val="solid"/>
          </a:ln>
        </p:spPr>
      </p:sp>
      <p:sp>
        <p:nvSpPr>
          <p:cNvPr id="6" name="Shape 4"/>
          <p:cNvSpPr/>
          <p:nvPr/>
        </p:nvSpPr>
        <p:spPr>
          <a:xfrm>
            <a:off x="914400" y="1444752"/>
            <a:ext cx="420624" cy="420624"/>
          </a:xfrm>
          <a:prstGeom prst="ellipse">
            <a:avLst/>
          </a:prstGeom>
          <a:solidFill>
            <a:srgbClr val="C81E3C"/>
          </a:solidFill>
          <a:ln w="12700">
            <a:solidFill>
              <a:srgbClr val="C81E3C"/>
            </a:solidFill>
            <a:prstDash val="solid"/>
          </a:ln>
        </p:spPr>
      </p:sp>
      <p:sp>
        <p:nvSpPr>
          <p:cNvPr id="7" name="Text 5"/>
          <p:cNvSpPr/>
          <p:nvPr/>
        </p:nvSpPr>
        <p:spPr>
          <a:xfrm>
            <a:off x="914400" y="144475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481328" y="1353312"/>
            <a:ext cx="365760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Open the public Swagger UI</a:t>
            </a:r>
            <a:endParaRPr lang="en-US" sz="1300" dirty="0"/>
          </a:p>
        </p:txBody>
      </p:sp>
      <p:sp>
        <p:nvSpPr>
          <p:cNvPr id="9" name="Text 7"/>
          <p:cNvSpPr/>
          <p:nvPr/>
        </p:nvSpPr>
        <p:spPr>
          <a:xfrm>
            <a:off x="1481328" y="1645920"/>
            <a:ext cx="5852160" cy="274320"/>
          </a:xfrm>
          <a:prstGeom prst="rect">
            <a:avLst/>
          </a:prstGeom>
          <a:noFill/>
          <a:ln/>
        </p:spPr>
        <p:txBody>
          <a:bodyPr wrap="square" lIns="0" tIns="0" rIns="0" bIns="0" rtlCol="0" anchor="ctr"/>
          <a:lstStyle/>
          <a:p>
            <a:pPr indent="0" marL="0">
              <a:buNone/>
            </a:pPr>
            <a:r>
              <a:rPr lang="en-US" sz="1000" dirty="0">
                <a:solidFill>
                  <a:srgbClr val="9FE8D6"/>
                </a:solidFill>
                <a:latin typeface="Courier New" pitchFamily="34" charset="0"/>
                <a:ea typeface="Courier New" pitchFamily="34" charset="-122"/>
                <a:cs typeface="Courier New" pitchFamily="34" charset="-120"/>
              </a:rPr>
              <a:t>https://mai201-fraud-api.onrender.com/docs</a:t>
            </a:r>
            <a:endParaRPr lang="en-US" sz="1000" dirty="0"/>
          </a:p>
        </p:txBody>
      </p:sp>
      <p:sp>
        <p:nvSpPr>
          <p:cNvPr id="10" name="Shape 8"/>
          <p:cNvSpPr/>
          <p:nvPr/>
        </p:nvSpPr>
        <p:spPr>
          <a:xfrm>
            <a:off x="685800" y="2139696"/>
            <a:ext cx="6858000" cy="713232"/>
          </a:xfrm>
          <a:prstGeom prst="roundRect">
            <a:avLst>
              <a:gd name="adj" fmla="val 11538"/>
            </a:avLst>
          </a:prstGeom>
          <a:solidFill>
            <a:srgbClr val="1C3A5E"/>
          </a:solidFill>
          <a:ln w="12700">
            <a:solidFill>
              <a:srgbClr val="1C3A5E"/>
            </a:solidFill>
            <a:prstDash val="solid"/>
          </a:ln>
        </p:spPr>
      </p:sp>
      <p:sp>
        <p:nvSpPr>
          <p:cNvPr id="11" name="Shape 9"/>
          <p:cNvSpPr/>
          <p:nvPr/>
        </p:nvSpPr>
        <p:spPr>
          <a:xfrm>
            <a:off x="914400" y="2286000"/>
            <a:ext cx="420624" cy="420624"/>
          </a:xfrm>
          <a:prstGeom prst="ellipse">
            <a:avLst/>
          </a:prstGeom>
          <a:solidFill>
            <a:srgbClr val="C81E3C"/>
          </a:solidFill>
          <a:ln w="12700">
            <a:solidFill>
              <a:srgbClr val="C81E3C"/>
            </a:solidFill>
            <a:prstDash val="solid"/>
          </a:ln>
        </p:spPr>
      </p:sp>
      <p:sp>
        <p:nvSpPr>
          <p:cNvPr id="12" name="Text 10"/>
          <p:cNvSpPr/>
          <p:nvPr/>
        </p:nvSpPr>
        <p:spPr>
          <a:xfrm>
            <a:off x="914400" y="228600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481328" y="2194560"/>
            <a:ext cx="365760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Call /health</a:t>
            </a:r>
            <a:endParaRPr lang="en-US" sz="1300" dirty="0"/>
          </a:p>
        </p:txBody>
      </p:sp>
      <p:sp>
        <p:nvSpPr>
          <p:cNvPr id="14" name="Text 12"/>
          <p:cNvSpPr/>
          <p:nvPr/>
        </p:nvSpPr>
        <p:spPr>
          <a:xfrm>
            <a:off x="1481328" y="2487168"/>
            <a:ext cx="5852160" cy="274320"/>
          </a:xfrm>
          <a:prstGeom prst="rect">
            <a:avLst/>
          </a:prstGeom>
          <a:noFill/>
          <a:ln/>
        </p:spPr>
        <p:txBody>
          <a:bodyPr wrap="square" lIns="0" tIns="0" rIns="0" bIns="0" rtlCol="0" anchor="ctr"/>
          <a:lstStyle/>
          <a:p>
            <a:pPr indent="0" marL="0">
              <a:buNone/>
            </a:pPr>
            <a:r>
              <a:rPr lang="en-US" sz="1000" dirty="0">
                <a:solidFill>
                  <a:srgbClr val="9FE8D6"/>
                </a:solidFill>
                <a:latin typeface="Courier New" pitchFamily="34" charset="0"/>
                <a:ea typeface="Courier New" pitchFamily="34" charset="-122"/>
                <a:cs typeface="Courier New" pitchFamily="34" charset="-120"/>
              </a:rPr>
              <a:t>200, model_loaded: true</a:t>
            </a:r>
            <a:endParaRPr lang="en-US" sz="1000" dirty="0"/>
          </a:p>
        </p:txBody>
      </p:sp>
      <p:sp>
        <p:nvSpPr>
          <p:cNvPr id="15" name="Shape 13"/>
          <p:cNvSpPr/>
          <p:nvPr/>
        </p:nvSpPr>
        <p:spPr>
          <a:xfrm>
            <a:off x="685800" y="2980944"/>
            <a:ext cx="6858000" cy="713232"/>
          </a:xfrm>
          <a:prstGeom prst="roundRect">
            <a:avLst>
              <a:gd name="adj" fmla="val 11538"/>
            </a:avLst>
          </a:prstGeom>
          <a:solidFill>
            <a:srgbClr val="1C3A5E"/>
          </a:solidFill>
          <a:ln w="12700">
            <a:solidFill>
              <a:srgbClr val="1C3A5E"/>
            </a:solidFill>
            <a:prstDash val="solid"/>
          </a:ln>
        </p:spPr>
      </p:sp>
      <p:sp>
        <p:nvSpPr>
          <p:cNvPr id="16" name="Shape 14"/>
          <p:cNvSpPr/>
          <p:nvPr/>
        </p:nvSpPr>
        <p:spPr>
          <a:xfrm>
            <a:off x="914400" y="3127248"/>
            <a:ext cx="420624" cy="420624"/>
          </a:xfrm>
          <a:prstGeom prst="ellipse">
            <a:avLst/>
          </a:prstGeom>
          <a:solidFill>
            <a:srgbClr val="C81E3C"/>
          </a:solidFill>
          <a:ln w="12700">
            <a:solidFill>
              <a:srgbClr val="C81E3C"/>
            </a:solidFill>
            <a:prstDash val="solid"/>
          </a:ln>
        </p:spPr>
      </p:sp>
      <p:sp>
        <p:nvSpPr>
          <p:cNvPr id="17" name="Text 15"/>
          <p:cNvSpPr/>
          <p:nvPr/>
        </p:nvSpPr>
        <p:spPr>
          <a:xfrm>
            <a:off x="914400" y="312724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481328" y="3035808"/>
            <a:ext cx="365760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POST a real fraud transaction</a:t>
            </a:r>
            <a:endParaRPr lang="en-US" sz="1300" dirty="0"/>
          </a:p>
        </p:txBody>
      </p:sp>
      <p:sp>
        <p:nvSpPr>
          <p:cNvPr id="19" name="Text 17"/>
          <p:cNvSpPr/>
          <p:nvPr/>
        </p:nvSpPr>
        <p:spPr>
          <a:xfrm>
            <a:off x="1481328" y="3328416"/>
            <a:ext cx="5852160" cy="274320"/>
          </a:xfrm>
          <a:prstGeom prst="rect">
            <a:avLst/>
          </a:prstGeom>
          <a:noFill/>
          <a:ln/>
        </p:spPr>
        <p:txBody>
          <a:bodyPr wrap="square" lIns="0" tIns="0" rIns="0" bIns="0" rtlCol="0" anchor="ctr"/>
          <a:lstStyle/>
          <a:p>
            <a:pPr indent="0" marL="0">
              <a:buNone/>
            </a:pPr>
            <a:r>
              <a:rPr lang="en-US" sz="1000" dirty="0">
                <a:solidFill>
                  <a:srgbClr val="9FE8D6"/>
                </a:solidFill>
                <a:latin typeface="Courier New" pitchFamily="34" charset="0"/>
                <a:ea typeface="Courier New" pitchFamily="34" charset="-122"/>
                <a:cs typeface="Courier New" pitchFamily="34" charset="-120"/>
              </a:rPr>
              <a:t>expect 0.9696 and label fraud</a:t>
            </a:r>
            <a:endParaRPr lang="en-US" sz="1000" dirty="0"/>
          </a:p>
        </p:txBody>
      </p:sp>
      <p:sp>
        <p:nvSpPr>
          <p:cNvPr id="20" name="Shape 18"/>
          <p:cNvSpPr/>
          <p:nvPr/>
        </p:nvSpPr>
        <p:spPr>
          <a:xfrm>
            <a:off x="685800" y="3822192"/>
            <a:ext cx="6858000" cy="713232"/>
          </a:xfrm>
          <a:prstGeom prst="roundRect">
            <a:avLst>
              <a:gd name="adj" fmla="val 11538"/>
            </a:avLst>
          </a:prstGeom>
          <a:solidFill>
            <a:srgbClr val="1C3A5E"/>
          </a:solidFill>
          <a:ln w="12700">
            <a:solidFill>
              <a:srgbClr val="1C3A5E"/>
            </a:solidFill>
            <a:prstDash val="solid"/>
          </a:ln>
        </p:spPr>
      </p:sp>
      <p:sp>
        <p:nvSpPr>
          <p:cNvPr id="21" name="Shape 19"/>
          <p:cNvSpPr/>
          <p:nvPr/>
        </p:nvSpPr>
        <p:spPr>
          <a:xfrm>
            <a:off x="914400" y="3968496"/>
            <a:ext cx="420624" cy="420624"/>
          </a:xfrm>
          <a:prstGeom prst="ellipse">
            <a:avLst/>
          </a:prstGeom>
          <a:solidFill>
            <a:srgbClr val="1C7293"/>
          </a:solidFill>
          <a:ln w="12700">
            <a:solidFill>
              <a:srgbClr val="1C7293"/>
            </a:solidFill>
            <a:prstDash val="solid"/>
          </a:ln>
        </p:spPr>
      </p:sp>
      <p:sp>
        <p:nvSpPr>
          <p:cNvPr id="22" name="Text 20"/>
          <p:cNvSpPr/>
          <p:nvPr/>
        </p:nvSpPr>
        <p:spPr>
          <a:xfrm>
            <a:off x="914400" y="396849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1481328" y="3877056"/>
            <a:ext cx="365760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Show the GitHub Actions run</a:t>
            </a:r>
            <a:endParaRPr lang="en-US" sz="1300" dirty="0"/>
          </a:p>
        </p:txBody>
      </p:sp>
      <p:sp>
        <p:nvSpPr>
          <p:cNvPr id="24" name="Text 22"/>
          <p:cNvSpPr/>
          <p:nvPr/>
        </p:nvSpPr>
        <p:spPr>
          <a:xfrm>
            <a:off x="1481328" y="4169664"/>
            <a:ext cx="5852160" cy="274320"/>
          </a:xfrm>
          <a:prstGeom prst="rect">
            <a:avLst/>
          </a:prstGeom>
          <a:noFill/>
          <a:ln/>
        </p:spPr>
        <p:txBody>
          <a:bodyPr wrap="square" lIns="0" tIns="0" rIns="0" bIns="0" rtlCol="0" anchor="ctr"/>
          <a:lstStyle/>
          <a:p>
            <a:pPr indent="0" marL="0">
              <a:buNone/>
            </a:pPr>
            <a:r>
              <a:rPr lang="en-US" sz="1000" dirty="0">
                <a:solidFill>
                  <a:srgbClr val="9FE8D6"/>
                </a:solidFill>
                <a:latin typeface="Courier New" pitchFamily="34" charset="0"/>
                <a:ea typeface="Courier New" pitchFamily="34" charset="-122"/>
                <a:cs typeface="Courier New" pitchFamily="34" charset="-120"/>
              </a:rPr>
              <a:t>commit 363892b — all three jobs green</a:t>
            </a:r>
            <a:endParaRPr lang="en-US" sz="1000" dirty="0"/>
          </a:p>
        </p:txBody>
      </p:sp>
      <p:sp>
        <p:nvSpPr>
          <p:cNvPr id="25" name="Shape 23"/>
          <p:cNvSpPr/>
          <p:nvPr/>
        </p:nvSpPr>
        <p:spPr>
          <a:xfrm>
            <a:off x="685800" y="4663440"/>
            <a:ext cx="6858000" cy="713232"/>
          </a:xfrm>
          <a:prstGeom prst="roundRect">
            <a:avLst>
              <a:gd name="adj" fmla="val 11538"/>
            </a:avLst>
          </a:prstGeom>
          <a:solidFill>
            <a:srgbClr val="1C3A5E"/>
          </a:solidFill>
          <a:ln w="12700">
            <a:solidFill>
              <a:srgbClr val="1C3A5E"/>
            </a:solidFill>
            <a:prstDash val="solid"/>
          </a:ln>
        </p:spPr>
      </p:sp>
      <p:sp>
        <p:nvSpPr>
          <p:cNvPr id="26" name="Shape 24"/>
          <p:cNvSpPr/>
          <p:nvPr/>
        </p:nvSpPr>
        <p:spPr>
          <a:xfrm>
            <a:off x="914400" y="4809744"/>
            <a:ext cx="420624" cy="420624"/>
          </a:xfrm>
          <a:prstGeom prst="ellipse">
            <a:avLst/>
          </a:prstGeom>
          <a:solidFill>
            <a:srgbClr val="C81E3C"/>
          </a:solidFill>
          <a:ln w="12700">
            <a:solidFill>
              <a:srgbClr val="C81E3C"/>
            </a:solidFill>
            <a:prstDash val="solid"/>
          </a:ln>
        </p:spPr>
      </p:sp>
      <p:sp>
        <p:nvSpPr>
          <p:cNvPr id="27" name="Text 25"/>
          <p:cNvSpPr/>
          <p:nvPr/>
        </p:nvSpPr>
        <p:spPr>
          <a:xfrm>
            <a:off x="914400" y="48097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p:nvPr/>
        </p:nvSpPr>
        <p:spPr>
          <a:xfrm>
            <a:off x="1481328" y="4718304"/>
            <a:ext cx="365760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Open the Evidently drift report</a:t>
            </a:r>
            <a:endParaRPr lang="en-US" sz="1300" dirty="0"/>
          </a:p>
        </p:txBody>
      </p:sp>
      <p:sp>
        <p:nvSpPr>
          <p:cNvPr id="29" name="Text 27"/>
          <p:cNvSpPr/>
          <p:nvPr/>
        </p:nvSpPr>
        <p:spPr>
          <a:xfrm>
            <a:off x="1481328" y="5010912"/>
            <a:ext cx="5852160" cy="274320"/>
          </a:xfrm>
          <a:prstGeom prst="rect">
            <a:avLst/>
          </a:prstGeom>
          <a:noFill/>
          <a:ln/>
        </p:spPr>
        <p:txBody>
          <a:bodyPr wrap="square" lIns="0" tIns="0" rIns="0" bIns="0" rtlCol="0" anchor="ctr"/>
          <a:lstStyle/>
          <a:p>
            <a:pPr indent="0" marL="0">
              <a:buNone/>
            </a:pPr>
            <a:r>
              <a:rPr lang="en-US" sz="1000" dirty="0">
                <a:solidFill>
                  <a:srgbClr val="9FE8D6"/>
                </a:solidFill>
                <a:latin typeface="Courier New" pitchFamily="34" charset="0"/>
                <a:ea typeface="Courier New" pitchFamily="34" charset="-122"/>
                <a:cs typeface="Courier New" pitchFamily="34" charset="-120"/>
              </a:rPr>
              <a:t>17 of 30 columns flagged</a:t>
            </a:r>
            <a:endParaRPr lang="en-US" sz="1000" dirty="0"/>
          </a:p>
        </p:txBody>
      </p:sp>
      <p:sp>
        <p:nvSpPr>
          <p:cNvPr id="30" name="Shape 28"/>
          <p:cNvSpPr/>
          <p:nvPr/>
        </p:nvSpPr>
        <p:spPr>
          <a:xfrm>
            <a:off x="7863840" y="1298448"/>
            <a:ext cx="3703320" cy="2377440"/>
          </a:xfrm>
          <a:prstGeom prst="roundRect">
            <a:avLst>
              <a:gd name="adj" fmla="val 3462"/>
            </a:avLst>
          </a:prstGeom>
          <a:solidFill>
            <a:srgbClr val="1C3A5E"/>
          </a:solidFill>
          <a:ln w="12700">
            <a:solidFill>
              <a:srgbClr val="1C3A5E"/>
            </a:solidFill>
            <a:prstDash val="solid"/>
          </a:ln>
        </p:spPr>
      </p:sp>
      <p:sp>
        <p:nvSpPr>
          <p:cNvPr id="31" name="Text 29"/>
          <p:cNvSpPr/>
          <p:nvPr/>
        </p:nvSpPr>
        <p:spPr>
          <a:xfrm>
            <a:off x="8138160" y="1463040"/>
            <a:ext cx="3154680"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we would do next</a:t>
            </a:r>
            <a:endParaRPr lang="en-US" sz="1350" dirty="0"/>
          </a:p>
        </p:txBody>
      </p:sp>
      <p:sp>
        <p:nvSpPr>
          <p:cNvPr id="32" name="Text 30"/>
          <p:cNvSpPr/>
          <p:nvPr/>
        </p:nvSpPr>
        <p:spPr>
          <a:xfrm>
            <a:off x="8138160" y="1810512"/>
            <a:ext cx="3154680" cy="173736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CADCFC"/>
                </a:solidFill>
                <a:latin typeface="Calibri" pitchFamily="34" charset="0"/>
                <a:ea typeface="Calibri" pitchFamily="34" charset="-122"/>
                <a:cs typeface="Calibri" pitchFamily="34" charset="-120"/>
              </a:rPr>
              <a:t>Set the threshold from the cost of a missed fraud versus a false alarm.</a:t>
            </a:r>
            <a:endParaRPr lang="en-US" sz="1050" dirty="0"/>
          </a:p>
          <a:p>
            <a:pPr marL="342900" indent="-342900">
              <a:spcAft>
                <a:spcPts val="600"/>
              </a:spcAft>
              <a:buSzPct val="100000"/>
              <a:buChar char="•"/>
            </a:pPr>
            <a:r>
              <a:rPr lang="en-US" sz="1050" dirty="0">
                <a:solidFill>
                  <a:srgbClr val="CADCFC"/>
                </a:solidFill>
                <a:latin typeface="Calibri" pitchFamily="34" charset="0"/>
                <a:ea typeface="Calibri" pitchFamily="34" charset="-122"/>
                <a:cs typeface="Calibri" pitchFamily="34" charset="-120"/>
              </a:rPr>
              <a:t>Log live requests so drift runs on real traffic, not a simulation.</a:t>
            </a:r>
            <a:endParaRPr lang="en-US" sz="1050" dirty="0"/>
          </a:p>
          <a:p>
            <a:pPr marL="342900" indent="-342900">
              <a:spcAft>
                <a:spcPts val="600"/>
              </a:spcAft>
              <a:buSzPct val="100000"/>
              <a:buChar char="•"/>
            </a:pPr>
            <a:r>
              <a:rPr lang="en-US" sz="1050" dirty="0">
                <a:solidFill>
                  <a:srgbClr val="CADCFC"/>
                </a:solidFill>
                <a:latin typeface="Calibri" pitchFamily="34" charset="0"/>
                <a:ea typeface="Calibri" pitchFamily="34" charset="-122"/>
                <a:cs typeface="Calibri" pitchFamily="34" charset="-120"/>
              </a:rPr>
              <a:t>Schedule the drift check instead of running it by hand.</a:t>
            </a:r>
            <a:endParaRPr lang="en-US" sz="1050" dirty="0"/>
          </a:p>
        </p:txBody>
      </p:sp>
      <p:sp>
        <p:nvSpPr>
          <p:cNvPr id="33" name="Shape 31"/>
          <p:cNvSpPr/>
          <p:nvPr/>
        </p:nvSpPr>
        <p:spPr>
          <a:xfrm>
            <a:off x="7863840" y="3822192"/>
            <a:ext cx="3703320" cy="1664208"/>
          </a:xfrm>
          <a:prstGeom prst="roundRect">
            <a:avLst>
              <a:gd name="adj" fmla="val 4945"/>
            </a:avLst>
          </a:prstGeom>
          <a:solidFill>
            <a:srgbClr val="1C3A5E"/>
          </a:solidFill>
          <a:ln w="12700">
            <a:solidFill>
              <a:srgbClr val="1C3A5E"/>
            </a:solidFill>
            <a:prstDash val="solid"/>
          </a:ln>
        </p:spPr>
      </p:sp>
      <p:sp>
        <p:nvSpPr>
          <p:cNvPr id="34" name="Text 32"/>
          <p:cNvSpPr/>
          <p:nvPr/>
        </p:nvSpPr>
        <p:spPr>
          <a:xfrm>
            <a:off x="8138160" y="3986784"/>
            <a:ext cx="315468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Everything is in the repo</a:t>
            </a:r>
            <a:endParaRPr lang="en-US" sz="1300" dirty="0"/>
          </a:p>
        </p:txBody>
      </p:sp>
      <p:sp>
        <p:nvSpPr>
          <p:cNvPr id="35" name="Text 33"/>
          <p:cNvSpPr/>
          <p:nvPr/>
        </p:nvSpPr>
        <p:spPr>
          <a:xfrm>
            <a:off x="8138160" y="4315968"/>
            <a:ext cx="3154680" cy="1005840"/>
          </a:xfrm>
          <a:prstGeom prst="rect">
            <a:avLst/>
          </a:prstGeom>
          <a:noFill/>
          <a:ln/>
        </p:spPr>
        <p:txBody>
          <a:bodyPr wrap="square" lIns="0" tIns="0" rIns="0" bIns="0" rtlCol="0" anchor="t"/>
          <a:lstStyle/>
          <a:p>
            <a:pPr indent="0" marL="0">
              <a:buNone/>
            </a:pPr>
            <a:r>
              <a:rPr lang="en-US" sz="950" dirty="0">
                <a:solidFill>
                  <a:srgbClr val="9FE8D6"/>
                </a:solidFill>
                <a:latin typeface="Courier New" pitchFamily="34" charset="0"/>
                <a:ea typeface="Courier New" pitchFamily="34" charset="-122"/>
                <a:cs typeface="Courier New" pitchFamily="34" charset="-120"/>
              </a:rPr>
              <a:t>https://github.com/AZabalawi/MLops-credit-card-fraud</a:t>
            </a:r>
            <a:endParaRPr lang="en-US" sz="950" dirty="0"/>
          </a:p>
        </p:txBody>
      </p:sp>
      <p:sp>
        <p:nvSpPr>
          <p:cNvPr id="36" name="Text 34"/>
          <p:cNvSpPr/>
          <p:nvPr/>
        </p:nvSpPr>
        <p:spPr>
          <a:xfrm>
            <a:off x="685800" y="5742432"/>
            <a:ext cx="10881360" cy="566928"/>
          </a:xfrm>
          <a:prstGeom prst="rect">
            <a:avLst/>
          </a:prstGeom>
          <a:noFill/>
          <a:ln/>
        </p:spPr>
        <p:txBody>
          <a:bodyPr wrap="square" lIns="0" tIns="0" rIns="0" bIns="0" rtlCol="0" anchor="ctr"/>
          <a:lstStyle/>
          <a:p>
            <a:pPr indent="0" marL="0">
              <a:buNone/>
            </a:pPr>
            <a:r>
              <a:rPr lang="en-US" sz="1500" i="1" dirty="0">
                <a:solidFill>
                  <a:srgbClr val="CADCFC"/>
                </a:solidFill>
                <a:latin typeface="Cambria" pitchFamily="34" charset="0"/>
                <a:ea typeface="Cambria" pitchFamily="34" charset="-122"/>
                <a:cs typeface="Cambria" pitchFamily="34" charset="-120"/>
              </a:rPr>
              <a:t>Phase 1 trained a model we could reproduce. Phase 2 made it something we could run, test, deploy and watch.</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MAI201 MLOps Phase 2 - Credit Card Fraud Detection</dc:title>
  <dc:subject>PptxGenJS Presentation</dc:subject>
  <dc:creator>Abdulraouf Zabalawi, Mohamed Roble, Someyah Balashi</dc:creator>
  <cp:lastModifiedBy>Abdulraouf Zabalawi, Mohamed Roble, Someyah Balashi</cp:lastModifiedBy>
  <cp:revision>1</cp:revision>
  <dcterms:created xsi:type="dcterms:W3CDTF">2026-08-12T22:37:31Z</dcterms:created>
  <dcterms:modified xsi:type="dcterms:W3CDTF">2026-08-12T22:37:31Z</dcterms:modified>
</cp:coreProperties>
</file>